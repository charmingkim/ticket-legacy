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nva Sans" charset="1" panose="020B0503030501040103"/>
      <p:regular r:id="rId16"/>
    </p:embeddedFont>
    <p:embeddedFont>
      <p:font typeface="Gotham Bold" charset="1" panose="00000000000000000000"/>
      <p:regular r:id="rId17"/>
    </p:embeddedFont>
    <p:embeddedFont>
      <p:font typeface="Gotham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25" Target="../media/image24.png" Type="http://schemas.openxmlformats.org/officeDocument/2006/relationships/image"/><Relationship Id="rId26" Target="../media/image25.sv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svg" Type="http://schemas.openxmlformats.org/officeDocument/2006/relationships/image"/><Relationship Id="rId11" Target="../media/image35.png" Type="http://schemas.openxmlformats.org/officeDocument/2006/relationships/image"/><Relationship Id="rId12" Target="../media/image36.svg" Type="http://schemas.openxmlformats.org/officeDocument/2006/relationships/image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svg" Type="http://schemas.openxmlformats.org/officeDocument/2006/relationships/image"/><Relationship Id="rId11" Target="../media/image46.png" Type="http://schemas.openxmlformats.org/officeDocument/2006/relationships/image"/><Relationship Id="rId12" Target="../media/image47.svg" Type="http://schemas.openxmlformats.org/officeDocument/2006/relationships/image"/><Relationship Id="rId13" Target="../media/image48.png" Type="http://schemas.openxmlformats.org/officeDocument/2006/relationships/image"/><Relationship Id="rId14" Target="../media/image49.svg" Type="http://schemas.openxmlformats.org/officeDocument/2006/relationships/image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sv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Relationship Id="rId7" Target="../media/image42.png" Type="http://schemas.openxmlformats.org/officeDocument/2006/relationships/image"/><Relationship Id="rId8" Target="../media/image43.sv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svg" Type="http://schemas.openxmlformats.org/officeDocument/2006/relationships/image"/><Relationship Id="rId11" Target="../media/image55.png" Type="http://schemas.openxmlformats.org/officeDocument/2006/relationships/image"/><Relationship Id="rId12" Target="../media/image56.svg" Type="http://schemas.openxmlformats.org/officeDocument/2006/relationships/image"/><Relationship Id="rId2" Target="../media/image50.png" Type="http://schemas.openxmlformats.org/officeDocument/2006/relationships/image"/><Relationship Id="rId3" Target="../media/image38.png" Type="http://schemas.openxmlformats.org/officeDocument/2006/relationships/image"/><Relationship Id="rId4" Target="../media/image39.sv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Relationship Id="rId7" Target="../media/image42.png" Type="http://schemas.openxmlformats.org/officeDocument/2006/relationships/image"/><Relationship Id="rId8" Target="../media/image43.sv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svg" Type="http://schemas.openxmlformats.org/officeDocument/2006/relationships/image"/><Relationship Id="rId11" Target="../media/image66.png" Type="http://schemas.openxmlformats.org/officeDocument/2006/relationships/image"/><Relationship Id="rId12" Target="../media/image67.svg" Type="http://schemas.openxmlformats.org/officeDocument/2006/relationships/image"/><Relationship Id="rId2" Target="../media/image57.png" Type="http://schemas.openxmlformats.org/officeDocument/2006/relationships/image"/><Relationship Id="rId3" Target="../media/image58.svg" Type="http://schemas.openxmlformats.org/officeDocument/2006/relationships/image"/><Relationship Id="rId4" Target="../media/image59.png" Type="http://schemas.openxmlformats.org/officeDocument/2006/relationships/image"/><Relationship Id="rId5" Target="../media/image60.png" Type="http://schemas.openxmlformats.org/officeDocument/2006/relationships/image"/><Relationship Id="rId6" Target="../media/image61.svg" Type="http://schemas.openxmlformats.org/officeDocument/2006/relationships/image"/><Relationship Id="rId7" Target="../media/image62.png" Type="http://schemas.openxmlformats.org/officeDocument/2006/relationships/image"/><Relationship Id="rId8" Target="../media/image63.sv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6.svg" Type="http://schemas.openxmlformats.org/officeDocument/2006/relationships/image"/><Relationship Id="rId2" Target="../media/image68.png" Type="http://schemas.openxmlformats.org/officeDocument/2006/relationships/image"/><Relationship Id="rId3" Target="../media/image69.png" Type="http://schemas.openxmlformats.org/officeDocument/2006/relationships/image"/><Relationship Id="rId4" Target="../media/image70.svg" Type="http://schemas.openxmlformats.org/officeDocument/2006/relationships/image"/><Relationship Id="rId5" Target="../media/image71.png" Type="http://schemas.openxmlformats.org/officeDocument/2006/relationships/image"/><Relationship Id="rId6" Target="../media/image72.svg" Type="http://schemas.openxmlformats.org/officeDocument/2006/relationships/image"/><Relationship Id="rId7" Target="../media/image73.png" Type="http://schemas.openxmlformats.org/officeDocument/2006/relationships/image"/><Relationship Id="rId8" Target="../media/image74.svg" Type="http://schemas.openxmlformats.org/officeDocument/2006/relationships/image"/><Relationship Id="rId9" Target="../media/image7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5.svg" Type="http://schemas.openxmlformats.org/officeDocument/2006/relationships/image"/><Relationship Id="rId11" Target="../media/image86.png" Type="http://schemas.openxmlformats.org/officeDocument/2006/relationships/image"/><Relationship Id="rId12" Target="../media/image87.png" Type="http://schemas.openxmlformats.org/officeDocument/2006/relationships/image"/><Relationship Id="rId13" Target="../media/image88.svg" Type="http://schemas.openxmlformats.org/officeDocument/2006/relationships/image"/><Relationship Id="rId14" Target="../media/image89.png" Type="http://schemas.openxmlformats.org/officeDocument/2006/relationships/image"/><Relationship Id="rId15" Target="../media/image90.svg" Type="http://schemas.openxmlformats.org/officeDocument/2006/relationships/image"/><Relationship Id="rId16" Target="../media/image91.png" Type="http://schemas.openxmlformats.org/officeDocument/2006/relationships/image"/><Relationship Id="rId17" Target="../media/image92.svg" Type="http://schemas.openxmlformats.org/officeDocument/2006/relationships/image"/><Relationship Id="rId18" Target="../media/image93.png" Type="http://schemas.openxmlformats.org/officeDocument/2006/relationships/image"/><Relationship Id="rId19" Target="../media/image94.svg" Type="http://schemas.openxmlformats.org/officeDocument/2006/relationships/image"/><Relationship Id="rId2" Target="../media/image77.png" Type="http://schemas.openxmlformats.org/officeDocument/2006/relationships/image"/><Relationship Id="rId20" Target="../media/image95.png" Type="http://schemas.openxmlformats.org/officeDocument/2006/relationships/image"/><Relationship Id="rId21" Target="../media/image96.svg" Type="http://schemas.openxmlformats.org/officeDocument/2006/relationships/image"/><Relationship Id="rId22" Target="../media/image97.png" Type="http://schemas.openxmlformats.org/officeDocument/2006/relationships/image"/><Relationship Id="rId23" Target="../media/image98.svg" Type="http://schemas.openxmlformats.org/officeDocument/2006/relationships/image"/><Relationship Id="rId24" Target="../media/image99.png" Type="http://schemas.openxmlformats.org/officeDocument/2006/relationships/image"/><Relationship Id="rId25" Target="../media/image100.svg" Type="http://schemas.openxmlformats.org/officeDocument/2006/relationships/image"/><Relationship Id="rId26" Target="../media/image101.png" Type="http://schemas.openxmlformats.org/officeDocument/2006/relationships/image"/><Relationship Id="rId27" Target="../media/image102.svg" Type="http://schemas.openxmlformats.org/officeDocument/2006/relationships/image"/><Relationship Id="rId3" Target="../media/image78.png" Type="http://schemas.openxmlformats.org/officeDocument/2006/relationships/image"/><Relationship Id="rId4" Target="../media/image79.svg" Type="http://schemas.openxmlformats.org/officeDocument/2006/relationships/image"/><Relationship Id="rId5" Target="../media/image80.png" Type="http://schemas.openxmlformats.org/officeDocument/2006/relationships/image"/><Relationship Id="rId6" Target="../media/image81.svg" Type="http://schemas.openxmlformats.org/officeDocument/2006/relationships/image"/><Relationship Id="rId7" Target="../media/image82.png" Type="http://schemas.openxmlformats.org/officeDocument/2006/relationships/image"/><Relationship Id="rId8" Target="../media/image83.svg" Type="http://schemas.openxmlformats.org/officeDocument/2006/relationships/image"/><Relationship Id="rId9" Target="../media/image8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svg" Type="http://schemas.openxmlformats.org/officeDocument/2006/relationships/image"/><Relationship Id="rId2" Target="../media/image103.png" Type="http://schemas.openxmlformats.org/officeDocument/2006/relationships/image"/><Relationship Id="rId3" Target="../media/image59.png" Type="http://schemas.openxmlformats.org/officeDocument/2006/relationships/image"/><Relationship Id="rId4" Target="../media/image104.png" Type="http://schemas.openxmlformats.org/officeDocument/2006/relationships/image"/><Relationship Id="rId5" Target="../media/image105.sv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1.png" Type="http://schemas.openxmlformats.org/officeDocument/2006/relationships/image"/><Relationship Id="rId11" Target="../media/image102.svg" Type="http://schemas.openxmlformats.org/officeDocument/2006/relationships/image"/><Relationship Id="rId2" Target="../media/image106.png" Type="http://schemas.openxmlformats.org/officeDocument/2006/relationships/image"/><Relationship Id="rId3" Target="../media/image107.svg" Type="http://schemas.openxmlformats.org/officeDocument/2006/relationships/image"/><Relationship Id="rId4" Target="../media/image108.png" Type="http://schemas.openxmlformats.org/officeDocument/2006/relationships/image"/><Relationship Id="rId5" Target="../media/image109.svg" Type="http://schemas.openxmlformats.org/officeDocument/2006/relationships/image"/><Relationship Id="rId6" Target="../media/image62.png" Type="http://schemas.openxmlformats.org/officeDocument/2006/relationships/image"/><Relationship Id="rId7" Target="../media/image63.svg" Type="http://schemas.openxmlformats.org/officeDocument/2006/relationships/image"/><Relationship Id="rId8" Target="../media/image110.png" Type="http://schemas.openxmlformats.org/officeDocument/2006/relationships/image"/><Relationship Id="rId9" Target="../media/image11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0.svg" Type="http://schemas.openxmlformats.org/officeDocument/2006/relationships/image"/><Relationship Id="rId11" Target="../media/image121.png" Type="http://schemas.openxmlformats.org/officeDocument/2006/relationships/image"/><Relationship Id="rId12" Target="../media/image122.svg" Type="http://schemas.openxmlformats.org/officeDocument/2006/relationships/image"/><Relationship Id="rId13" Target="../media/image123.png" Type="http://schemas.openxmlformats.org/officeDocument/2006/relationships/image"/><Relationship Id="rId14" Target="../media/image124.svg" Type="http://schemas.openxmlformats.org/officeDocument/2006/relationships/image"/><Relationship Id="rId15" Target="../media/image125.png" Type="http://schemas.openxmlformats.org/officeDocument/2006/relationships/image"/><Relationship Id="rId16" Target="../media/image126.svg" Type="http://schemas.openxmlformats.org/officeDocument/2006/relationships/image"/><Relationship Id="rId17" Target="../media/image127.png" Type="http://schemas.openxmlformats.org/officeDocument/2006/relationships/image"/><Relationship Id="rId18" Target="../media/image128.svg" Type="http://schemas.openxmlformats.org/officeDocument/2006/relationships/image"/><Relationship Id="rId19" Target="../media/image129.png" Type="http://schemas.openxmlformats.org/officeDocument/2006/relationships/image"/><Relationship Id="rId2" Target="../media/image112.png" Type="http://schemas.openxmlformats.org/officeDocument/2006/relationships/image"/><Relationship Id="rId20" Target="../media/image130.svg" Type="http://schemas.openxmlformats.org/officeDocument/2006/relationships/image"/><Relationship Id="rId21" Target="../media/image131.png" Type="http://schemas.openxmlformats.org/officeDocument/2006/relationships/image"/><Relationship Id="rId22" Target="../media/image132.svg" Type="http://schemas.openxmlformats.org/officeDocument/2006/relationships/image"/><Relationship Id="rId3" Target="../media/image113.png" Type="http://schemas.openxmlformats.org/officeDocument/2006/relationships/image"/><Relationship Id="rId4" Target="../media/image114.png" Type="http://schemas.openxmlformats.org/officeDocument/2006/relationships/image"/><Relationship Id="rId5" Target="../media/image115.png" Type="http://schemas.openxmlformats.org/officeDocument/2006/relationships/image"/><Relationship Id="rId6" Target="../media/image116.svg" Type="http://schemas.openxmlformats.org/officeDocument/2006/relationships/image"/><Relationship Id="rId7" Target="../media/image117.png" Type="http://schemas.openxmlformats.org/officeDocument/2006/relationships/image"/><Relationship Id="rId8" Target="../media/image118.svg" Type="http://schemas.openxmlformats.org/officeDocument/2006/relationships/image"/><Relationship Id="rId9" Target="../media/image11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889584" y="858808"/>
            <a:ext cx="9355714" cy="8496558"/>
            <a:chOff x="0" y="0"/>
            <a:chExt cx="660400" cy="5997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599754"/>
            </a:xfrm>
            <a:custGeom>
              <a:avLst/>
              <a:gdLst/>
              <a:ahLst/>
              <a:cxnLst/>
              <a:rect r="r" b="b" t="t" l="l"/>
              <a:pathLst>
                <a:path h="599754" w="660400">
                  <a:moveTo>
                    <a:pt x="220252" y="580685"/>
                  </a:moveTo>
                  <a:cubicBezTo>
                    <a:pt x="254109" y="592199"/>
                    <a:pt x="292600" y="599754"/>
                    <a:pt x="330378" y="599754"/>
                  </a:cubicBezTo>
                  <a:cubicBezTo>
                    <a:pt x="368157" y="599754"/>
                    <a:pt x="404509" y="593277"/>
                    <a:pt x="438009" y="581763"/>
                  </a:cubicBezTo>
                  <a:cubicBezTo>
                    <a:pt x="438723" y="581404"/>
                    <a:pt x="439435" y="581404"/>
                    <a:pt x="440148" y="581044"/>
                  </a:cubicBezTo>
                  <a:cubicBezTo>
                    <a:pt x="565955" y="534989"/>
                    <a:pt x="658618" y="413375"/>
                    <a:pt x="660400" y="27598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275780"/>
                  </a:lnTo>
                  <a:cubicBezTo>
                    <a:pt x="1782" y="414094"/>
                    <a:pt x="93019" y="535709"/>
                    <a:pt x="220252" y="580685"/>
                  </a:cubicBezTo>
                  <a:close/>
                </a:path>
              </a:pathLst>
            </a:custGeom>
            <a:ln w="190500" cap="sq">
              <a:gradFill>
                <a:gsLst>
                  <a:gs pos="0">
                    <a:srgbClr val="6AD572">
                      <a:alpha val="100000"/>
                    </a:srgbClr>
                  </a:gs>
                  <a:gs pos="100000">
                    <a:srgbClr val="65A6F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60400" cy="520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210674" y="755622"/>
            <a:ext cx="9639827" cy="1857858"/>
          </a:xfrm>
          <a:custGeom>
            <a:avLst/>
            <a:gdLst/>
            <a:ahLst/>
            <a:cxnLst/>
            <a:rect r="r" b="b" t="t" l="l"/>
            <a:pathLst>
              <a:path h="1857858" w="9639827">
                <a:moveTo>
                  <a:pt x="0" y="0"/>
                </a:moveTo>
                <a:lnTo>
                  <a:pt x="9639827" y="0"/>
                </a:lnTo>
                <a:lnTo>
                  <a:pt x="9639827" y="1857857"/>
                </a:lnTo>
                <a:lnTo>
                  <a:pt x="0" y="18578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5707852" y="992619"/>
            <a:ext cx="4715550" cy="908815"/>
          </a:xfrm>
          <a:custGeom>
            <a:avLst/>
            <a:gdLst/>
            <a:ahLst/>
            <a:cxnLst/>
            <a:rect r="r" b="b" t="t" l="l"/>
            <a:pathLst>
              <a:path h="908815" w="4715550">
                <a:moveTo>
                  <a:pt x="0" y="0"/>
                </a:moveTo>
                <a:lnTo>
                  <a:pt x="4715549" y="0"/>
                </a:lnTo>
                <a:lnTo>
                  <a:pt x="4715549" y="908815"/>
                </a:lnTo>
                <a:lnTo>
                  <a:pt x="0" y="9088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755567" y="944904"/>
            <a:ext cx="4715550" cy="908815"/>
          </a:xfrm>
          <a:custGeom>
            <a:avLst/>
            <a:gdLst/>
            <a:ahLst/>
            <a:cxnLst/>
            <a:rect r="r" b="b" t="t" l="l"/>
            <a:pathLst>
              <a:path h="908815" w="4715550">
                <a:moveTo>
                  <a:pt x="0" y="0"/>
                </a:moveTo>
                <a:lnTo>
                  <a:pt x="4715550" y="0"/>
                </a:lnTo>
                <a:lnTo>
                  <a:pt x="4715550" y="908815"/>
                </a:lnTo>
                <a:lnTo>
                  <a:pt x="0" y="9088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820399" y="3137354"/>
            <a:ext cx="9639827" cy="1857858"/>
          </a:xfrm>
          <a:custGeom>
            <a:avLst/>
            <a:gdLst/>
            <a:ahLst/>
            <a:cxnLst/>
            <a:rect r="r" b="b" t="t" l="l"/>
            <a:pathLst>
              <a:path h="1857858" w="9639827">
                <a:moveTo>
                  <a:pt x="0" y="0"/>
                </a:moveTo>
                <a:lnTo>
                  <a:pt x="9639827" y="0"/>
                </a:lnTo>
                <a:lnTo>
                  <a:pt x="9639827" y="1857858"/>
                </a:lnTo>
                <a:lnTo>
                  <a:pt x="0" y="1857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7317577" y="3374352"/>
            <a:ext cx="4715550" cy="908815"/>
          </a:xfrm>
          <a:custGeom>
            <a:avLst/>
            <a:gdLst/>
            <a:ahLst/>
            <a:cxnLst/>
            <a:rect r="r" b="b" t="t" l="l"/>
            <a:pathLst>
              <a:path h="908815" w="4715550">
                <a:moveTo>
                  <a:pt x="0" y="0"/>
                </a:moveTo>
                <a:lnTo>
                  <a:pt x="4715549" y="0"/>
                </a:lnTo>
                <a:lnTo>
                  <a:pt x="4715549" y="908815"/>
                </a:lnTo>
                <a:lnTo>
                  <a:pt x="0" y="9088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365292" y="3326637"/>
            <a:ext cx="4715550" cy="908815"/>
          </a:xfrm>
          <a:custGeom>
            <a:avLst/>
            <a:gdLst/>
            <a:ahLst/>
            <a:cxnLst/>
            <a:rect r="r" b="b" t="t" l="l"/>
            <a:pathLst>
              <a:path h="908815" w="4715550">
                <a:moveTo>
                  <a:pt x="0" y="0"/>
                </a:moveTo>
                <a:lnTo>
                  <a:pt x="4715550" y="0"/>
                </a:lnTo>
                <a:lnTo>
                  <a:pt x="4715550" y="908815"/>
                </a:lnTo>
                <a:lnTo>
                  <a:pt x="0" y="9088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820399" y="5712286"/>
            <a:ext cx="9639827" cy="1857858"/>
          </a:xfrm>
          <a:custGeom>
            <a:avLst/>
            <a:gdLst/>
            <a:ahLst/>
            <a:cxnLst/>
            <a:rect r="r" b="b" t="t" l="l"/>
            <a:pathLst>
              <a:path h="1857858" w="9639827">
                <a:moveTo>
                  <a:pt x="0" y="0"/>
                </a:moveTo>
                <a:lnTo>
                  <a:pt x="9639827" y="0"/>
                </a:lnTo>
                <a:lnTo>
                  <a:pt x="9639827" y="1857858"/>
                </a:lnTo>
                <a:lnTo>
                  <a:pt x="0" y="1857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7317577" y="5949284"/>
            <a:ext cx="4715550" cy="908815"/>
          </a:xfrm>
          <a:custGeom>
            <a:avLst/>
            <a:gdLst/>
            <a:ahLst/>
            <a:cxnLst/>
            <a:rect r="r" b="b" t="t" l="l"/>
            <a:pathLst>
              <a:path h="908815" w="4715550">
                <a:moveTo>
                  <a:pt x="0" y="0"/>
                </a:moveTo>
                <a:lnTo>
                  <a:pt x="4715549" y="0"/>
                </a:lnTo>
                <a:lnTo>
                  <a:pt x="4715549" y="908815"/>
                </a:lnTo>
                <a:lnTo>
                  <a:pt x="0" y="90881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365292" y="5901569"/>
            <a:ext cx="4715550" cy="908815"/>
          </a:xfrm>
          <a:custGeom>
            <a:avLst/>
            <a:gdLst/>
            <a:ahLst/>
            <a:cxnLst/>
            <a:rect r="r" b="b" t="t" l="l"/>
            <a:pathLst>
              <a:path h="908815" w="4715550">
                <a:moveTo>
                  <a:pt x="0" y="0"/>
                </a:moveTo>
                <a:lnTo>
                  <a:pt x="4715550" y="0"/>
                </a:lnTo>
                <a:lnTo>
                  <a:pt x="4715550" y="908815"/>
                </a:lnTo>
                <a:lnTo>
                  <a:pt x="0" y="90881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210674" y="8096718"/>
            <a:ext cx="9639827" cy="1857858"/>
          </a:xfrm>
          <a:custGeom>
            <a:avLst/>
            <a:gdLst/>
            <a:ahLst/>
            <a:cxnLst/>
            <a:rect r="r" b="b" t="t" l="l"/>
            <a:pathLst>
              <a:path h="1857858" w="9639827">
                <a:moveTo>
                  <a:pt x="0" y="0"/>
                </a:moveTo>
                <a:lnTo>
                  <a:pt x="9639827" y="0"/>
                </a:lnTo>
                <a:lnTo>
                  <a:pt x="9639827" y="1857858"/>
                </a:lnTo>
                <a:lnTo>
                  <a:pt x="0" y="1857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5707852" y="8333716"/>
            <a:ext cx="4715550" cy="908815"/>
          </a:xfrm>
          <a:custGeom>
            <a:avLst/>
            <a:gdLst/>
            <a:ahLst/>
            <a:cxnLst/>
            <a:rect r="r" b="b" t="t" l="l"/>
            <a:pathLst>
              <a:path h="908815" w="4715550">
                <a:moveTo>
                  <a:pt x="0" y="0"/>
                </a:moveTo>
                <a:lnTo>
                  <a:pt x="4715549" y="0"/>
                </a:lnTo>
                <a:lnTo>
                  <a:pt x="4715549" y="908815"/>
                </a:lnTo>
                <a:lnTo>
                  <a:pt x="0" y="90881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755567" y="8286000"/>
            <a:ext cx="4715550" cy="908815"/>
          </a:xfrm>
          <a:custGeom>
            <a:avLst/>
            <a:gdLst/>
            <a:ahLst/>
            <a:cxnLst/>
            <a:rect r="r" b="b" t="t" l="l"/>
            <a:pathLst>
              <a:path h="908815" w="4715550">
                <a:moveTo>
                  <a:pt x="0" y="0"/>
                </a:moveTo>
                <a:lnTo>
                  <a:pt x="4715550" y="0"/>
                </a:lnTo>
                <a:lnTo>
                  <a:pt x="4715550" y="908815"/>
                </a:lnTo>
                <a:lnTo>
                  <a:pt x="0" y="90881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379557" y="1073429"/>
            <a:ext cx="4275388" cy="60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efine clear objectives and desired outcomes for your project journey.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379557" y="8414526"/>
            <a:ext cx="4275388" cy="60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entify potential obstacles and develop contingency plans for challenges.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83912" y="6030094"/>
            <a:ext cx="4275388" cy="60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Estab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lish realistic deadlines and key milestone dates for deliverables.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83912" y="3455162"/>
            <a:ext cx="4275388" cy="60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llocate team members, budget, and tools required for execution.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036254" y="1247441"/>
            <a:ext cx="3039030" cy="30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3"/>
              </a:lnSpc>
            </a:pPr>
            <a:r>
              <a:rPr lang="en-US" sz="20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Vision Setting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036254" y="8588537"/>
            <a:ext cx="3039030" cy="30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3"/>
              </a:lnSpc>
            </a:pPr>
            <a:r>
              <a:rPr lang="en-US" sz="20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Risk Assessment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640608" y="6204105"/>
            <a:ext cx="3039030" cy="30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3"/>
              </a:lnSpc>
            </a:pPr>
            <a:r>
              <a:rPr lang="en-US" sz="20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Timeline Creation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640608" y="3629173"/>
            <a:ext cx="3039030" cy="30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3"/>
              </a:lnSpc>
            </a:pPr>
            <a:r>
              <a:rPr lang="en-US" sz="20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Resource Planning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52600" y="3677618"/>
            <a:ext cx="4343400" cy="215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Roadmap Foundation Elements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52600" y="6007402"/>
            <a:ext cx="43434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667198"/>
                </a:solidFill>
                <a:latin typeface="Canva Sans"/>
                <a:ea typeface="Canva Sans"/>
                <a:cs typeface="Canva Sans"/>
                <a:sym typeface="Canva Sans"/>
              </a:rPr>
              <a:t>Key elements that support successful project roadmaps.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6022222" y="1171569"/>
            <a:ext cx="455484" cy="455484"/>
          </a:xfrm>
          <a:custGeom>
            <a:avLst/>
            <a:gdLst/>
            <a:ahLst/>
            <a:cxnLst/>
            <a:rect r="r" b="b" t="t" l="l"/>
            <a:pathLst>
              <a:path h="455484" w="455484">
                <a:moveTo>
                  <a:pt x="0" y="0"/>
                </a:moveTo>
                <a:lnTo>
                  <a:pt x="455484" y="0"/>
                </a:lnTo>
                <a:lnTo>
                  <a:pt x="455484" y="455485"/>
                </a:lnTo>
                <a:lnTo>
                  <a:pt x="0" y="45548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648333" y="3543777"/>
            <a:ext cx="455484" cy="455484"/>
          </a:xfrm>
          <a:custGeom>
            <a:avLst/>
            <a:gdLst/>
            <a:ahLst/>
            <a:cxnLst/>
            <a:rect r="r" b="b" t="t" l="l"/>
            <a:pathLst>
              <a:path h="455484" w="455484">
                <a:moveTo>
                  <a:pt x="0" y="0"/>
                </a:moveTo>
                <a:lnTo>
                  <a:pt x="455484" y="0"/>
                </a:lnTo>
                <a:lnTo>
                  <a:pt x="455484" y="455484"/>
                </a:lnTo>
                <a:lnTo>
                  <a:pt x="0" y="45548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022222" y="8512666"/>
            <a:ext cx="455484" cy="455484"/>
          </a:xfrm>
          <a:custGeom>
            <a:avLst/>
            <a:gdLst/>
            <a:ahLst/>
            <a:cxnLst/>
            <a:rect r="r" b="b" t="t" l="l"/>
            <a:pathLst>
              <a:path h="455484" w="455484">
                <a:moveTo>
                  <a:pt x="0" y="0"/>
                </a:moveTo>
                <a:lnTo>
                  <a:pt x="455484" y="0"/>
                </a:lnTo>
                <a:lnTo>
                  <a:pt x="455484" y="455484"/>
                </a:lnTo>
                <a:lnTo>
                  <a:pt x="0" y="455484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7648333" y="6118709"/>
            <a:ext cx="455484" cy="455484"/>
          </a:xfrm>
          <a:custGeom>
            <a:avLst/>
            <a:gdLst/>
            <a:ahLst/>
            <a:cxnLst/>
            <a:rect r="r" b="b" t="t" l="l"/>
            <a:pathLst>
              <a:path h="455484" w="455484">
                <a:moveTo>
                  <a:pt x="0" y="0"/>
                </a:moveTo>
                <a:lnTo>
                  <a:pt x="455484" y="0"/>
                </a:lnTo>
                <a:lnTo>
                  <a:pt x="455484" y="455484"/>
                </a:lnTo>
                <a:lnTo>
                  <a:pt x="0" y="455484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3453316" y="5220663"/>
            <a:ext cx="6455264" cy="2412299"/>
          </a:xfrm>
          <a:custGeom>
            <a:avLst/>
            <a:gdLst/>
            <a:ahLst/>
            <a:cxnLst/>
            <a:rect r="r" b="b" t="t" l="l"/>
            <a:pathLst>
              <a:path h="2412299" w="6455264">
                <a:moveTo>
                  <a:pt x="0" y="2293346"/>
                </a:moveTo>
                <a:quadBezTo>
                  <a:pt x="3867577" y="2947976"/>
                  <a:pt x="6455265" y="0"/>
                </a:quadBezTo>
              </a:path>
            </a:pathLst>
          </a:custGeom>
          <a:ln cap="flat" w="200025">
            <a:solidFill>
              <a:srgbClr val="65A6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>
            <a:off x="15718165" y="1049319"/>
            <a:ext cx="3542550" cy="1955682"/>
          </a:xfrm>
          <a:custGeom>
            <a:avLst/>
            <a:gdLst/>
            <a:ahLst/>
            <a:cxnLst/>
            <a:rect r="r" b="b" t="t" l="l"/>
            <a:pathLst>
              <a:path h="1955682" w="3542550">
                <a:moveTo>
                  <a:pt x="0" y="1905307"/>
                </a:moveTo>
                <a:quadBezTo>
                  <a:pt x="2640320" y="2269557"/>
                  <a:pt x="3542550" y="0"/>
                </a:quadBezTo>
              </a:path>
            </a:pathLst>
          </a:custGeom>
          <a:ln cap="flat" w="200025">
            <a:gradFill>
              <a:gsLst>
                <a:gs pos="0">
                  <a:srgbClr val="6AD572">
                    <a:alpha val="100000"/>
                  </a:srgbClr>
                </a:gs>
                <a:gs pos="50000">
                  <a:srgbClr val="6AD572">
                    <a:alpha val="0"/>
                  </a:srgbClr>
                </a:gs>
                <a:gs pos="100000">
                  <a:srgbClr val="6AD572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>
            <a:off x="-3795197" y="7283449"/>
            <a:ext cx="7258344" cy="1540983"/>
          </a:xfrm>
          <a:custGeom>
            <a:avLst/>
            <a:gdLst/>
            <a:ahLst/>
            <a:cxnLst/>
            <a:rect r="r" b="b" t="t" l="l"/>
            <a:pathLst>
              <a:path h="1540983" w="7258344">
                <a:moveTo>
                  <a:pt x="7258344" y="230679"/>
                </a:moveTo>
                <a:quadBezTo>
                  <a:pt x="2830989" y="-596214"/>
                  <a:pt x="0" y="1540983"/>
                </a:quadBezTo>
              </a:path>
            </a:pathLst>
          </a:custGeom>
          <a:ln cap="flat" w="200025">
            <a:gradFill>
              <a:gsLst>
                <a:gs pos="0">
                  <a:srgbClr val="65A6FE">
                    <a:alpha val="100000"/>
                  </a:srgbClr>
                </a:gs>
                <a:gs pos="50000">
                  <a:srgbClr val="65A6FE">
                    <a:alpha val="0"/>
                  </a:srgbClr>
                </a:gs>
                <a:gs pos="100000">
                  <a:srgbClr val="65A6FE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>
            <a:off x="9842363" y="2841848"/>
            <a:ext cx="5885628" cy="2463410"/>
          </a:xfrm>
          <a:custGeom>
            <a:avLst/>
            <a:gdLst/>
            <a:ahLst/>
            <a:cxnLst/>
            <a:rect r="r" b="b" t="t" l="l"/>
            <a:pathLst>
              <a:path h="2463410" w="5885628">
                <a:moveTo>
                  <a:pt x="5885629" y="111506"/>
                </a:moveTo>
                <a:quadBezTo>
                  <a:pt x="2218912" y="-524105"/>
                  <a:pt x="0" y="2463409"/>
                </a:quadBezTo>
              </a:path>
            </a:pathLst>
          </a:custGeom>
          <a:ln cap="flat" w="200025">
            <a:gradFill>
              <a:gsLst>
                <a:gs pos="0">
                  <a:srgbClr val="6AD572">
                    <a:alpha val="100000"/>
                  </a:srgbClr>
                </a:gs>
                <a:gs pos="50000">
                  <a:srgbClr val="6AD572">
                    <a:alpha val="100000"/>
                  </a:srgbClr>
                </a:gs>
                <a:gs pos="100000">
                  <a:srgbClr val="65A6FE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7889281" y="6075385"/>
            <a:ext cx="1065137" cy="1093203"/>
            <a:chOff x="0" y="0"/>
            <a:chExt cx="1420183" cy="14576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01571"/>
              <a:ext cx="1420183" cy="1356032"/>
            </a:xfrm>
            <a:custGeom>
              <a:avLst/>
              <a:gdLst/>
              <a:ahLst/>
              <a:cxnLst/>
              <a:rect r="r" b="b" t="t" l="l"/>
              <a:pathLst>
                <a:path h="1356032" w="1420183">
                  <a:moveTo>
                    <a:pt x="0" y="0"/>
                  </a:moveTo>
                  <a:lnTo>
                    <a:pt x="1420183" y="0"/>
                  </a:lnTo>
                  <a:lnTo>
                    <a:pt x="1420183" y="1356032"/>
                  </a:lnTo>
                  <a:lnTo>
                    <a:pt x="0" y="1356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-2325" t="-2060" r="-2325" b="-206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0746" y="81645"/>
              <a:ext cx="1278690" cy="1214756"/>
            </a:xfrm>
            <a:custGeom>
              <a:avLst/>
              <a:gdLst/>
              <a:ahLst/>
              <a:cxnLst/>
              <a:rect r="r" b="b" t="t" l="l"/>
              <a:pathLst>
                <a:path h="1214756" w="1278690">
                  <a:moveTo>
                    <a:pt x="0" y="0"/>
                  </a:moveTo>
                  <a:lnTo>
                    <a:pt x="1278691" y="0"/>
                  </a:lnTo>
                  <a:lnTo>
                    <a:pt x="1278691" y="1214756"/>
                  </a:lnTo>
                  <a:lnTo>
                    <a:pt x="0" y="1214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0746" y="0"/>
              <a:ext cx="1278690" cy="1214756"/>
            </a:xfrm>
            <a:custGeom>
              <a:avLst/>
              <a:gdLst/>
              <a:ahLst/>
              <a:cxnLst/>
              <a:rect r="r" b="b" t="t" l="l"/>
              <a:pathLst>
                <a:path h="1214756" w="1278690">
                  <a:moveTo>
                    <a:pt x="0" y="0"/>
                  </a:moveTo>
                  <a:lnTo>
                    <a:pt x="1278691" y="0"/>
                  </a:lnTo>
                  <a:lnTo>
                    <a:pt x="1278691" y="1214756"/>
                  </a:lnTo>
                  <a:lnTo>
                    <a:pt x="0" y="1214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639800" y="2278328"/>
            <a:ext cx="1065137" cy="1093203"/>
            <a:chOff x="0" y="0"/>
            <a:chExt cx="1420183" cy="14576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101571"/>
              <a:ext cx="1420183" cy="1356032"/>
            </a:xfrm>
            <a:custGeom>
              <a:avLst/>
              <a:gdLst/>
              <a:ahLst/>
              <a:cxnLst/>
              <a:rect r="r" b="b" t="t" l="l"/>
              <a:pathLst>
                <a:path h="1356032" w="1420183">
                  <a:moveTo>
                    <a:pt x="0" y="0"/>
                  </a:moveTo>
                  <a:lnTo>
                    <a:pt x="1420183" y="0"/>
                  </a:lnTo>
                  <a:lnTo>
                    <a:pt x="1420183" y="1356032"/>
                  </a:lnTo>
                  <a:lnTo>
                    <a:pt x="0" y="1356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-2325" t="-2060" r="-2325" b="-206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70746" y="81645"/>
              <a:ext cx="1278690" cy="1214756"/>
            </a:xfrm>
            <a:custGeom>
              <a:avLst/>
              <a:gdLst/>
              <a:ahLst/>
              <a:cxnLst/>
              <a:rect r="r" b="b" t="t" l="l"/>
              <a:pathLst>
                <a:path h="1214756" w="1278690">
                  <a:moveTo>
                    <a:pt x="0" y="0"/>
                  </a:moveTo>
                  <a:lnTo>
                    <a:pt x="1278691" y="0"/>
                  </a:lnTo>
                  <a:lnTo>
                    <a:pt x="1278691" y="1214756"/>
                  </a:lnTo>
                  <a:lnTo>
                    <a:pt x="0" y="1214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70746" y="0"/>
              <a:ext cx="1278690" cy="1214756"/>
            </a:xfrm>
            <a:custGeom>
              <a:avLst/>
              <a:gdLst/>
              <a:ahLst/>
              <a:cxnLst/>
              <a:rect r="r" b="b" t="t" l="l"/>
              <a:pathLst>
                <a:path h="1214756" w="1278690">
                  <a:moveTo>
                    <a:pt x="0" y="0"/>
                  </a:moveTo>
                  <a:lnTo>
                    <a:pt x="1278691" y="0"/>
                  </a:lnTo>
                  <a:lnTo>
                    <a:pt x="1278691" y="1214756"/>
                  </a:lnTo>
                  <a:lnTo>
                    <a:pt x="0" y="1214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057400" y="6830488"/>
            <a:ext cx="1065137" cy="1093203"/>
            <a:chOff x="0" y="0"/>
            <a:chExt cx="1420183" cy="14576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101571"/>
              <a:ext cx="1420183" cy="1356032"/>
            </a:xfrm>
            <a:custGeom>
              <a:avLst/>
              <a:gdLst/>
              <a:ahLst/>
              <a:cxnLst/>
              <a:rect r="r" b="b" t="t" l="l"/>
              <a:pathLst>
                <a:path h="1356032" w="1420183">
                  <a:moveTo>
                    <a:pt x="0" y="0"/>
                  </a:moveTo>
                  <a:lnTo>
                    <a:pt x="1420183" y="0"/>
                  </a:lnTo>
                  <a:lnTo>
                    <a:pt x="1420183" y="1356032"/>
                  </a:lnTo>
                  <a:lnTo>
                    <a:pt x="0" y="1356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-2325" t="-2060" r="-2325" b="-206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70746" y="81645"/>
              <a:ext cx="1278690" cy="1214756"/>
            </a:xfrm>
            <a:custGeom>
              <a:avLst/>
              <a:gdLst/>
              <a:ahLst/>
              <a:cxnLst/>
              <a:rect r="r" b="b" t="t" l="l"/>
              <a:pathLst>
                <a:path h="1214756" w="1278690">
                  <a:moveTo>
                    <a:pt x="0" y="0"/>
                  </a:moveTo>
                  <a:lnTo>
                    <a:pt x="1278691" y="0"/>
                  </a:lnTo>
                  <a:lnTo>
                    <a:pt x="1278691" y="1214756"/>
                  </a:lnTo>
                  <a:lnTo>
                    <a:pt x="0" y="1214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70746" y="0"/>
              <a:ext cx="1278690" cy="1214756"/>
            </a:xfrm>
            <a:custGeom>
              <a:avLst/>
              <a:gdLst/>
              <a:ahLst/>
              <a:cxnLst/>
              <a:rect r="r" b="b" t="t" l="l"/>
              <a:pathLst>
                <a:path h="1214756" w="1278690">
                  <a:moveTo>
                    <a:pt x="0" y="0"/>
                  </a:moveTo>
                  <a:lnTo>
                    <a:pt x="1278691" y="0"/>
                  </a:lnTo>
                  <a:lnTo>
                    <a:pt x="1278691" y="1214756"/>
                  </a:lnTo>
                  <a:lnTo>
                    <a:pt x="0" y="1214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752600" y="2019440"/>
            <a:ext cx="86868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667198"/>
                </a:solidFill>
                <a:latin typeface="Canva Sans"/>
                <a:ea typeface="Canva Sans"/>
                <a:cs typeface="Canva Sans"/>
                <a:sym typeface="Canva Sans"/>
              </a:rPr>
              <a:t>Three critical stages that transform ideas</a:t>
            </a:r>
            <a:r>
              <a:rPr lang="en-US" sz="1800">
                <a:solidFill>
                  <a:srgbClr val="667198"/>
                </a:solidFill>
                <a:latin typeface="Canva Sans"/>
                <a:ea typeface="Canva Sans"/>
                <a:cs typeface="Canva Sans"/>
                <a:sym typeface="Canva Sans"/>
              </a:rPr>
              <a:t> into actionable project plans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52600" y="1180170"/>
            <a:ext cx="10134600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Roadmap Development Phases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57400" y="5209851"/>
            <a:ext cx="4038600" cy="10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  <a:r>
              <a:rPr lang="en-US" sz="1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ather requirements, stakeholder input, and market research for informed decisions.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89281" y="8031709"/>
            <a:ext cx="4038600" cy="10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Structur</a:t>
            </a:r>
            <a:r>
              <a:rPr lang="en-US" sz="1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tasks, dependencies, and resource allocation into detailed project framework.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39800" y="4234652"/>
            <a:ext cx="4038600" cy="10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1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aunch initiatives, monitor progress, and adjust strategies based on performance.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57400" y="4737255"/>
            <a:ext cx="403860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399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Discovery Phase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889281" y="7559112"/>
            <a:ext cx="403860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399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Planning Phase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639800" y="3762055"/>
            <a:ext cx="403860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399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Execution Phase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8240638" y="6355498"/>
            <a:ext cx="438623" cy="438623"/>
          </a:xfrm>
          <a:custGeom>
            <a:avLst/>
            <a:gdLst/>
            <a:ahLst/>
            <a:cxnLst/>
            <a:rect r="r" b="b" t="t" l="l"/>
            <a:pathLst>
              <a:path h="438623" w="438623">
                <a:moveTo>
                  <a:pt x="0" y="0"/>
                </a:moveTo>
                <a:lnTo>
                  <a:pt x="438623" y="0"/>
                </a:lnTo>
                <a:lnTo>
                  <a:pt x="438623" y="438623"/>
                </a:lnTo>
                <a:lnTo>
                  <a:pt x="0" y="4386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953294" y="2567754"/>
            <a:ext cx="438150" cy="438150"/>
          </a:xfrm>
          <a:custGeom>
            <a:avLst/>
            <a:gdLst/>
            <a:ahLst/>
            <a:cxnLst/>
            <a:rect r="r" b="b" t="t" l="l"/>
            <a:pathLst>
              <a:path h="438150" w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370657" y="7119677"/>
            <a:ext cx="438623" cy="438623"/>
          </a:xfrm>
          <a:custGeom>
            <a:avLst/>
            <a:gdLst/>
            <a:ahLst/>
            <a:cxnLst/>
            <a:rect r="r" b="b" t="t" l="l"/>
            <a:pathLst>
              <a:path h="438623" w="438623">
                <a:moveTo>
                  <a:pt x="0" y="0"/>
                </a:moveTo>
                <a:lnTo>
                  <a:pt x="438623" y="0"/>
                </a:lnTo>
                <a:lnTo>
                  <a:pt x="438623" y="438623"/>
                </a:lnTo>
                <a:lnTo>
                  <a:pt x="0" y="43862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9600" y="3697854"/>
            <a:ext cx="5681486" cy="1487516"/>
          </a:xfrm>
          <a:custGeom>
            <a:avLst/>
            <a:gdLst/>
            <a:ahLst/>
            <a:cxnLst/>
            <a:rect r="r" b="b" t="t" l="l"/>
            <a:pathLst>
              <a:path h="1487516" w="5681486">
                <a:moveTo>
                  <a:pt x="0" y="0"/>
                </a:moveTo>
                <a:lnTo>
                  <a:pt x="5681486" y="0"/>
                </a:lnTo>
                <a:lnTo>
                  <a:pt x="5681486" y="1487516"/>
                </a:lnTo>
                <a:lnTo>
                  <a:pt x="0" y="1487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9600" y="6484748"/>
            <a:ext cx="5681486" cy="1487516"/>
          </a:xfrm>
          <a:custGeom>
            <a:avLst/>
            <a:gdLst/>
            <a:ahLst/>
            <a:cxnLst/>
            <a:rect r="r" b="b" t="t" l="l"/>
            <a:pathLst>
              <a:path h="1487516" w="5681486">
                <a:moveTo>
                  <a:pt x="0" y="0"/>
                </a:moveTo>
                <a:lnTo>
                  <a:pt x="5681486" y="0"/>
                </a:lnTo>
                <a:lnTo>
                  <a:pt x="5681486" y="1487516"/>
                </a:lnTo>
                <a:lnTo>
                  <a:pt x="0" y="1487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03257" y="3697854"/>
            <a:ext cx="5681486" cy="1487516"/>
          </a:xfrm>
          <a:custGeom>
            <a:avLst/>
            <a:gdLst/>
            <a:ahLst/>
            <a:cxnLst/>
            <a:rect r="r" b="b" t="t" l="l"/>
            <a:pathLst>
              <a:path h="1487516" w="5681486">
                <a:moveTo>
                  <a:pt x="0" y="0"/>
                </a:moveTo>
                <a:lnTo>
                  <a:pt x="5681486" y="0"/>
                </a:lnTo>
                <a:lnTo>
                  <a:pt x="5681486" y="1487516"/>
                </a:lnTo>
                <a:lnTo>
                  <a:pt x="0" y="1487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69002" y="3851836"/>
            <a:ext cx="4962682" cy="759085"/>
            <a:chOff x="0" y="0"/>
            <a:chExt cx="2888979" cy="4418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88979" cy="441894"/>
            </a:xfrm>
            <a:custGeom>
              <a:avLst/>
              <a:gdLst/>
              <a:ahLst/>
              <a:cxnLst/>
              <a:rect r="r" b="b" t="t" l="l"/>
              <a:pathLst>
                <a:path h="441894" w="2888979">
                  <a:moveTo>
                    <a:pt x="79561" y="0"/>
                  </a:moveTo>
                  <a:lnTo>
                    <a:pt x="2809417" y="0"/>
                  </a:lnTo>
                  <a:cubicBezTo>
                    <a:pt x="2830518" y="0"/>
                    <a:pt x="2850755" y="8382"/>
                    <a:pt x="2865676" y="23303"/>
                  </a:cubicBezTo>
                  <a:cubicBezTo>
                    <a:pt x="2880596" y="38224"/>
                    <a:pt x="2888979" y="58460"/>
                    <a:pt x="2888979" y="79561"/>
                  </a:cubicBezTo>
                  <a:lnTo>
                    <a:pt x="2888979" y="362333"/>
                  </a:lnTo>
                  <a:cubicBezTo>
                    <a:pt x="2888979" y="383434"/>
                    <a:pt x="2880596" y="403670"/>
                    <a:pt x="2865676" y="418591"/>
                  </a:cubicBezTo>
                  <a:cubicBezTo>
                    <a:pt x="2850755" y="433512"/>
                    <a:pt x="2830518" y="441894"/>
                    <a:pt x="2809417" y="441894"/>
                  </a:cubicBezTo>
                  <a:lnTo>
                    <a:pt x="79561" y="441894"/>
                  </a:lnTo>
                  <a:cubicBezTo>
                    <a:pt x="58460" y="441894"/>
                    <a:pt x="38224" y="433512"/>
                    <a:pt x="23303" y="418591"/>
                  </a:cubicBezTo>
                  <a:cubicBezTo>
                    <a:pt x="8382" y="403670"/>
                    <a:pt x="0" y="383434"/>
                    <a:pt x="0" y="362333"/>
                  </a:cubicBezTo>
                  <a:lnTo>
                    <a:pt x="0" y="79561"/>
                  </a:lnTo>
                  <a:cubicBezTo>
                    <a:pt x="0" y="58460"/>
                    <a:pt x="8382" y="38224"/>
                    <a:pt x="23303" y="23303"/>
                  </a:cubicBezTo>
                  <a:cubicBezTo>
                    <a:pt x="38224" y="8382"/>
                    <a:pt x="58460" y="0"/>
                    <a:pt x="79561" y="0"/>
                  </a:cubicBezTo>
                  <a:close/>
                </a:path>
              </a:pathLst>
            </a:custGeom>
            <a:solidFill>
              <a:srgbClr val="E9EBF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888979" cy="489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9002" y="6638730"/>
            <a:ext cx="4962682" cy="759085"/>
            <a:chOff x="0" y="0"/>
            <a:chExt cx="2888979" cy="4418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88979" cy="441894"/>
            </a:xfrm>
            <a:custGeom>
              <a:avLst/>
              <a:gdLst/>
              <a:ahLst/>
              <a:cxnLst/>
              <a:rect r="r" b="b" t="t" l="l"/>
              <a:pathLst>
                <a:path h="441894" w="2888979">
                  <a:moveTo>
                    <a:pt x="79561" y="0"/>
                  </a:moveTo>
                  <a:lnTo>
                    <a:pt x="2809417" y="0"/>
                  </a:lnTo>
                  <a:cubicBezTo>
                    <a:pt x="2830518" y="0"/>
                    <a:pt x="2850755" y="8382"/>
                    <a:pt x="2865676" y="23303"/>
                  </a:cubicBezTo>
                  <a:cubicBezTo>
                    <a:pt x="2880596" y="38224"/>
                    <a:pt x="2888979" y="58460"/>
                    <a:pt x="2888979" y="79561"/>
                  </a:cubicBezTo>
                  <a:lnTo>
                    <a:pt x="2888979" y="362333"/>
                  </a:lnTo>
                  <a:cubicBezTo>
                    <a:pt x="2888979" y="383434"/>
                    <a:pt x="2880596" y="403670"/>
                    <a:pt x="2865676" y="418591"/>
                  </a:cubicBezTo>
                  <a:cubicBezTo>
                    <a:pt x="2850755" y="433512"/>
                    <a:pt x="2830518" y="441894"/>
                    <a:pt x="2809417" y="441894"/>
                  </a:cubicBezTo>
                  <a:lnTo>
                    <a:pt x="79561" y="441894"/>
                  </a:lnTo>
                  <a:cubicBezTo>
                    <a:pt x="58460" y="441894"/>
                    <a:pt x="38224" y="433512"/>
                    <a:pt x="23303" y="418591"/>
                  </a:cubicBezTo>
                  <a:cubicBezTo>
                    <a:pt x="8382" y="403670"/>
                    <a:pt x="0" y="383434"/>
                    <a:pt x="0" y="362333"/>
                  </a:cubicBezTo>
                  <a:lnTo>
                    <a:pt x="0" y="79561"/>
                  </a:lnTo>
                  <a:cubicBezTo>
                    <a:pt x="0" y="58460"/>
                    <a:pt x="8382" y="38224"/>
                    <a:pt x="23303" y="23303"/>
                  </a:cubicBezTo>
                  <a:cubicBezTo>
                    <a:pt x="38224" y="8382"/>
                    <a:pt x="58460" y="0"/>
                    <a:pt x="79561" y="0"/>
                  </a:cubicBezTo>
                  <a:close/>
                </a:path>
              </a:pathLst>
            </a:custGeom>
            <a:solidFill>
              <a:srgbClr val="E9EBF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888979" cy="489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2659" y="3851836"/>
            <a:ext cx="4962682" cy="759085"/>
            <a:chOff x="0" y="0"/>
            <a:chExt cx="2888979" cy="44189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88979" cy="441894"/>
            </a:xfrm>
            <a:custGeom>
              <a:avLst/>
              <a:gdLst/>
              <a:ahLst/>
              <a:cxnLst/>
              <a:rect r="r" b="b" t="t" l="l"/>
              <a:pathLst>
                <a:path h="441894" w="2888979">
                  <a:moveTo>
                    <a:pt x="79561" y="0"/>
                  </a:moveTo>
                  <a:lnTo>
                    <a:pt x="2809417" y="0"/>
                  </a:lnTo>
                  <a:cubicBezTo>
                    <a:pt x="2830518" y="0"/>
                    <a:pt x="2850755" y="8382"/>
                    <a:pt x="2865676" y="23303"/>
                  </a:cubicBezTo>
                  <a:cubicBezTo>
                    <a:pt x="2880596" y="38224"/>
                    <a:pt x="2888979" y="58460"/>
                    <a:pt x="2888979" y="79561"/>
                  </a:cubicBezTo>
                  <a:lnTo>
                    <a:pt x="2888979" y="362333"/>
                  </a:lnTo>
                  <a:cubicBezTo>
                    <a:pt x="2888979" y="383434"/>
                    <a:pt x="2880596" y="403670"/>
                    <a:pt x="2865676" y="418591"/>
                  </a:cubicBezTo>
                  <a:cubicBezTo>
                    <a:pt x="2850755" y="433512"/>
                    <a:pt x="2830518" y="441894"/>
                    <a:pt x="2809417" y="441894"/>
                  </a:cubicBezTo>
                  <a:lnTo>
                    <a:pt x="79561" y="441894"/>
                  </a:lnTo>
                  <a:cubicBezTo>
                    <a:pt x="58460" y="441894"/>
                    <a:pt x="38224" y="433512"/>
                    <a:pt x="23303" y="418591"/>
                  </a:cubicBezTo>
                  <a:cubicBezTo>
                    <a:pt x="8382" y="403670"/>
                    <a:pt x="0" y="383434"/>
                    <a:pt x="0" y="362333"/>
                  </a:cubicBezTo>
                  <a:lnTo>
                    <a:pt x="0" y="79561"/>
                  </a:lnTo>
                  <a:cubicBezTo>
                    <a:pt x="0" y="58460"/>
                    <a:pt x="8382" y="38224"/>
                    <a:pt x="23303" y="23303"/>
                  </a:cubicBezTo>
                  <a:cubicBezTo>
                    <a:pt x="38224" y="8382"/>
                    <a:pt x="58460" y="0"/>
                    <a:pt x="79561" y="0"/>
                  </a:cubicBezTo>
                  <a:close/>
                </a:path>
              </a:pathLst>
            </a:custGeom>
            <a:solidFill>
              <a:srgbClr val="E9EBF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888979" cy="489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62659" y="6638730"/>
            <a:ext cx="4962682" cy="759085"/>
            <a:chOff x="0" y="0"/>
            <a:chExt cx="2888979" cy="44189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888979" cy="441894"/>
            </a:xfrm>
            <a:custGeom>
              <a:avLst/>
              <a:gdLst/>
              <a:ahLst/>
              <a:cxnLst/>
              <a:rect r="r" b="b" t="t" l="l"/>
              <a:pathLst>
                <a:path h="441894" w="2888979">
                  <a:moveTo>
                    <a:pt x="79561" y="0"/>
                  </a:moveTo>
                  <a:lnTo>
                    <a:pt x="2809417" y="0"/>
                  </a:lnTo>
                  <a:cubicBezTo>
                    <a:pt x="2830518" y="0"/>
                    <a:pt x="2850755" y="8382"/>
                    <a:pt x="2865676" y="23303"/>
                  </a:cubicBezTo>
                  <a:cubicBezTo>
                    <a:pt x="2880596" y="38224"/>
                    <a:pt x="2888979" y="58460"/>
                    <a:pt x="2888979" y="79561"/>
                  </a:cubicBezTo>
                  <a:lnTo>
                    <a:pt x="2888979" y="362333"/>
                  </a:lnTo>
                  <a:cubicBezTo>
                    <a:pt x="2888979" y="383434"/>
                    <a:pt x="2880596" y="403670"/>
                    <a:pt x="2865676" y="418591"/>
                  </a:cubicBezTo>
                  <a:cubicBezTo>
                    <a:pt x="2850755" y="433512"/>
                    <a:pt x="2830518" y="441894"/>
                    <a:pt x="2809417" y="441894"/>
                  </a:cubicBezTo>
                  <a:lnTo>
                    <a:pt x="79561" y="441894"/>
                  </a:lnTo>
                  <a:cubicBezTo>
                    <a:pt x="58460" y="441894"/>
                    <a:pt x="38224" y="433512"/>
                    <a:pt x="23303" y="418591"/>
                  </a:cubicBezTo>
                  <a:cubicBezTo>
                    <a:pt x="8382" y="403670"/>
                    <a:pt x="0" y="383434"/>
                    <a:pt x="0" y="362333"/>
                  </a:cubicBezTo>
                  <a:lnTo>
                    <a:pt x="0" y="79561"/>
                  </a:lnTo>
                  <a:cubicBezTo>
                    <a:pt x="0" y="58460"/>
                    <a:pt x="8382" y="38224"/>
                    <a:pt x="23303" y="23303"/>
                  </a:cubicBezTo>
                  <a:cubicBezTo>
                    <a:pt x="38224" y="8382"/>
                    <a:pt x="58460" y="0"/>
                    <a:pt x="79561" y="0"/>
                  </a:cubicBezTo>
                  <a:close/>
                </a:path>
              </a:pathLst>
            </a:custGeom>
            <a:solidFill>
              <a:srgbClr val="E9EBF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888979" cy="489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9002" y="3770154"/>
            <a:ext cx="4962682" cy="759085"/>
            <a:chOff x="0" y="0"/>
            <a:chExt cx="2888979" cy="44189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888979" cy="441894"/>
            </a:xfrm>
            <a:custGeom>
              <a:avLst/>
              <a:gdLst/>
              <a:ahLst/>
              <a:cxnLst/>
              <a:rect r="r" b="b" t="t" l="l"/>
              <a:pathLst>
                <a:path h="441894" w="2888979">
                  <a:moveTo>
                    <a:pt x="79561" y="0"/>
                  </a:moveTo>
                  <a:lnTo>
                    <a:pt x="2809417" y="0"/>
                  </a:lnTo>
                  <a:cubicBezTo>
                    <a:pt x="2830518" y="0"/>
                    <a:pt x="2850755" y="8382"/>
                    <a:pt x="2865676" y="23303"/>
                  </a:cubicBezTo>
                  <a:cubicBezTo>
                    <a:pt x="2880596" y="38224"/>
                    <a:pt x="2888979" y="58460"/>
                    <a:pt x="2888979" y="79561"/>
                  </a:cubicBezTo>
                  <a:lnTo>
                    <a:pt x="2888979" y="362333"/>
                  </a:lnTo>
                  <a:cubicBezTo>
                    <a:pt x="2888979" y="383434"/>
                    <a:pt x="2880596" y="403670"/>
                    <a:pt x="2865676" y="418591"/>
                  </a:cubicBezTo>
                  <a:cubicBezTo>
                    <a:pt x="2850755" y="433512"/>
                    <a:pt x="2830518" y="441894"/>
                    <a:pt x="2809417" y="441894"/>
                  </a:cubicBezTo>
                  <a:lnTo>
                    <a:pt x="79561" y="441894"/>
                  </a:lnTo>
                  <a:cubicBezTo>
                    <a:pt x="58460" y="441894"/>
                    <a:pt x="38224" y="433512"/>
                    <a:pt x="23303" y="418591"/>
                  </a:cubicBezTo>
                  <a:cubicBezTo>
                    <a:pt x="8382" y="403670"/>
                    <a:pt x="0" y="383434"/>
                    <a:pt x="0" y="362333"/>
                  </a:cubicBezTo>
                  <a:lnTo>
                    <a:pt x="0" y="79561"/>
                  </a:lnTo>
                  <a:cubicBezTo>
                    <a:pt x="0" y="58460"/>
                    <a:pt x="8382" y="38224"/>
                    <a:pt x="23303" y="23303"/>
                  </a:cubicBezTo>
                  <a:cubicBezTo>
                    <a:pt x="38224" y="8382"/>
                    <a:pt x="58460" y="0"/>
                    <a:pt x="79561" y="0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888979" cy="489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9002" y="6557048"/>
            <a:ext cx="4962682" cy="759085"/>
            <a:chOff x="0" y="0"/>
            <a:chExt cx="2888979" cy="44189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888979" cy="441894"/>
            </a:xfrm>
            <a:custGeom>
              <a:avLst/>
              <a:gdLst/>
              <a:ahLst/>
              <a:cxnLst/>
              <a:rect r="r" b="b" t="t" l="l"/>
              <a:pathLst>
                <a:path h="441894" w="2888979">
                  <a:moveTo>
                    <a:pt x="79561" y="0"/>
                  </a:moveTo>
                  <a:lnTo>
                    <a:pt x="2809417" y="0"/>
                  </a:lnTo>
                  <a:cubicBezTo>
                    <a:pt x="2830518" y="0"/>
                    <a:pt x="2850755" y="8382"/>
                    <a:pt x="2865676" y="23303"/>
                  </a:cubicBezTo>
                  <a:cubicBezTo>
                    <a:pt x="2880596" y="38224"/>
                    <a:pt x="2888979" y="58460"/>
                    <a:pt x="2888979" y="79561"/>
                  </a:cubicBezTo>
                  <a:lnTo>
                    <a:pt x="2888979" y="362333"/>
                  </a:lnTo>
                  <a:cubicBezTo>
                    <a:pt x="2888979" y="383434"/>
                    <a:pt x="2880596" y="403670"/>
                    <a:pt x="2865676" y="418591"/>
                  </a:cubicBezTo>
                  <a:cubicBezTo>
                    <a:pt x="2850755" y="433512"/>
                    <a:pt x="2830518" y="441894"/>
                    <a:pt x="2809417" y="441894"/>
                  </a:cubicBezTo>
                  <a:lnTo>
                    <a:pt x="79561" y="441894"/>
                  </a:lnTo>
                  <a:cubicBezTo>
                    <a:pt x="58460" y="441894"/>
                    <a:pt x="38224" y="433512"/>
                    <a:pt x="23303" y="418591"/>
                  </a:cubicBezTo>
                  <a:cubicBezTo>
                    <a:pt x="8382" y="403670"/>
                    <a:pt x="0" y="383434"/>
                    <a:pt x="0" y="362333"/>
                  </a:cubicBezTo>
                  <a:lnTo>
                    <a:pt x="0" y="79561"/>
                  </a:lnTo>
                  <a:cubicBezTo>
                    <a:pt x="0" y="58460"/>
                    <a:pt x="8382" y="38224"/>
                    <a:pt x="23303" y="23303"/>
                  </a:cubicBezTo>
                  <a:cubicBezTo>
                    <a:pt x="38224" y="8382"/>
                    <a:pt x="58460" y="0"/>
                    <a:pt x="79561" y="0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888979" cy="489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662659" y="3770154"/>
            <a:ext cx="4962682" cy="759085"/>
            <a:chOff x="0" y="0"/>
            <a:chExt cx="2888979" cy="44189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88979" cy="441894"/>
            </a:xfrm>
            <a:custGeom>
              <a:avLst/>
              <a:gdLst/>
              <a:ahLst/>
              <a:cxnLst/>
              <a:rect r="r" b="b" t="t" l="l"/>
              <a:pathLst>
                <a:path h="441894" w="2888979">
                  <a:moveTo>
                    <a:pt x="79561" y="0"/>
                  </a:moveTo>
                  <a:lnTo>
                    <a:pt x="2809417" y="0"/>
                  </a:lnTo>
                  <a:cubicBezTo>
                    <a:pt x="2830518" y="0"/>
                    <a:pt x="2850755" y="8382"/>
                    <a:pt x="2865676" y="23303"/>
                  </a:cubicBezTo>
                  <a:cubicBezTo>
                    <a:pt x="2880596" y="38224"/>
                    <a:pt x="2888979" y="58460"/>
                    <a:pt x="2888979" y="79561"/>
                  </a:cubicBezTo>
                  <a:lnTo>
                    <a:pt x="2888979" y="362333"/>
                  </a:lnTo>
                  <a:cubicBezTo>
                    <a:pt x="2888979" y="383434"/>
                    <a:pt x="2880596" y="403670"/>
                    <a:pt x="2865676" y="418591"/>
                  </a:cubicBezTo>
                  <a:cubicBezTo>
                    <a:pt x="2850755" y="433512"/>
                    <a:pt x="2830518" y="441894"/>
                    <a:pt x="2809417" y="441894"/>
                  </a:cubicBezTo>
                  <a:lnTo>
                    <a:pt x="79561" y="441894"/>
                  </a:lnTo>
                  <a:cubicBezTo>
                    <a:pt x="58460" y="441894"/>
                    <a:pt x="38224" y="433512"/>
                    <a:pt x="23303" y="418591"/>
                  </a:cubicBezTo>
                  <a:cubicBezTo>
                    <a:pt x="8382" y="403670"/>
                    <a:pt x="0" y="383434"/>
                    <a:pt x="0" y="362333"/>
                  </a:cubicBezTo>
                  <a:lnTo>
                    <a:pt x="0" y="79561"/>
                  </a:lnTo>
                  <a:cubicBezTo>
                    <a:pt x="0" y="58460"/>
                    <a:pt x="8382" y="38224"/>
                    <a:pt x="23303" y="23303"/>
                  </a:cubicBezTo>
                  <a:cubicBezTo>
                    <a:pt x="38224" y="8382"/>
                    <a:pt x="58460" y="0"/>
                    <a:pt x="79561" y="0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888979" cy="489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662659" y="6557048"/>
            <a:ext cx="4962682" cy="759085"/>
            <a:chOff x="0" y="0"/>
            <a:chExt cx="2888979" cy="44189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888979" cy="441894"/>
            </a:xfrm>
            <a:custGeom>
              <a:avLst/>
              <a:gdLst/>
              <a:ahLst/>
              <a:cxnLst/>
              <a:rect r="r" b="b" t="t" l="l"/>
              <a:pathLst>
                <a:path h="441894" w="2888979">
                  <a:moveTo>
                    <a:pt x="79561" y="0"/>
                  </a:moveTo>
                  <a:lnTo>
                    <a:pt x="2809417" y="0"/>
                  </a:lnTo>
                  <a:cubicBezTo>
                    <a:pt x="2830518" y="0"/>
                    <a:pt x="2850755" y="8382"/>
                    <a:pt x="2865676" y="23303"/>
                  </a:cubicBezTo>
                  <a:cubicBezTo>
                    <a:pt x="2880596" y="38224"/>
                    <a:pt x="2888979" y="58460"/>
                    <a:pt x="2888979" y="79561"/>
                  </a:cubicBezTo>
                  <a:lnTo>
                    <a:pt x="2888979" y="362333"/>
                  </a:lnTo>
                  <a:cubicBezTo>
                    <a:pt x="2888979" y="383434"/>
                    <a:pt x="2880596" y="403670"/>
                    <a:pt x="2865676" y="418591"/>
                  </a:cubicBezTo>
                  <a:cubicBezTo>
                    <a:pt x="2850755" y="433512"/>
                    <a:pt x="2830518" y="441894"/>
                    <a:pt x="2809417" y="441894"/>
                  </a:cubicBezTo>
                  <a:lnTo>
                    <a:pt x="79561" y="441894"/>
                  </a:lnTo>
                  <a:cubicBezTo>
                    <a:pt x="58460" y="441894"/>
                    <a:pt x="38224" y="433512"/>
                    <a:pt x="23303" y="418591"/>
                  </a:cubicBezTo>
                  <a:cubicBezTo>
                    <a:pt x="8382" y="403670"/>
                    <a:pt x="0" y="383434"/>
                    <a:pt x="0" y="362333"/>
                  </a:cubicBezTo>
                  <a:lnTo>
                    <a:pt x="0" y="79561"/>
                  </a:lnTo>
                  <a:cubicBezTo>
                    <a:pt x="0" y="58460"/>
                    <a:pt x="8382" y="38224"/>
                    <a:pt x="23303" y="23303"/>
                  </a:cubicBezTo>
                  <a:cubicBezTo>
                    <a:pt x="38224" y="8382"/>
                    <a:pt x="58460" y="0"/>
                    <a:pt x="79561" y="0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888979" cy="489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06169" y="3959165"/>
            <a:ext cx="707833" cy="381063"/>
            <a:chOff x="0" y="0"/>
            <a:chExt cx="412059" cy="22183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2059" cy="221832"/>
            </a:xfrm>
            <a:custGeom>
              <a:avLst/>
              <a:gdLst/>
              <a:ahLst/>
              <a:cxnLst/>
              <a:rect r="r" b="b" t="t" l="l"/>
              <a:pathLst>
                <a:path h="221832" w="412059">
                  <a:moveTo>
                    <a:pt x="110916" y="0"/>
                  </a:moveTo>
                  <a:lnTo>
                    <a:pt x="301142" y="0"/>
                  </a:lnTo>
                  <a:cubicBezTo>
                    <a:pt x="330559" y="0"/>
                    <a:pt x="358771" y="11686"/>
                    <a:pt x="379572" y="32487"/>
                  </a:cubicBezTo>
                  <a:cubicBezTo>
                    <a:pt x="400373" y="53287"/>
                    <a:pt x="412059" y="81499"/>
                    <a:pt x="412059" y="110916"/>
                  </a:cubicBezTo>
                  <a:lnTo>
                    <a:pt x="412059" y="110916"/>
                  </a:lnTo>
                  <a:cubicBezTo>
                    <a:pt x="412059" y="172173"/>
                    <a:pt x="362400" y="221832"/>
                    <a:pt x="301142" y="221832"/>
                  </a:cubicBezTo>
                  <a:lnTo>
                    <a:pt x="110916" y="221832"/>
                  </a:lnTo>
                  <a:cubicBezTo>
                    <a:pt x="81499" y="221832"/>
                    <a:pt x="53287" y="210147"/>
                    <a:pt x="32487" y="189346"/>
                  </a:cubicBezTo>
                  <a:cubicBezTo>
                    <a:pt x="11686" y="168545"/>
                    <a:pt x="0" y="140333"/>
                    <a:pt x="0" y="110916"/>
                  </a:cubicBezTo>
                  <a:lnTo>
                    <a:pt x="0" y="110916"/>
                  </a:lnTo>
                  <a:cubicBezTo>
                    <a:pt x="0" y="81499"/>
                    <a:pt x="11686" y="53287"/>
                    <a:pt x="32487" y="32487"/>
                  </a:cubicBezTo>
                  <a:cubicBezTo>
                    <a:pt x="53287" y="11686"/>
                    <a:pt x="81499" y="0"/>
                    <a:pt x="110916" y="0"/>
                  </a:cubicBezTo>
                  <a:close/>
                </a:path>
              </a:pathLst>
            </a:custGeom>
            <a:solidFill>
              <a:srgbClr val="6AD57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412059" cy="269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06169" y="6746059"/>
            <a:ext cx="707833" cy="381063"/>
            <a:chOff x="0" y="0"/>
            <a:chExt cx="412059" cy="22183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12059" cy="221832"/>
            </a:xfrm>
            <a:custGeom>
              <a:avLst/>
              <a:gdLst/>
              <a:ahLst/>
              <a:cxnLst/>
              <a:rect r="r" b="b" t="t" l="l"/>
              <a:pathLst>
                <a:path h="221832" w="412059">
                  <a:moveTo>
                    <a:pt x="110916" y="0"/>
                  </a:moveTo>
                  <a:lnTo>
                    <a:pt x="301142" y="0"/>
                  </a:lnTo>
                  <a:cubicBezTo>
                    <a:pt x="330559" y="0"/>
                    <a:pt x="358771" y="11686"/>
                    <a:pt x="379572" y="32487"/>
                  </a:cubicBezTo>
                  <a:cubicBezTo>
                    <a:pt x="400373" y="53287"/>
                    <a:pt x="412059" y="81499"/>
                    <a:pt x="412059" y="110916"/>
                  </a:cubicBezTo>
                  <a:lnTo>
                    <a:pt x="412059" y="110916"/>
                  </a:lnTo>
                  <a:cubicBezTo>
                    <a:pt x="412059" y="172173"/>
                    <a:pt x="362400" y="221832"/>
                    <a:pt x="301142" y="221832"/>
                  </a:cubicBezTo>
                  <a:lnTo>
                    <a:pt x="110916" y="221832"/>
                  </a:lnTo>
                  <a:cubicBezTo>
                    <a:pt x="81499" y="221832"/>
                    <a:pt x="53287" y="210147"/>
                    <a:pt x="32487" y="189346"/>
                  </a:cubicBezTo>
                  <a:cubicBezTo>
                    <a:pt x="11686" y="168545"/>
                    <a:pt x="0" y="140333"/>
                    <a:pt x="0" y="110916"/>
                  </a:cubicBezTo>
                  <a:lnTo>
                    <a:pt x="0" y="110916"/>
                  </a:lnTo>
                  <a:cubicBezTo>
                    <a:pt x="0" y="81499"/>
                    <a:pt x="11686" y="53287"/>
                    <a:pt x="32487" y="32487"/>
                  </a:cubicBezTo>
                  <a:cubicBezTo>
                    <a:pt x="53287" y="11686"/>
                    <a:pt x="81499" y="0"/>
                    <a:pt x="110916" y="0"/>
                  </a:cubicBezTo>
                  <a:close/>
                </a:path>
              </a:pathLst>
            </a:custGeom>
            <a:solidFill>
              <a:srgbClr val="6AD57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412059" cy="269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899826" y="3959165"/>
            <a:ext cx="707833" cy="381063"/>
            <a:chOff x="0" y="0"/>
            <a:chExt cx="412059" cy="22183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12059" cy="221832"/>
            </a:xfrm>
            <a:custGeom>
              <a:avLst/>
              <a:gdLst/>
              <a:ahLst/>
              <a:cxnLst/>
              <a:rect r="r" b="b" t="t" l="l"/>
              <a:pathLst>
                <a:path h="221832" w="412059">
                  <a:moveTo>
                    <a:pt x="110916" y="0"/>
                  </a:moveTo>
                  <a:lnTo>
                    <a:pt x="301142" y="0"/>
                  </a:lnTo>
                  <a:cubicBezTo>
                    <a:pt x="330559" y="0"/>
                    <a:pt x="358771" y="11686"/>
                    <a:pt x="379572" y="32487"/>
                  </a:cubicBezTo>
                  <a:cubicBezTo>
                    <a:pt x="400373" y="53287"/>
                    <a:pt x="412059" y="81499"/>
                    <a:pt x="412059" y="110916"/>
                  </a:cubicBezTo>
                  <a:lnTo>
                    <a:pt x="412059" y="110916"/>
                  </a:lnTo>
                  <a:cubicBezTo>
                    <a:pt x="412059" y="172173"/>
                    <a:pt x="362400" y="221832"/>
                    <a:pt x="301142" y="221832"/>
                  </a:cubicBezTo>
                  <a:lnTo>
                    <a:pt x="110916" y="221832"/>
                  </a:lnTo>
                  <a:cubicBezTo>
                    <a:pt x="81499" y="221832"/>
                    <a:pt x="53287" y="210147"/>
                    <a:pt x="32487" y="189346"/>
                  </a:cubicBezTo>
                  <a:cubicBezTo>
                    <a:pt x="11686" y="168545"/>
                    <a:pt x="0" y="140333"/>
                    <a:pt x="0" y="110916"/>
                  </a:cubicBezTo>
                  <a:lnTo>
                    <a:pt x="0" y="110916"/>
                  </a:lnTo>
                  <a:cubicBezTo>
                    <a:pt x="0" y="81499"/>
                    <a:pt x="11686" y="53287"/>
                    <a:pt x="32487" y="32487"/>
                  </a:cubicBezTo>
                  <a:cubicBezTo>
                    <a:pt x="53287" y="11686"/>
                    <a:pt x="81499" y="0"/>
                    <a:pt x="110916" y="0"/>
                  </a:cubicBezTo>
                  <a:close/>
                </a:path>
              </a:pathLst>
            </a:custGeom>
            <a:solidFill>
              <a:srgbClr val="6AD572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412059" cy="269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899826" y="6746059"/>
            <a:ext cx="707833" cy="381063"/>
            <a:chOff x="0" y="0"/>
            <a:chExt cx="412059" cy="22183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12059" cy="221832"/>
            </a:xfrm>
            <a:custGeom>
              <a:avLst/>
              <a:gdLst/>
              <a:ahLst/>
              <a:cxnLst/>
              <a:rect r="r" b="b" t="t" l="l"/>
              <a:pathLst>
                <a:path h="221832" w="412059">
                  <a:moveTo>
                    <a:pt x="110916" y="0"/>
                  </a:moveTo>
                  <a:lnTo>
                    <a:pt x="301142" y="0"/>
                  </a:lnTo>
                  <a:cubicBezTo>
                    <a:pt x="330559" y="0"/>
                    <a:pt x="358771" y="11686"/>
                    <a:pt x="379572" y="32487"/>
                  </a:cubicBezTo>
                  <a:cubicBezTo>
                    <a:pt x="400373" y="53287"/>
                    <a:pt x="412059" y="81499"/>
                    <a:pt x="412059" y="110916"/>
                  </a:cubicBezTo>
                  <a:lnTo>
                    <a:pt x="412059" y="110916"/>
                  </a:lnTo>
                  <a:cubicBezTo>
                    <a:pt x="412059" y="172173"/>
                    <a:pt x="362400" y="221832"/>
                    <a:pt x="301142" y="221832"/>
                  </a:cubicBezTo>
                  <a:lnTo>
                    <a:pt x="110916" y="221832"/>
                  </a:lnTo>
                  <a:cubicBezTo>
                    <a:pt x="81499" y="221832"/>
                    <a:pt x="53287" y="210147"/>
                    <a:pt x="32487" y="189346"/>
                  </a:cubicBezTo>
                  <a:cubicBezTo>
                    <a:pt x="11686" y="168545"/>
                    <a:pt x="0" y="140333"/>
                    <a:pt x="0" y="110916"/>
                  </a:cubicBezTo>
                  <a:lnTo>
                    <a:pt x="0" y="110916"/>
                  </a:lnTo>
                  <a:cubicBezTo>
                    <a:pt x="0" y="81499"/>
                    <a:pt x="11686" y="53287"/>
                    <a:pt x="32487" y="32487"/>
                  </a:cubicBezTo>
                  <a:cubicBezTo>
                    <a:pt x="53287" y="11686"/>
                    <a:pt x="81499" y="0"/>
                    <a:pt x="110916" y="0"/>
                  </a:cubicBezTo>
                  <a:close/>
                </a:path>
              </a:pathLst>
            </a:custGeom>
            <a:solidFill>
              <a:srgbClr val="E9EBF4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412059" cy="269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577269" y="3999123"/>
            <a:ext cx="292046" cy="292046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77269" y="6786017"/>
            <a:ext cx="292046" cy="292046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270926" y="3999123"/>
            <a:ext cx="292046" cy="292046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947863" y="6786017"/>
            <a:ext cx="292046" cy="292046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206169" y="4951710"/>
            <a:ext cx="4316327" cy="60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8"/>
              </a:lnSpc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</a:t>
            </a: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ocus on high impact initiatives that align with strategic objectives.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06169" y="7738604"/>
            <a:ext cx="4316327" cy="60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8"/>
              </a:lnSpc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efine specific metrics that track progress toward desired outcomes.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899826" y="4951710"/>
            <a:ext cx="4316327" cy="60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8"/>
              </a:lnSpc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</a:t>
            </a: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are updates with stakeholders to maintain alignment and transparency.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899826" y="7738604"/>
            <a:ext cx="4316327" cy="60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8"/>
              </a:lnSpc>
            </a:pPr>
            <a:r>
              <a:rPr lang="en-US" sz="1600">
                <a:solidFill>
                  <a:srgbClr val="000000">
                    <a:alpha val="40000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Avoid comp</a:t>
            </a:r>
            <a:r>
              <a:rPr lang="en-US" sz="1600">
                <a:solidFill>
                  <a:srgbClr val="000000">
                    <a:alpha val="40000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lex frameworks that confuse teams and slow down progress.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098341" y="3997826"/>
            <a:ext cx="2854659" cy="30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3"/>
              </a:lnSpc>
            </a:pPr>
            <a:r>
              <a:rPr lang="en-US" sz="20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Prioritize Ruthlessly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098341" y="6784720"/>
            <a:ext cx="2854659" cy="30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3"/>
              </a:lnSpc>
            </a:pPr>
            <a:r>
              <a:rPr lang="en-US" sz="20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Set Measurable Goals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791998" y="3997826"/>
            <a:ext cx="2952202" cy="30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3"/>
              </a:lnSpc>
            </a:pPr>
            <a:r>
              <a:rPr lang="en-US" sz="20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Regular Communicate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791998" y="6784720"/>
            <a:ext cx="2963233" cy="30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3"/>
              </a:lnSpc>
            </a:pPr>
            <a:r>
              <a:rPr lang="en-US" sz="2000" b="true">
                <a:solidFill>
                  <a:srgbClr val="041F60">
                    <a:alpha val="40000"/>
                  </a:srgbClr>
                </a:solidFill>
                <a:latin typeface="Gotham Bold"/>
                <a:ea typeface="Gotham Bold"/>
                <a:cs typeface="Gotham Bold"/>
                <a:sym typeface="Gotham Bold"/>
              </a:rPr>
              <a:t>Overcomplicate</a:t>
            </a:r>
          </a:p>
        </p:txBody>
      </p:sp>
      <p:sp>
        <p:nvSpPr>
          <p:cNvPr name="Freeform 61" id="61"/>
          <p:cNvSpPr/>
          <p:nvPr/>
        </p:nvSpPr>
        <p:spPr>
          <a:xfrm flipH="false" flipV="false" rot="0">
            <a:off x="11996914" y="3697854"/>
            <a:ext cx="5681486" cy="1487516"/>
          </a:xfrm>
          <a:custGeom>
            <a:avLst/>
            <a:gdLst/>
            <a:ahLst/>
            <a:cxnLst/>
            <a:rect r="r" b="b" t="t" l="l"/>
            <a:pathLst>
              <a:path h="1487516" w="5681486">
                <a:moveTo>
                  <a:pt x="0" y="0"/>
                </a:moveTo>
                <a:lnTo>
                  <a:pt x="5681486" y="0"/>
                </a:lnTo>
                <a:lnTo>
                  <a:pt x="5681486" y="1487516"/>
                </a:lnTo>
                <a:lnTo>
                  <a:pt x="0" y="1487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11996914" y="6484748"/>
            <a:ext cx="5681486" cy="1487516"/>
          </a:xfrm>
          <a:custGeom>
            <a:avLst/>
            <a:gdLst/>
            <a:ahLst/>
            <a:cxnLst/>
            <a:rect r="r" b="b" t="t" l="l"/>
            <a:pathLst>
              <a:path h="1487516" w="5681486">
                <a:moveTo>
                  <a:pt x="0" y="0"/>
                </a:moveTo>
                <a:lnTo>
                  <a:pt x="5681486" y="0"/>
                </a:lnTo>
                <a:lnTo>
                  <a:pt x="5681486" y="1487516"/>
                </a:lnTo>
                <a:lnTo>
                  <a:pt x="0" y="14875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grpSp>
        <p:nvGrpSpPr>
          <p:cNvPr name="Group 63" id="63"/>
          <p:cNvGrpSpPr/>
          <p:nvPr/>
        </p:nvGrpSpPr>
        <p:grpSpPr>
          <a:xfrm rot="0">
            <a:off x="12356316" y="3851836"/>
            <a:ext cx="4962682" cy="759085"/>
            <a:chOff x="0" y="0"/>
            <a:chExt cx="2888979" cy="44189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888979" cy="441894"/>
            </a:xfrm>
            <a:custGeom>
              <a:avLst/>
              <a:gdLst/>
              <a:ahLst/>
              <a:cxnLst/>
              <a:rect r="r" b="b" t="t" l="l"/>
              <a:pathLst>
                <a:path h="441894" w="2888979">
                  <a:moveTo>
                    <a:pt x="79561" y="0"/>
                  </a:moveTo>
                  <a:lnTo>
                    <a:pt x="2809417" y="0"/>
                  </a:lnTo>
                  <a:cubicBezTo>
                    <a:pt x="2830518" y="0"/>
                    <a:pt x="2850755" y="8382"/>
                    <a:pt x="2865676" y="23303"/>
                  </a:cubicBezTo>
                  <a:cubicBezTo>
                    <a:pt x="2880596" y="38224"/>
                    <a:pt x="2888979" y="58460"/>
                    <a:pt x="2888979" y="79561"/>
                  </a:cubicBezTo>
                  <a:lnTo>
                    <a:pt x="2888979" y="362333"/>
                  </a:lnTo>
                  <a:cubicBezTo>
                    <a:pt x="2888979" y="383434"/>
                    <a:pt x="2880596" y="403670"/>
                    <a:pt x="2865676" y="418591"/>
                  </a:cubicBezTo>
                  <a:cubicBezTo>
                    <a:pt x="2850755" y="433512"/>
                    <a:pt x="2830518" y="441894"/>
                    <a:pt x="2809417" y="441894"/>
                  </a:cubicBezTo>
                  <a:lnTo>
                    <a:pt x="79561" y="441894"/>
                  </a:lnTo>
                  <a:cubicBezTo>
                    <a:pt x="58460" y="441894"/>
                    <a:pt x="38224" y="433512"/>
                    <a:pt x="23303" y="418591"/>
                  </a:cubicBezTo>
                  <a:cubicBezTo>
                    <a:pt x="8382" y="403670"/>
                    <a:pt x="0" y="383434"/>
                    <a:pt x="0" y="362333"/>
                  </a:cubicBezTo>
                  <a:lnTo>
                    <a:pt x="0" y="79561"/>
                  </a:lnTo>
                  <a:cubicBezTo>
                    <a:pt x="0" y="58460"/>
                    <a:pt x="8382" y="38224"/>
                    <a:pt x="23303" y="23303"/>
                  </a:cubicBezTo>
                  <a:cubicBezTo>
                    <a:pt x="38224" y="8382"/>
                    <a:pt x="58460" y="0"/>
                    <a:pt x="79561" y="0"/>
                  </a:cubicBezTo>
                  <a:close/>
                </a:path>
              </a:pathLst>
            </a:custGeom>
            <a:solidFill>
              <a:srgbClr val="E9EBF4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2888979" cy="489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356316" y="6638730"/>
            <a:ext cx="4962682" cy="759085"/>
            <a:chOff x="0" y="0"/>
            <a:chExt cx="2888979" cy="44189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888979" cy="441894"/>
            </a:xfrm>
            <a:custGeom>
              <a:avLst/>
              <a:gdLst/>
              <a:ahLst/>
              <a:cxnLst/>
              <a:rect r="r" b="b" t="t" l="l"/>
              <a:pathLst>
                <a:path h="441894" w="2888979">
                  <a:moveTo>
                    <a:pt x="79561" y="0"/>
                  </a:moveTo>
                  <a:lnTo>
                    <a:pt x="2809417" y="0"/>
                  </a:lnTo>
                  <a:cubicBezTo>
                    <a:pt x="2830518" y="0"/>
                    <a:pt x="2850755" y="8382"/>
                    <a:pt x="2865676" y="23303"/>
                  </a:cubicBezTo>
                  <a:cubicBezTo>
                    <a:pt x="2880596" y="38224"/>
                    <a:pt x="2888979" y="58460"/>
                    <a:pt x="2888979" y="79561"/>
                  </a:cubicBezTo>
                  <a:lnTo>
                    <a:pt x="2888979" y="362333"/>
                  </a:lnTo>
                  <a:cubicBezTo>
                    <a:pt x="2888979" y="383434"/>
                    <a:pt x="2880596" y="403670"/>
                    <a:pt x="2865676" y="418591"/>
                  </a:cubicBezTo>
                  <a:cubicBezTo>
                    <a:pt x="2850755" y="433512"/>
                    <a:pt x="2830518" y="441894"/>
                    <a:pt x="2809417" y="441894"/>
                  </a:cubicBezTo>
                  <a:lnTo>
                    <a:pt x="79561" y="441894"/>
                  </a:lnTo>
                  <a:cubicBezTo>
                    <a:pt x="58460" y="441894"/>
                    <a:pt x="38224" y="433512"/>
                    <a:pt x="23303" y="418591"/>
                  </a:cubicBezTo>
                  <a:cubicBezTo>
                    <a:pt x="8382" y="403670"/>
                    <a:pt x="0" y="383434"/>
                    <a:pt x="0" y="362333"/>
                  </a:cubicBezTo>
                  <a:lnTo>
                    <a:pt x="0" y="79561"/>
                  </a:lnTo>
                  <a:cubicBezTo>
                    <a:pt x="0" y="58460"/>
                    <a:pt x="8382" y="38224"/>
                    <a:pt x="23303" y="23303"/>
                  </a:cubicBezTo>
                  <a:cubicBezTo>
                    <a:pt x="38224" y="8382"/>
                    <a:pt x="58460" y="0"/>
                    <a:pt x="79561" y="0"/>
                  </a:cubicBezTo>
                  <a:close/>
                </a:path>
              </a:pathLst>
            </a:custGeom>
            <a:solidFill>
              <a:srgbClr val="E9EBF4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2888979" cy="489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356316" y="3770154"/>
            <a:ext cx="4962682" cy="759085"/>
            <a:chOff x="0" y="0"/>
            <a:chExt cx="2888979" cy="44189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888979" cy="441894"/>
            </a:xfrm>
            <a:custGeom>
              <a:avLst/>
              <a:gdLst/>
              <a:ahLst/>
              <a:cxnLst/>
              <a:rect r="r" b="b" t="t" l="l"/>
              <a:pathLst>
                <a:path h="441894" w="2888979">
                  <a:moveTo>
                    <a:pt x="79561" y="0"/>
                  </a:moveTo>
                  <a:lnTo>
                    <a:pt x="2809417" y="0"/>
                  </a:lnTo>
                  <a:cubicBezTo>
                    <a:pt x="2830518" y="0"/>
                    <a:pt x="2850755" y="8382"/>
                    <a:pt x="2865676" y="23303"/>
                  </a:cubicBezTo>
                  <a:cubicBezTo>
                    <a:pt x="2880596" y="38224"/>
                    <a:pt x="2888979" y="58460"/>
                    <a:pt x="2888979" y="79561"/>
                  </a:cubicBezTo>
                  <a:lnTo>
                    <a:pt x="2888979" y="362333"/>
                  </a:lnTo>
                  <a:cubicBezTo>
                    <a:pt x="2888979" y="383434"/>
                    <a:pt x="2880596" y="403670"/>
                    <a:pt x="2865676" y="418591"/>
                  </a:cubicBezTo>
                  <a:cubicBezTo>
                    <a:pt x="2850755" y="433512"/>
                    <a:pt x="2830518" y="441894"/>
                    <a:pt x="2809417" y="441894"/>
                  </a:cubicBezTo>
                  <a:lnTo>
                    <a:pt x="79561" y="441894"/>
                  </a:lnTo>
                  <a:cubicBezTo>
                    <a:pt x="58460" y="441894"/>
                    <a:pt x="38224" y="433512"/>
                    <a:pt x="23303" y="418591"/>
                  </a:cubicBezTo>
                  <a:cubicBezTo>
                    <a:pt x="8382" y="403670"/>
                    <a:pt x="0" y="383434"/>
                    <a:pt x="0" y="362333"/>
                  </a:cubicBezTo>
                  <a:lnTo>
                    <a:pt x="0" y="79561"/>
                  </a:lnTo>
                  <a:cubicBezTo>
                    <a:pt x="0" y="58460"/>
                    <a:pt x="8382" y="38224"/>
                    <a:pt x="23303" y="23303"/>
                  </a:cubicBezTo>
                  <a:cubicBezTo>
                    <a:pt x="38224" y="8382"/>
                    <a:pt x="58460" y="0"/>
                    <a:pt x="79561" y="0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2888979" cy="489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356316" y="6557048"/>
            <a:ext cx="4962682" cy="759085"/>
            <a:chOff x="0" y="0"/>
            <a:chExt cx="2888979" cy="44189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888979" cy="441894"/>
            </a:xfrm>
            <a:custGeom>
              <a:avLst/>
              <a:gdLst/>
              <a:ahLst/>
              <a:cxnLst/>
              <a:rect r="r" b="b" t="t" l="l"/>
              <a:pathLst>
                <a:path h="441894" w="2888979">
                  <a:moveTo>
                    <a:pt x="79561" y="0"/>
                  </a:moveTo>
                  <a:lnTo>
                    <a:pt x="2809417" y="0"/>
                  </a:lnTo>
                  <a:cubicBezTo>
                    <a:pt x="2830518" y="0"/>
                    <a:pt x="2850755" y="8382"/>
                    <a:pt x="2865676" y="23303"/>
                  </a:cubicBezTo>
                  <a:cubicBezTo>
                    <a:pt x="2880596" y="38224"/>
                    <a:pt x="2888979" y="58460"/>
                    <a:pt x="2888979" y="79561"/>
                  </a:cubicBezTo>
                  <a:lnTo>
                    <a:pt x="2888979" y="362333"/>
                  </a:lnTo>
                  <a:cubicBezTo>
                    <a:pt x="2888979" y="383434"/>
                    <a:pt x="2880596" y="403670"/>
                    <a:pt x="2865676" y="418591"/>
                  </a:cubicBezTo>
                  <a:cubicBezTo>
                    <a:pt x="2850755" y="433512"/>
                    <a:pt x="2830518" y="441894"/>
                    <a:pt x="2809417" y="441894"/>
                  </a:cubicBezTo>
                  <a:lnTo>
                    <a:pt x="79561" y="441894"/>
                  </a:lnTo>
                  <a:cubicBezTo>
                    <a:pt x="58460" y="441894"/>
                    <a:pt x="38224" y="433512"/>
                    <a:pt x="23303" y="418591"/>
                  </a:cubicBezTo>
                  <a:cubicBezTo>
                    <a:pt x="8382" y="403670"/>
                    <a:pt x="0" y="383434"/>
                    <a:pt x="0" y="362333"/>
                  </a:cubicBezTo>
                  <a:lnTo>
                    <a:pt x="0" y="79561"/>
                  </a:lnTo>
                  <a:cubicBezTo>
                    <a:pt x="0" y="58460"/>
                    <a:pt x="8382" y="38224"/>
                    <a:pt x="23303" y="23303"/>
                  </a:cubicBezTo>
                  <a:cubicBezTo>
                    <a:pt x="38224" y="8382"/>
                    <a:pt x="58460" y="0"/>
                    <a:pt x="79561" y="0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2888979" cy="489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593483" y="3959165"/>
            <a:ext cx="707833" cy="381063"/>
            <a:chOff x="0" y="0"/>
            <a:chExt cx="412059" cy="22183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12059" cy="221832"/>
            </a:xfrm>
            <a:custGeom>
              <a:avLst/>
              <a:gdLst/>
              <a:ahLst/>
              <a:cxnLst/>
              <a:rect r="r" b="b" t="t" l="l"/>
              <a:pathLst>
                <a:path h="221832" w="412059">
                  <a:moveTo>
                    <a:pt x="110916" y="0"/>
                  </a:moveTo>
                  <a:lnTo>
                    <a:pt x="301142" y="0"/>
                  </a:lnTo>
                  <a:cubicBezTo>
                    <a:pt x="330559" y="0"/>
                    <a:pt x="358771" y="11686"/>
                    <a:pt x="379572" y="32487"/>
                  </a:cubicBezTo>
                  <a:cubicBezTo>
                    <a:pt x="400373" y="53287"/>
                    <a:pt x="412059" y="81499"/>
                    <a:pt x="412059" y="110916"/>
                  </a:cubicBezTo>
                  <a:lnTo>
                    <a:pt x="412059" y="110916"/>
                  </a:lnTo>
                  <a:cubicBezTo>
                    <a:pt x="412059" y="172173"/>
                    <a:pt x="362400" y="221832"/>
                    <a:pt x="301142" y="221832"/>
                  </a:cubicBezTo>
                  <a:lnTo>
                    <a:pt x="110916" y="221832"/>
                  </a:lnTo>
                  <a:cubicBezTo>
                    <a:pt x="81499" y="221832"/>
                    <a:pt x="53287" y="210147"/>
                    <a:pt x="32487" y="189346"/>
                  </a:cubicBezTo>
                  <a:cubicBezTo>
                    <a:pt x="11686" y="168545"/>
                    <a:pt x="0" y="140333"/>
                    <a:pt x="0" y="110916"/>
                  </a:cubicBezTo>
                  <a:lnTo>
                    <a:pt x="0" y="110916"/>
                  </a:lnTo>
                  <a:cubicBezTo>
                    <a:pt x="0" y="81499"/>
                    <a:pt x="11686" y="53287"/>
                    <a:pt x="32487" y="32487"/>
                  </a:cubicBezTo>
                  <a:cubicBezTo>
                    <a:pt x="53287" y="11686"/>
                    <a:pt x="81499" y="0"/>
                    <a:pt x="110916" y="0"/>
                  </a:cubicBezTo>
                  <a:close/>
                </a:path>
              </a:pathLst>
            </a:custGeom>
            <a:solidFill>
              <a:srgbClr val="6AD572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412059" cy="269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593483" y="6746059"/>
            <a:ext cx="707833" cy="381063"/>
            <a:chOff x="0" y="0"/>
            <a:chExt cx="412059" cy="22183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12059" cy="221832"/>
            </a:xfrm>
            <a:custGeom>
              <a:avLst/>
              <a:gdLst/>
              <a:ahLst/>
              <a:cxnLst/>
              <a:rect r="r" b="b" t="t" l="l"/>
              <a:pathLst>
                <a:path h="221832" w="412059">
                  <a:moveTo>
                    <a:pt x="110916" y="0"/>
                  </a:moveTo>
                  <a:lnTo>
                    <a:pt x="301142" y="0"/>
                  </a:lnTo>
                  <a:cubicBezTo>
                    <a:pt x="330559" y="0"/>
                    <a:pt x="358771" y="11686"/>
                    <a:pt x="379572" y="32487"/>
                  </a:cubicBezTo>
                  <a:cubicBezTo>
                    <a:pt x="400373" y="53287"/>
                    <a:pt x="412059" y="81499"/>
                    <a:pt x="412059" y="110916"/>
                  </a:cubicBezTo>
                  <a:lnTo>
                    <a:pt x="412059" y="110916"/>
                  </a:lnTo>
                  <a:cubicBezTo>
                    <a:pt x="412059" y="172173"/>
                    <a:pt x="362400" y="221832"/>
                    <a:pt x="301142" y="221832"/>
                  </a:cubicBezTo>
                  <a:lnTo>
                    <a:pt x="110916" y="221832"/>
                  </a:lnTo>
                  <a:cubicBezTo>
                    <a:pt x="81499" y="221832"/>
                    <a:pt x="53287" y="210147"/>
                    <a:pt x="32487" y="189346"/>
                  </a:cubicBezTo>
                  <a:cubicBezTo>
                    <a:pt x="11686" y="168545"/>
                    <a:pt x="0" y="140333"/>
                    <a:pt x="0" y="110916"/>
                  </a:cubicBezTo>
                  <a:lnTo>
                    <a:pt x="0" y="110916"/>
                  </a:lnTo>
                  <a:cubicBezTo>
                    <a:pt x="0" y="81499"/>
                    <a:pt x="11686" y="53287"/>
                    <a:pt x="32487" y="32487"/>
                  </a:cubicBezTo>
                  <a:cubicBezTo>
                    <a:pt x="53287" y="11686"/>
                    <a:pt x="81499" y="0"/>
                    <a:pt x="110916" y="0"/>
                  </a:cubicBezTo>
                  <a:close/>
                </a:path>
              </a:pathLst>
            </a:custGeom>
            <a:solidFill>
              <a:srgbClr val="6AD572"/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412059" cy="269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2964583" y="3999123"/>
            <a:ext cx="292046" cy="292046"/>
            <a:chOff x="0" y="0"/>
            <a:chExt cx="812800" cy="8128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2964583" y="6786017"/>
            <a:ext cx="292046" cy="292046"/>
            <a:chOff x="0" y="0"/>
            <a:chExt cx="812800" cy="8128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86" id="8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12593483" y="4951710"/>
            <a:ext cx="4316327" cy="60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8"/>
              </a:lnSpc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</a:t>
            </a: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low room for adjustments when market conditions or priorities change.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2593483" y="7738604"/>
            <a:ext cx="4316327" cy="60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8"/>
              </a:lnSpc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Schedu</a:t>
            </a: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 regular assessments to evaluate performance and make improvements.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3485655" y="3997826"/>
            <a:ext cx="3049745" cy="30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3"/>
              </a:lnSpc>
            </a:pPr>
            <a:r>
              <a:rPr lang="en-US" sz="20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Build Flexibility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3485655" y="6784720"/>
            <a:ext cx="3049745" cy="30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3"/>
              </a:lnSpc>
            </a:pPr>
            <a:r>
              <a:rPr lang="en-US" sz="20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Review Frequently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4076700" y="2019440"/>
            <a:ext cx="101346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667198"/>
                </a:solidFill>
                <a:latin typeface="Canva Sans"/>
                <a:ea typeface="Canva Sans"/>
                <a:cs typeface="Canva Sans"/>
                <a:sym typeface="Canva Sans"/>
              </a:rPr>
              <a:t>Essential guidelines to maximize effectiveness and</a:t>
            </a:r>
            <a:r>
              <a:rPr lang="en-US" sz="1800">
                <a:solidFill>
                  <a:srgbClr val="667198"/>
                </a:solidFill>
                <a:latin typeface="Canva Sans"/>
                <a:ea typeface="Canva Sans"/>
                <a:cs typeface="Canva Sans"/>
                <a:sym typeface="Canva Sans"/>
              </a:rPr>
              <a:t> avoid common roadmap pitfalls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2449970" y="1180170"/>
            <a:ext cx="1338805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Roadmap Best Practices Do and Don’t</a:t>
            </a:r>
          </a:p>
        </p:txBody>
      </p:sp>
      <p:sp>
        <p:nvSpPr>
          <p:cNvPr name="Freeform 93" id="93"/>
          <p:cNvSpPr/>
          <p:nvPr/>
        </p:nvSpPr>
        <p:spPr>
          <a:xfrm flipH="false" flipV="false" rot="0">
            <a:off x="10903883" y="6757111"/>
            <a:ext cx="370011" cy="370011"/>
          </a:xfrm>
          <a:custGeom>
            <a:avLst/>
            <a:gdLst/>
            <a:ahLst/>
            <a:cxnLst/>
            <a:rect r="r" b="b" t="t" l="l"/>
            <a:pathLst>
              <a:path h="370011" w="370011">
                <a:moveTo>
                  <a:pt x="0" y="0"/>
                </a:moveTo>
                <a:lnTo>
                  <a:pt x="370011" y="0"/>
                </a:lnTo>
                <a:lnTo>
                  <a:pt x="370011" y="370011"/>
                </a:lnTo>
                <a:lnTo>
                  <a:pt x="0" y="3700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16605406" y="3985670"/>
            <a:ext cx="370101" cy="339105"/>
          </a:xfrm>
          <a:custGeom>
            <a:avLst/>
            <a:gdLst/>
            <a:ahLst/>
            <a:cxnLst/>
            <a:rect r="r" b="b" t="t" l="l"/>
            <a:pathLst>
              <a:path h="339105" w="370101">
                <a:moveTo>
                  <a:pt x="0" y="0"/>
                </a:moveTo>
                <a:lnTo>
                  <a:pt x="370101" y="0"/>
                </a:lnTo>
                <a:lnTo>
                  <a:pt x="370101" y="339105"/>
                </a:lnTo>
                <a:lnTo>
                  <a:pt x="0" y="3391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5" id="95"/>
          <p:cNvSpPr/>
          <p:nvPr/>
        </p:nvSpPr>
        <p:spPr>
          <a:xfrm flipH="false" flipV="false" rot="0">
            <a:off x="5233585" y="6757111"/>
            <a:ext cx="339022" cy="370011"/>
          </a:xfrm>
          <a:custGeom>
            <a:avLst/>
            <a:gdLst/>
            <a:ahLst/>
            <a:cxnLst/>
            <a:rect r="r" b="b" t="t" l="l"/>
            <a:pathLst>
              <a:path h="370011" w="339022">
                <a:moveTo>
                  <a:pt x="0" y="0"/>
                </a:moveTo>
                <a:lnTo>
                  <a:pt x="339022" y="0"/>
                </a:lnTo>
                <a:lnTo>
                  <a:pt x="339022" y="370011"/>
                </a:lnTo>
                <a:lnTo>
                  <a:pt x="0" y="3700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6" id="96"/>
          <p:cNvSpPr/>
          <p:nvPr/>
        </p:nvSpPr>
        <p:spPr>
          <a:xfrm flipH="false" flipV="false" rot="0">
            <a:off x="10945911" y="3970217"/>
            <a:ext cx="385930" cy="370011"/>
          </a:xfrm>
          <a:custGeom>
            <a:avLst/>
            <a:gdLst/>
            <a:ahLst/>
            <a:cxnLst/>
            <a:rect r="r" b="b" t="t" l="l"/>
            <a:pathLst>
              <a:path h="370011" w="385930">
                <a:moveTo>
                  <a:pt x="0" y="0"/>
                </a:moveTo>
                <a:lnTo>
                  <a:pt x="385930" y="0"/>
                </a:lnTo>
                <a:lnTo>
                  <a:pt x="385930" y="370011"/>
                </a:lnTo>
                <a:lnTo>
                  <a:pt x="0" y="3700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7" id="97"/>
          <p:cNvSpPr/>
          <p:nvPr/>
        </p:nvSpPr>
        <p:spPr>
          <a:xfrm flipH="false" flipV="false" rot="0">
            <a:off x="16605169" y="6764586"/>
            <a:ext cx="370338" cy="355061"/>
          </a:xfrm>
          <a:custGeom>
            <a:avLst/>
            <a:gdLst/>
            <a:ahLst/>
            <a:cxnLst/>
            <a:rect r="r" b="b" t="t" l="l"/>
            <a:pathLst>
              <a:path h="355061" w="370338">
                <a:moveTo>
                  <a:pt x="0" y="0"/>
                </a:moveTo>
                <a:lnTo>
                  <a:pt x="370338" y="0"/>
                </a:lnTo>
                <a:lnTo>
                  <a:pt x="370338" y="355061"/>
                </a:lnTo>
                <a:lnTo>
                  <a:pt x="0" y="35506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8" id="98"/>
          <p:cNvSpPr/>
          <p:nvPr/>
        </p:nvSpPr>
        <p:spPr>
          <a:xfrm flipH="false" flipV="false" rot="0">
            <a:off x="5233585" y="3970217"/>
            <a:ext cx="336247" cy="370011"/>
          </a:xfrm>
          <a:custGeom>
            <a:avLst/>
            <a:gdLst/>
            <a:ahLst/>
            <a:cxnLst/>
            <a:rect r="r" b="b" t="t" l="l"/>
            <a:pathLst>
              <a:path h="370011" w="336247">
                <a:moveTo>
                  <a:pt x="0" y="0"/>
                </a:moveTo>
                <a:lnTo>
                  <a:pt x="336247" y="0"/>
                </a:lnTo>
                <a:lnTo>
                  <a:pt x="336247" y="370011"/>
                </a:lnTo>
                <a:lnTo>
                  <a:pt x="0" y="37001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76700" y="2019440"/>
            <a:ext cx="101346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667198"/>
                </a:solidFill>
                <a:latin typeface="Canva Sans"/>
                <a:ea typeface="Canva Sans"/>
                <a:cs typeface="Canva Sans"/>
                <a:sym typeface="Canva Sans"/>
              </a:rPr>
              <a:t>Step by step methodology for</a:t>
            </a:r>
            <a:r>
              <a:rPr lang="en-US" sz="1800">
                <a:solidFill>
                  <a:srgbClr val="667198"/>
                </a:solidFill>
                <a:latin typeface="Canva Sans"/>
                <a:ea typeface="Canva Sans"/>
                <a:cs typeface="Canva Sans"/>
                <a:sym typeface="Canva Sans"/>
              </a:rPr>
              <a:t> building comprehensive and actionable project roadmaps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076700" y="1180170"/>
            <a:ext cx="10134600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Roadmap Creation Workflow</a:t>
            </a:r>
          </a:p>
        </p:txBody>
      </p:sp>
      <p:sp>
        <p:nvSpPr>
          <p:cNvPr name="Freeform 4" id="4"/>
          <p:cNvSpPr/>
          <p:nvPr/>
        </p:nvSpPr>
        <p:spPr>
          <a:xfrm>
            <a:off x="-47233" y="4882777"/>
            <a:ext cx="18379440" cy="1498248"/>
          </a:xfrm>
          <a:custGeom>
            <a:avLst/>
            <a:gdLst/>
            <a:ahLst/>
            <a:cxnLst/>
            <a:rect r="r" b="b" t="t" l="l"/>
            <a:pathLst>
              <a:path h="1498248" w="18379440">
                <a:moveTo>
                  <a:pt x="0" y="1460888"/>
                </a:moveTo>
                <a:quadBezTo>
                  <a:pt x="9195735" y="-1479451"/>
                  <a:pt x="18379440" y="1498248"/>
                </a:quadBezTo>
              </a:path>
            </a:pathLst>
          </a:custGeom>
          <a:ln cap="rnd" w="381000">
            <a:gradFill>
              <a:gsLst>
                <a:gs pos="0">
                  <a:srgbClr val="6AD572">
                    <a:alpha val="100000"/>
                  </a:srgbClr>
                </a:gs>
                <a:gs pos="100000">
                  <a:srgbClr val="65A6FE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8578146" y="4304613"/>
            <a:ext cx="1131708" cy="1349995"/>
            <a:chOff x="0" y="0"/>
            <a:chExt cx="1508944" cy="1799993"/>
          </a:xfrm>
        </p:grpSpPr>
        <p:sp>
          <p:nvSpPr>
            <p:cNvPr name="Freeform 6" id="6"/>
            <p:cNvSpPr/>
            <p:nvPr/>
          </p:nvSpPr>
          <p:spPr>
            <a:xfrm flipH="false" flipV="false" rot="5400000">
              <a:off x="-116491" y="174558"/>
              <a:ext cx="1741926" cy="1508944"/>
            </a:xfrm>
            <a:custGeom>
              <a:avLst/>
              <a:gdLst/>
              <a:ahLst/>
              <a:cxnLst/>
              <a:rect r="r" b="b" t="t" l="l"/>
              <a:pathLst>
                <a:path h="1508944" w="1741926">
                  <a:moveTo>
                    <a:pt x="0" y="0"/>
                  </a:moveTo>
                  <a:lnTo>
                    <a:pt x="1741926" y="0"/>
                  </a:lnTo>
                  <a:lnTo>
                    <a:pt x="1741926" y="1508944"/>
                  </a:lnTo>
                  <a:lnTo>
                    <a:pt x="0" y="1508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7" id="7"/>
            <p:cNvGrpSpPr/>
            <p:nvPr/>
          </p:nvGrpSpPr>
          <p:grpSpPr>
            <a:xfrm rot="0">
              <a:off x="105336" y="79225"/>
              <a:ext cx="1298272" cy="1510717"/>
              <a:chOff x="0" y="0"/>
              <a:chExt cx="6985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14823"/>
                <a:ext cx="698500" cy="783155"/>
              </a:xfrm>
              <a:custGeom>
                <a:avLst/>
                <a:gdLst/>
                <a:ahLst/>
                <a:cxnLst/>
                <a:rect r="r" b="b" t="t" l="l"/>
                <a:pathLst>
                  <a:path h="783155" w="698500">
                    <a:moveTo>
                      <a:pt x="396747" y="12812"/>
                    </a:moveTo>
                    <a:lnTo>
                      <a:pt x="651003" y="160742"/>
                    </a:lnTo>
                    <a:cubicBezTo>
                      <a:pt x="680409" y="177852"/>
                      <a:pt x="698500" y="209307"/>
                      <a:pt x="698500" y="243328"/>
                    </a:cubicBezTo>
                    <a:lnTo>
                      <a:pt x="698500" y="539826"/>
                    </a:lnTo>
                    <a:cubicBezTo>
                      <a:pt x="698500" y="573847"/>
                      <a:pt x="680409" y="605302"/>
                      <a:pt x="651003" y="622412"/>
                    </a:cubicBezTo>
                    <a:lnTo>
                      <a:pt x="396747" y="770342"/>
                    </a:lnTo>
                    <a:cubicBezTo>
                      <a:pt x="367386" y="787425"/>
                      <a:pt x="331114" y="787425"/>
                      <a:pt x="301753" y="770342"/>
                    </a:cubicBezTo>
                    <a:lnTo>
                      <a:pt x="47497" y="622412"/>
                    </a:lnTo>
                    <a:cubicBezTo>
                      <a:pt x="18091" y="605302"/>
                      <a:pt x="0" y="573847"/>
                      <a:pt x="0" y="539826"/>
                    </a:cubicBezTo>
                    <a:lnTo>
                      <a:pt x="0" y="243328"/>
                    </a:lnTo>
                    <a:cubicBezTo>
                      <a:pt x="0" y="209307"/>
                      <a:pt x="18091" y="177852"/>
                      <a:pt x="47497" y="160742"/>
                    </a:cubicBezTo>
                    <a:lnTo>
                      <a:pt x="301753" y="12812"/>
                    </a:lnTo>
                    <a:cubicBezTo>
                      <a:pt x="331114" y="-4271"/>
                      <a:pt x="367386" y="-4271"/>
                      <a:pt x="396747" y="12812"/>
                    </a:cubicBezTo>
                    <a:close/>
                  </a:path>
                </a:pathLst>
              </a:custGeom>
              <a:solidFill>
                <a:srgbClr val="E9EBF4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92075"/>
                <a:ext cx="6985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05336" y="0"/>
              <a:ext cx="1298272" cy="1510717"/>
              <a:chOff x="0" y="0"/>
              <a:chExt cx="6985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14823"/>
                <a:ext cx="698500" cy="783155"/>
              </a:xfrm>
              <a:custGeom>
                <a:avLst/>
                <a:gdLst/>
                <a:ahLst/>
                <a:cxnLst/>
                <a:rect r="r" b="b" t="t" l="l"/>
                <a:pathLst>
                  <a:path h="783155" w="698500">
                    <a:moveTo>
                      <a:pt x="396747" y="12812"/>
                    </a:moveTo>
                    <a:lnTo>
                      <a:pt x="651003" y="160742"/>
                    </a:lnTo>
                    <a:cubicBezTo>
                      <a:pt x="680409" y="177852"/>
                      <a:pt x="698500" y="209307"/>
                      <a:pt x="698500" y="243328"/>
                    </a:cubicBezTo>
                    <a:lnTo>
                      <a:pt x="698500" y="539826"/>
                    </a:lnTo>
                    <a:cubicBezTo>
                      <a:pt x="698500" y="573847"/>
                      <a:pt x="680409" y="605302"/>
                      <a:pt x="651003" y="622412"/>
                    </a:cubicBezTo>
                    <a:lnTo>
                      <a:pt x="396747" y="770342"/>
                    </a:lnTo>
                    <a:cubicBezTo>
                      <a:pt x="367386" y="787425"/>
                      <a:pt x="331114" y="787425"/>
                      <a:pt x="301753" y="770342"/>
                    </a:cubicBezTo>
                    <a:lnTo>
                      <a:pt x="47497" y="622412"/>
                    </a:lnTo>
                    <a:cubicBezTo>
                      <a:pt x="18091" y="605302"/>
                      <a:pt x="0" y="573847"/>
                      <a:pt x="0" y="539826"/>
                    </a:cubicBezTo>
                    <a:lnTo>
                      <a:pt x="0" y="243328"/>
                    </a:lnTo>
                    <a:cubicBezTo>
                      <a:pt x="0" y="209307"/>
                      <a:pt x="18091" y="177852"/>
                      <a:pt x="47497" y="160742"/>
                    </a:cubicBezTo>
                    <a:lnTo>
                      <a:pt x="301753" y="12812"/>
                    </a:lnTo>
                    <a:cubicBezTo>
                      <a:pt x="331114" y="-4271"/>
                      <a:pt x="367386" y="-4271"/>
                      <a:pt x="396747" y="12812"/>
                    </a:cubicBezTo>
                    <a:close/>
                  </a:path>
                </a:pathLst>
              </a:custGeom>
              <a:solidFill>
                <a:srgbClr val="FCFDFE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92075"/>
                <a:ext cx="6985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4882446" y="4518593"/>
            <a:ext cx="1131708" cy="1349995"/>
            <a:chOff x="0" y="0"/>
            <a:chExt cx="1508944" cy="1799993"/>
          </a:xfrm>
        </p:grpSpPr>
        <p:sp>
          <p:nvSpPr>
            <p:cNvPr name="Freeform 14" id="14"/>
            <p:cNvSpPr/>
            <p:nvPr/>
          </p:nvSpPr>
          <p:spPr>
            <a:xfrm flipH="false" flipV="false" rot="5400000">
              <a:off x="-116491" y="174558"/>
              <a:ext cx="1741926" cy="1508944"/>
            </a:xfrm>
            <a:custGeom>
              <a:avLst/>
              <a:gdLst/>
              <a:ahLst/>
              <a:cxnLst/>
              <a:rect r="r" b="b" t="t" l="l"/>
              <a:pathLst>
                <a:path h="1508944" w="1741926">
                  <a:moveTo>
                    <a:pt x="0" y="0"/>
                  </a:moveTo>
                  <a:lnTo>
                    <a:pt x="1741926" y="0"/>
                  </a:lnTo>
                  <a:lnTo>
                    <a:pt x="1741926" y="1508944"/>
                  </a:lnTo>
                  <a:lnTo>
                    <a:pt x="0" y="1508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15" id="15"/>
            <p:cNvGrpSpPr/>
            <p:nvPr/>
          </p:nvGrpSpPr>
          <p:grpSpPr>
            <a:xfrm rot="0">
              <a:off x="105336" y="79225"/>
              <a:ext cx="1298272" cy="1510717"/>
              <a:chOff x="0" y="0"/>
              <a:chExt cx="6985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14823"/>
                <a:ext cx="698500" cy="783155"/>
              </a:xfrm>
              <a:custGeom>
                <a:avLst/>
                <a:gdLst/>
                <a:ahLst/>
                <a:cxnLst/>
                <a:rect r="r" b="b" t="t" l="l"/>
                <a:pathLst>
                  <a:path h="783155" w="698500">
                    <a:moveTo>
                      <a:pt x="396747" y="12812"/>
                    </a:moveTo>
                    <a:lnTo>
                      <a:pt x="651003" y="160742"/>
                    </a:lnTo>
                    <a:cubicBezTo>
                      <a:pt x="680409" y="177852"/>
                      <a:pt x="698500" y="209307"/>
                      <a:pt x="698500" y="243328"/>
                    </a:cubicBezTo>
                    <a:lnTo>
                      <a:pt x="698500" y="539826"/>
                    </a:lnTo>
                    <a:cubicBezTo>
                      <a:pt x="698500" y="573847"/>
                      <a:pt x="680409" y="605302"/>
                      <a:pt x="651003" y="622412"/>
                    </a:cubicBezTo>
                    <a:lnTo>
                      <a:pt x="396747" y="770342"/>
                    </a:lnTo>
                    <a:cubicBezTo>
                      <a:pt x="367386" y="787425"/>
                      <a:pt x="331114" y="787425"/>
                      <a:pt x="301753" y="770342"/>
                    </a:cubicBezTo>
                    <a:lnTo>
                      <a:pt x="47497" y="622412"/>
                    </a:lnTo>
                    <a:cubicBezTo>
                      <a:pt x="18091" y="605302"/>
                      <a:pt x="0" y="573847"/>
                      <a:pt x="0" y="539826"/>
                    </a:cubicBezTo>
                    <a:lnTo>
                      <a:pt x="0" y="243328"/>
                    </a:lnTo>
                    <a:cubicBezTo>
                      <a:pt x="0" y="209307"/>
                      <a:pt x="18091" y="177852"/>
                      <a:pt x="47497" y="160742"/>
                    </a:cubicBezTo>
                    <a:lnTo>
                      <a:pt x="301753" y="12812"/>
                    </a:lnTo>
                    <a:cubicBezTo>
                      <a:pt x="331114" y="-4271"/>
                      <a:pt x="367386" y="-4271"/>
                      <a:pt x="396747" y="12812"/>
                    </a:cubicBezTo>
                    <a:close/>
                  </a:path>
                </a:pathLst>
              </a:custGeom>
              <a:solidFill>
                <a:srgbClr val="E9EBF4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92075"/>
                <a:ext cx="6985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05336" y="0"/>
              <a:ext cx="1298272" cy="1510717"/>
              <a:chOff x="0" y="0"/>
              <a:chExt cx="6985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14823"/>
                <a:ext cx="698500" cy="783155"/>
              </a:xfrm>
              <a:custGeom>
                <a:avLst/>
                <a:gdLst/>
                <a:ahLst/>
                <a:cxnLst/>
                <a:rect r="r" b="b" t="t" l="l"/>
                <a:pathLst>
                  <a:path h="783155" w="698500">
                    <a:moveTo>
                      <a:pt x="396747" y="12812"/>
                    </a:moveTo>
                    <a:lnTo>
                      <a:pt x="651003" y="160742"/>
                    </a:lnTo>
                    <a:cubicBezTo>
                      <a:pt x="680409" y="177852"/>
                      <a:pt x="698500" y="209307"/>
                      <a:pt x="698500" y="243328"/>
                    </a:cubicBezTo>
                    <a:lnTo>
                      <a:pt x="698500" y="539826"/>
                    </a:lnTo>
                    <a:cubicBezTo>
                      <a:pt x="698500" y="573847"/>
                      <a:pt x="680409" y="605302"/>
                      <a:pt x="651003" y="622412"/>
                    </a:cubicBezTo>
                    <a:lnTo>
                      <a:pt x="396747" y="770342"/>
                    </a:lnTo>
                    <a:cubicBezTo>
                      <a:pt x="367386" y="787425"/>
                      <a:pt x="331114" y="787425"/>
                      <a:pt x="301753" y="770342"/>
                    </a:cubicBezTo>
                    <a:lnTo>
                      <a:pt x="47497" y="622412"/>
                    </a:lnTo>
                    <a:cubicBezTo>
                      <a:pt x="18091" y="605302"/>
                      <a:pt x="0" y="573847"/>
                      <a:pt x="0" y="539826"/>
                    </a:cubicBezTo>
                    <a:lnTo>
                      <a:pt x="0" y="243328"/>
                    </a:lnTo>
                    <a:cubicBezTo>
                      <a:pt x="0" y="209307"/>
                      <a:pt x="18091" y="177852"/>
                      <a:pt x="47497" y="160742"/>
                    </a:cubicBezTo>
                    <a:lnTo>
                      <a:pt x="301753" y="12812"/>
                    </a:lnTo>
                    <a:cubicBezTo>
                      <a:pt x="331114" y="-4271"/>
                      <a:pt x="367386" y="-4271"/>
                      <a:pt x="396747" y="12812"/>
                    </a:cubicBezTo>
                    <a:close/>
                  </a:path>
                </a:pathLst>
              </a:custGeom>
              <a:solidFill>
                <a:srgbClr val="FCFDFE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92075"/>
                <a:ext cx="6985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</p:grpSp>
      <p:grpSp>
        <p:nvGrpSpPr>
          <p:cNvPr name="Group 21" id="21"/>
          <p:cNvGrpSpPr/>
          <p:nvPr/>
        </p:nvGrpSpPr>
        <p:grpSpPr>
          <a:xfrm rot="0">
            <a:off x="1186746" y="5193591"/>
            <a:ext cx="1131708" cy="1349995"/>
            <a:chOff x="0" y="0"/>
            <a:chExt cx="1508944" cy="1799993"/>
          </a:xfrm>
        </p:grpSpPr>
        <p:sp>
          <p:nvSpPr>
            <p:cNvPr name="Freeform 22" id="22"/>
            <p:cNvSpPr/>
            <p:nvPr/>
          </p:nvSpPr>
          <p:spPr>
            <a:xfrm flipH="false" flipV="false" rot="5400000">
              <a:off x="-116491" y="174558"/>
              <a:ext cx="1741926" cy="1508944"/>
            </a:xfrm>
            <a:custGeom>
              <a:avLst/>
              <a:gdLst/>
              <a:ahLst/>
              <a:cxnLst/>
              <a:rect r="r" b="b" t="t" l="l"/>
              <a:pathLst>
                <a:path h="1508944" w="1741926">
                  <a:moveTo>
                    <a:pt x="0" y="0"/>
                  </a:moveTo>
                  <a:lnTo>
                    <a:pt x="1741926" y="0"/>
                  </a:lnTo>
                  <a:lnTo>
                    <a:pt x="1741926" y="1508944"/>
                  </a:lnTo>
                  <a:lnTo>
                    <a:pt x="0" y="1508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23" id="23"/>
            <p:cNvGrpSpPr/>
            <p:nvPr/>
          </p:nvGrpSpPr>
          <p:grpSpPr>
            <a:xfrm rot="0">
              <a:off x="105336" y="79225"/>
              <a:ext cx="1298272" cy="1510717"/>
              <a:chOff x="0" y="0"/>
              <a:chExt cx="6985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14823"/>
                <a:ext cx="698500" cy="783155"/>
              </a:xfrm>
              <a:custGeom>
                <a:avLst/>
                <a:gdLst/>
                <a:ahLst/>
                <a:cxnLst/>
                <a:rect r="r" b="b" t="t" l="l"/>
                <a:pathLst>
                  <a:path h="783155" w="698500">
                    <a:moveTo>
                      <a:pt x="396747" y="12812"/>
                    </a:moveTo>
                    <a:lnTo>
                      <a:pt x="651003" y="160742"/>
                    </a:lnTo>
                    <a:cubicBezTo>
                      <a:pt x="680409" y="177852"/>
                      <a:pt x="698500" y="209307"/>
                      <a:pt x="698500" y="243328"/>
                    </a:cubicBezTo>
                    <a:lnTo>
                      <a:pt x="698500" y="539826"/>
                    </a:lnTo>
                    <a:cubicBezTo>
                      <a:pt x="698500" y="573847"/>
                      <a:pt x="680409" y="605302"/>
                      <a:pt x="651003" y="622412"/>
                    </a:cubicBezTo>
                    <a:lnTo>
                      <a:pt x="396747" y="770342"/>
                    </a:lnTo>
                    <a:cubicBezTo>
                      <a:pt x="367386" y="787425"/>
                      <a:pt x="331114" y="787425"/>
                      <a:pt x="301753" y="770342"/>
                    </a:cubicBezTo>
                    <a:lnTo>
                      <a:pt x="47497" y="622412"/>
                    </a:lnTo>
                    <a:cubicBezTo>
                      <a:pt x="18091" y="605302"/>
                      <a:pt x="0" y="573847"/>
                      <a:pt x="0" y="539826"/>
                    </a:cubicBezTo>
                    <a:lnTo>
                      <a:pt x="0" y="243328"/>
                    </a:lnTo>
                    <a:cubicBezTo>
                      <a:pt x="0" y="209307"/>
                      <a:pt x="18091" y="177852"/>
                      <a:pt x="47497" y="160742"/>
                    </a:cubicBezTo>
                    <a:lnTo>
                      <a:pt x="301753" y="12812"/>
                    </a:lnTo>
                    <a:cubicBezTo>
                      <a:pt x="331114" y="-4271"/>
                      <a:pt x="367386" y="-4271"/>
                      <a:pt x="396747" y="12812"/>
                    </a:cubicBezTo>
                    <a:close/>
                  </a:path>
                </a:pathLst>
              </a:custGeom>
              <a:solidFill>
                <a:srgbClr val="E9EBF4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92075"/>
                <a:ext cx="6985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105336" y="0"/>
              <a:ext cx="1298272" cy="1510717"/>
              <a:chOff x="0" y="0"/>
              <a:chExt cx="6985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14823"/>
                <a:ext cx="698500" cy="783155"/>
              </a:xfrm>
              <a:custGeom>
                <a:avLst/>
                <a:gdLst/>
                <a:ahLst/>
                <a:cxnLst/>
                <a:rect r="r" b="b" t="t" l="l"/>
                <a:pathLst>
                  <a:path h="783155" w="698500">
                    <a:moveTo>
                      <a:pt x="396747" y="12812"/>
                    </a:moveTo>
                    <a:lnTo>
                      <a:pt x="651003" y="160742"/>
                    </a:lnTo>
                    <a:cubicBezTo>
                      <a:pt x="680409" y="177852"/>
                      <a:pt x="698500" y="209307"/>
                      <a:pt x="698500" y="243328"/>
                    </a:cubicBezTo>
                    <a:lnTo>
                      <a:pt x="698500" y="539826"/>
                    </a:lnTo>
                    <a:cubicBezTo>
                      <a:pt x="698500" y="573847"/>
                      <a:pt x="680409" y="605302"/>
                      <a:pt x="651003" y="622412"/>
                    </a:cubicBezTo>
                    <a:lnTo>
                      <a:pt x="396747" y="770342"/>
                    </a:lnTo>
                    <a:cubicBezTo>
                      <a:pt x="367386" y="787425"/>
                      <a:pt x="331114" y="787425"/>
                      <a:pt x="301753" y="770342"/>
                    </a:cubicBezTo>
                    <a:lnTo>
                      <a:pt x="47497" y="622412"/>
                    </a:lnTo>
                    <a:cubicBezTo>
                      <a:pt x="18091" y="605302"/>
                      <a:pt x="0" y="573847"/>
                      <a:pt x="0" y="539826"/>
                    </a:cubicBezTo>
                    <a:lnTo>
                      <a:pt x="0" y="243328"/>
                    </a:lnTo>
                    <a:cubicBezTo>
                      <a:pt x="0" y="209307"/>
                      <a:pt x="18091" y="177852"/>
                      <a:pt x="47497" y="160742"/>
                    </a:cubicBezTo>
                    <a:lnTo>
                      <a:pt x="301753" y="12812"/>
                    </a:lnTo>
                    <a:cubicBezTo>
                      <a:pt x="331114" y="-4271"/>
                      <a:pt x="367386" y="-4271"/>
                      <a:pt x="396747" y="12812"/>
                    </a:cubicBezTo>
                    <a:close/>
                  </a:path>
                </a:pathLst>
              </a:custGeom>
              <a:solidFill>
                <a:srgbClr val="FCFDFE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92075"/>
                <a:ext cx="6985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</p:grpSp>
      <p:grpSp>
        <p:nvGrpSpPr>
          <p:cNvPr name="Group 29" id="29"/>
          <p:cNvGrpSpPr/>
          <p:nvPr/>
        </p:nvGrpSpPr>
        <p:grpSpPr>
          <a:xfrm rot="0">
            <a:off x="15969546" y="5193591"/>
            <a:ext cx="1131708" cy="1349995"/>
            <a:chOff x="0" y="0"/>
            <a:chExt cx="1508944" cy="1799993"/>
          </a:xfrm>
        </p:grpSpPr>
        <p:sp>
          <p:nvSpPr>
            <p:cNvPr name="Freeform 30" id="30"/>
            <p:cNvSpPr/>
            <p:nvPr/>
          </p:nvSpPr>
          <p:spPr>
            <a:xfrm flipH="false" flipV="false" rot="5400000">
              <a:off x="-116491" y="174558"/>
              <a:ext cx="1741926" cy="1508944"/>
            </a:xfrm>
            <a:custGeom>
              <a:avLst/>
              <a:gdLst/>
              <a:ahLst/>
              <a:cxnLst/>
              <a:rect r="r" b="b" t="t" l="l"/>
              <a:pathLst>
                <a:path h="1508944" w="1741926">
                  <a:moveTo>
                    <a:pt x="0" y="0"/>
                  </a:moveTo>
                  <a:lnTo>
                    <a:pt x="1741926" y="0"/>
                  </a:lnTo>
                  <a:lnTo>
                    <a:pt x="1741926" y="1508944"/>
                  </a:lnTo>
                  <a:lnTo>
                    <a:pt x="0" y="1508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31" id="31"/>
            <p:cNvGrpSpPr/>
            <p:nvPr/>
          </p:nvGrpSpPr>
          <p:grpSpPr>
            <a:xfrm rot="0">
              <a:off x="105336" y="79225"/>
              <a:ext cx="1298272" cy="1510717"/>
              <a:chOff x="0" y="0"/>
              <a:chExt cx="6985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14823"/>
                <a:ext cx="698500" cy="783155"/>
              </a:xfrm>
              <a:custGeom>
                <a:avLst/>
                <a:gdLst/>
                <a:ahLst/>
                <a:cxnLst/>
                <a:rect r="r" b="b" t="t" l="l"/>
                <a:pathLst>
                  <a:path h="783155" w="698500">
                    <a:moveTo>
                      <a:pt x="396747" y="12812"/>
                    </a:moveTo>
                    <a:lnTo>
                      <a:pt x="651003" y="160742"/>
                    </a:lnTo>
                    <a:cubicBezTo>
                      <a:pt x="680409" y="177852"/>
                      <a:pt x="698500" y="209307"/>
                      <a:pt x="698500" y="243328"/>
                    </a:cubicBezTo>
                    <a:lnTo>
                      <a:pt x="698500" y="539826"/>
                    </a:lnTo>
                    <a:cubicBezTo>
                      <a:pt x="698500" y="573847"/>
                      <a:pt x="680409" y="605302"/>
                      <a:pt x="651003" y="622412"/>
                    </a:cubicBezTo>
                    <a:lnTo>
                      <a:pt x="396747" y="770342"/>
                    </a:lnTo>
                    <a:cubicBezTo>
                      <a:pt x="367386" y="787425"/>
                      <a:pt x="331114" y="787425"/>
                      <a:pt x="301753" y="770342"/>
                    </a:cubicBezTo>
                    <a:lnTo>
                      <a:pt x="47497" y="622412"/>
                    </a:lnTo>
                    <a:cubicBezTo>
                      <a:pt x="18091" y="605302"/>
                      <a:pt x="0" y="573847"/>
                      <a:pt x="0" y="539826"/>
                    </a:cubicBezTo>
                    <a:lnTo>
                      <a:pt x="0" y="243328"/>
                    </a:lnTo>
                    <a:cubicBezTo>
                      <a:pt x="0" y="209307"/>
                      <a:pt x="18091" y="177852"/>
                      <a:pt x="47497" y="160742"/>
                    </a:cubicBezTo>
                    <a:lnTo>
                      <a:pt x="301753" y="12812"/>
                    </a:lnTo>
                    <a:cubicBezTo>
                      <a:pt x="331114" y="-4271"/>
                      <a:pt x="367386" y="-4271"/>
                      <a:pt x="396747" y="12812"/>
                    </a:cubicBezTo>
                    <a:close/>
                  </a:path>
                </a:pathLst>
              </a:custGeom>
              <a:solidFill>
                <a:srgbClr val="E9EBF4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92075"/>
                <a:ext cx="6985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105336" y="0"/>
              <a:ext cx="1298272" cy="1510717"/>
              <a:chOff x="0" y="0"/>
              <a:chExt cx="6985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14823"/>
                <a:ext cx="698500" cy="783155"/>
              </a:xfrm>
              <a:custGeom>
                <a:avLst/>
                <a:gdLst/>
                <a:ahLst/>
                <a:cxnLst/>
                <a:rect r="r" b="b" t="t" l="l"/>
                <a:pathLst>
                  <a:path h="783155" w="698500">
                    <a:moveTo>
                      <a:pt x="396747" y="12812"/>
                    </a:moveTo>
                    <a:lnTo>
                      <a:pt x="651003" y="160742"/>
                    </a:lnTo>
                    <a:cubicBezTo>
                      <a:pt x="680409" y="177852"/>
                      <a:pt x="698500" y="209307"/>
                      <a:pt x="698500" y="243328"/>
                    </a:cubicBezTo>
                    <a:lnTo>
                      <a:pt x="698500" y="539826"/>
                    </a:lnTo>
                    <a:cubicBezTo>
                      <a:pt x="698500" y="573847"/>
                      <a:pt x="680409" y="605302"/>
                      <a:pt x="651003" y="622412"/>
                    </a:cubicBezTo>
                    <a:lnTo>
                      <a:pt x="396747" y="770342"/>
                    </a:lnTo>
                    <a:cubicBezTo>
                      <a:pt x="367386" y="787425"/>
                      <a:pt x="331114" y="787425"/>
                      <a:pt x="301753" y="770342"/>
                    </a:cubicBezTo>
                    <a:lnTo>
                      <a:pt x="47497" y="622412"/>
                    </a:lnTo>
                    <a:cubicBezTo>
                      <a:pt x="18091" y="605302"/>
                      <a:pt x="0" y="573847"/>
                      <a:pt x="0" y="539826"/>
                    </a:cubicBezTo>
                    <a:lnTo>
                      <a:pt x="0" y="243328"/>
                    </a:lnTo>
                    <a:cubicBezTo>
                      <a:pt x="0" y="209307"/>
                      <a:pt x="18091" y="177852"/>
                      <a:pt x="47497" y="160742"/>
                    </a:cubicBezTo>
                    <a:lnTo>
                      <a:pt x="301753" y="12812"/>
                    </a:lnTo>
                    <a:cubicBezTo>
                      <a:pt x="331114" y="-4271"/>
                      <a:pt x="367386" y="-4271"/>
                      <a:pt x="396747" y="12812"/>
                    </a:cubicBezTo>
                    <a:close/>
                  </a:path>
                </a:pathLst>
              </a:custGeom>
              <a:solidFill>
                <a:srgbClr val="FCFDFE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92075"/>
                <a:ext cx="6985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</p:grpSp>
      <p:grpSp>
        <p:nvGrpSpPr>
          <p:cNvPr name="Group 37" id="37"/>
          <p:cNvGrpSpPr/>
          <p:nvPr/>
        </p:nvGrpSpPr>
        <p:grpSpPr>
          <a:xfrm rot="0">
            <a:off x="12273846" y="4518593"/>
            <a:ext cx="1131708" cy="1349995"/>
            <a:chOff x="0" y="0"/>
            <a:chExt cx="1508944" cy="1799993"/>
          </a:xfrm>
        </p:grpSpPr>
        <p:sp>
          <p:nvSpPr>
            <p:cNvPr name="Freeform 38" id="38"/>
            <p:cNvSpPr/>
            <p:nvPr/>
          </p:nvSpPr>
          <p:spPr>
            <a:xfrm flipH="false" flipV="false" rot="5400000">
              <a:off x="-116491" y="174558"/>
              <a:ext cx="1741926" cy="1508944"/>
            </a:xfrm>
            <a:custGeom>
              <a:avLst/>
              <a:gdLst/>
              <a:ahLst/>
              <a:cxnLst/>
              <a:rect r="r" b="b" t="t" l="l"/>
              <a:pathLst>
                <a:path h="1508944" w="1741926">
                  <a:moveTo>
                    <a:pt x="0" y="0"/>
                  </a:moveTo>
                  <a:lnTo>
                    <a:pt x="1741926" y="0"/>
                  </a:lnTo>
                  <a:lnTo>
                    <a:pt x="1741926" y="1508944"/>
                  </a:lnTo>
                  <a:lnTo>
                    <a:pt x="0" y="1508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39" id="39"/>
            <p:cNvGrpSpPr/>
            <p:nvPr/>
          </p:nvGrpSpPr>
          <p:grpSpPr>
            <a:xfrm rot="0">
              <a:off x="105336" y="79225"/>
              <a:ext cx="1298272" cy="1510717"/>
              <a:chOff x="0" y="0"/>
              <a:chExt cx="6985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14823"/>
                <a:ext cx="698500" cy="783155"/>
              </a:xfrm>
              <a:custGeom>
                <a:avLst/>
                <a:gdLst/>
                <a:ahLst/>
                <a:cxnLst/>
                <a:rect r="r" b="b" t="t" l="l"/>
                <a:pathLst>
                  <a:path h="783155" w="698500">
                    <a:moveTo>
                      <a:pt x="396747" y="12812"/>
                    </a:moveTo>
                    <a:lnTo>
                      <a:pt x="651003" y="160742"/>
                    </a:lnTo>
                    <a:cubicBezTo>
                      <a:pt x="680409" y="177852"/>
                      <a:pt x="698500" y="209307"/>
                      <a:pt x="698500" y="243328"/>
                    </a:cubicBezTo>
                    <a:lnTo>
                      <a:pt x="698500" y="539826"/>
                    </a:lnTo>
                    <a:cubicBezTo>
                      <a:pt x="698500" y="573847"/>
                      <a:pt x="680409" y="605302"/>
                      <a:pt x="651003" y="622412"/>
                    </a:cubicBezTo>
                    <a:lnTo>
                      <a:pt x="396747" y="770342"/>
                    </a:lnTo>
                    <a:cubicBezTo>
                      <a:pt x="367386" y="787425"/>
                      <a:pt x="331114" y="787425"/>
                      <a:pt x="301753" y="770342"/>
                    </a:cubicBezTo>
                    <a:lnTo>
                      <a:pt x="47497" y="622412"/>
                    </a:lnTo>
                    <a:cubicBezTo>
                      <a:pt x="18091" y="605302"/>
                      <a:pt x="0" y="573847"/>
                      <a:pt x="0" y="539826"/>
                    </a:cubicBezTo>
                    <a:lnTo>
                      <a:pt x="0" y="243328"/>
                    </a:lnTo>
                    <a:cubicBezTo>
                      <a:pt x="0" y="209307"/>
                      <a:pt x="18091" y="177852"/>
                      <a:pt x="47497" y="160742"/>
                    </a:cubicBezTo>
                    <a:lnTo>
                      <a:pt x="301753" y="12812"/>
                    </a:lnTo>
                    <a:cubicBezTo>
                      <a:pt x="331114" y="-4271"/>
                      <a:pt x="367386" y="-4271"/>
                      <a:pt x="396747" y="12812"/>
                    </a:cubicBezTo>
                    <a:close/>
                  </a:path>
                </a:pathLst>
              </a:custGeom>
              <a:solidFill>
                <a:srgbClr val="E9EBF4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92075"/>
                <a:ext cx="6985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105336" y="0"/>
              <a:ext cx="1298272" cy="1510717"/>
              <a:chOff x="0" y="0"/>
              <a:chExt cx="6985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14823"/>
                <a:ext cx="698500" cy="783155"/>
              </a:xfrm>
              <a:custGeom>
                <a:avLst/>
                <a:gdLst/>
                <a:ahLst/>
                <a:cxnLst/>
                <a:rect r="r" b="b" t="t" l="l"/>
                <a:pathLst>
                  <a:path h="783155" w="698500">
                    <a:moveTo>
                      <a:pt x="396747" y="12812"/>
                    </a:moveTo>
                    <a:lnTo>
                      <a:pt x="651003" y="160742"/>
                    </a:lnTo>
                    <a:cubicBezTo>
                      <a:pt x="680409" y="177852"/>
                      <a:pt x="698500" y="209307"/>
                      <a:pt x="698500" y="243328"/>
                    </a:cubicBezTo>
                    <a:lnTo>
                      <a:pt x="698500" y="539826"/>
                    </a:lnTo>
                    <a:cubicBezTo>
                      <a:pt x="698500" y="573847"/>
                      <a:pt x="680409" y="605302"/>
                      <a:pt x="651003" y="622412"/>
                    </a:cubicBezTo>
                    <a:lnTo>
                      <a:pt x="396747" y="770342"/>
                    </a:lnTo>
                    <a:cubicBezTo>
                      <a:pt x="367386" y="787425"/>
                      <a:pt x="331114" y="787425"/>
                      <a:pt x="301753" y="770342"/>
                    </a:cubicBezTo>
                    <a:lnTo>
                      <a:pt x="47497" y="622412"/>
                    </a:lnTo>
                    <a:cubicBezTo>
                      <a:pt x="18091" y="605302"/>
                      <a:pt x="0" y="573847"/>
                      <a:pt x="0" y="539826"/>
                    </a:cubicBezTo>
                    <a:lnTo>
                      <a:pt x="0" y="243328"/>
                    </a:lnTo>
                    <a:cubicBezTo>
                      <a:pt x="0" y="209307"/>
                      <a:pt x="18091" y="177852"/>
                      <a:pt x="47497" y="160742"/>
                    </a:cubicBezTo>
                    <a:lnTo>
                      <a:pt x="301753" y="12812"/>
                    </a:lnTo>
                    <a:cubicBezTo>
                      <a:pt x="331114" y="-4271"/>
                      <a:pt x="367386" y="-4271"/>
                      <a:pt x="396747" y="12812"/>
                    </a:cubicBezTo>
                    <a:close/>
                  </a:path>
                </a:pathLst>
              </a:custGeom>
              <a:solidFill>
                <a:srgbClr val="FCFDFE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92075"/>
                <a:ext cx="6985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</p:grpSp>
      <p:sp>
        <p:nvSpPr>
          <p:cNvPr name="TextBox 45" id="45"/>
          <p:cNvSpPr txBox="true"/>
          <p:nvPr/>
        </p:nvSpPr>
        <p:spPr>
          <a:xfrm rot="0">
            <a:off x="304800" y="7196510"/>
            <a:ext cx="2895600" cy="91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Collect market data, user feedback, and competitive intelligence for insights.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000500" y="6525010"/>
            <a:ext cx="2895600" cy="91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Set clear, measurable objectives that align with the business strategy.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04800" y="6743810"/>
            <a:ext cx="2895600" cy="30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3"/>
              </a:lnSpc>
            </a:pPr>
            <a:r>
              <a:rPr lang="en-US" sz="20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Research Analysis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04800" y="4454556"/>
            <a:ext cx="2895600" cy="421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sz="27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1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000500" y="6072309"/>
            <a:ext cx="2895600" cy="30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3"/>
              </a:lnSpc>
            </a:pPr>
            <a:r>
              <a:rPr lang="en-US" sz="20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Goal Definition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000500" y="3783056"/>
            <a:ext cx="2895600" cy="421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sz="27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2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696200" y="6239260"/>
            <a:ext cx="2895600" cy="91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Break large initiatives into smaller, manageable parts with designated owners.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696200" y="5786559"/>
            <a:ext cx="2895600" cy="30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3"/>
              </a:lnSpc>
            </a:pPr>
            <a:r>
              <a:rPr lang="en-US" sz="20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Task Breakdown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696200" y="3497306"/>
            <a:ext cx="2895600" cy="421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sz="27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3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391900" y="6525010"/>
            <a:ext cx="2895600" cy="91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dentify relationships between tasks and sequence them for optimal workflow.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391900" y="6072309"/>
            <a:ext cx="2895600" cy="30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3"/>
              </a:lnSpc>
            </a:pPr>
            <a:r>
              <a:rPr lang="en-US" sz="20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Dependency Mapping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391900" y="3783056"/>
            <a:ext cx="2895600" cy="421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sz="27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4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5087600" y="7196510"/>
            <a:ext cx="2895600" cy="91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Combine all elements into cohesive schedule with realistic delivery dates.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5087600" y="6743810"/>
            <a:ext cx="2895600" cy="30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3"/>
              </a:lnSpc>
            </a:pPr>
            <a:r>
              <a:rPr lang="en-US" sz="20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Timeline Assembly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5087600" y="4454556"/>
            <a:ext cx="2895600" cy="421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sz="27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5</a:t>
            </a:r>
          </a:p>
        </p:txBody>
      </p:sp>
      <p:sp>
        <p:nvSpPr>
          <p:cNvPr name="Freeform 60" id="60"/>
          <p:cNvSpPr/>
          <p:nvPr/>
        </p:nvSpPr>
        <p:spPr>
          <a:xfrm flipH="false" flipV="false" rot="0">
            <a:off x="8914525" y="4679448"/>
            <a:ext cx="458949" cy="458949"/>
          </a:xfrm>
          <a:custGeom>
            <a:avLst/>
            <a:gdLst/>
            <a:ahLst/>
            <a:cxnLst/>
            <a:rect r="r" b="b" t="t" l="l"/>
            <a:pathLst>
              <a:path h="458949" w="458949">
                <a:moveTo>
                  <a:pt x="0" y="0"/>
                </a:moveTo>
                <a:lnTo>
                  <a:pt x="458950" y="0"/>
                </a:lnTo>
                <a:lnTo>
                  <a:pt x="458950" y="458949"/>
                </a:lnTo>
                <a:lnTo>
                  <a:pt x="0" y="4589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2610225" y="4875985"/>
            <a:ext cx="458949" cy="458949"/>
          </a:xfrm>
          <a:custGeom>
            <a:avLst/>
            <a:gdLst/>
            <a:ahLst/>
            <a:cxnLst/>
            <a:rect r="r" b="b" t="t" l="l"/>
            <a:pathLst>
              <a:path h="458949" w="458949">
                <a:moveTo>
                  <a:pt x="0" y="0"/>
                </a:moveTo>
                <a:lnTo>
                  <a:pt x="458950" y="0"/>
                </a:lnTo>
                <a:lnTo>
                  <a:pt x="458950" y="458949"/>
                </a:lnTo>
                <a:lnTo>
                  <a:pt x="0" y="4589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5252509" y="4875985"/>
            <a:ext cx="420512" cy="458949"/>
          </a:xfrm>
          <a:custGeom>
            <a:avLst/>
            <a:gdLst/>
            <a:ahLst/>
            <a:cxnLst/>
            <a:rect r="r" b="b" t="t" l="l"/>
            <a:pathLst>
              <a:path h="458949" w="420512">
                <a:moveTo>
                  <a:pt x="0" y="0"/>
                </a:moveTo>
                <a:lnTo>
                  <a:pt x="420512" y="0"/>
                </a:lnTo>
                <a:lnTo>
                  <a:pt x="420512" y="458949"/>
                </a:lnTo>
                <a:lnTo>
                  <a:pt x="0" y="4589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1523125" y="5538035"/>
            <a:ext cx="458949" cy="458949"/>
          </a:xfrm>
          <a:custGeom>
            <a:avLst/>
            <a:gdLst/>
            <a:ahLst/>
            <a:cxnLst/>
            <a:rect r="r" b="b" t="t" l="l"/>
            <a:pathLst>
              <a:path h="458949" w="458949">
                <a:moveTo>
                  <a:pt x="0" y="0"/>
                </a:moveTo>
                <a:lnTo>
                  <a:pt x="458950" y="0"/>
                </a:lnTo>
                <a:lnTo>
                  <a:pt x="458950" y="458949"/>
                </a:lnTo>
                <a:lnTo>
                  <a:pt x="0" y="45894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6305925" y="5538035"/>
            <a:ext cx="458949" cy="458949"/>
          </a:xfrm>
          <a:custGeom>
            <a:avLst/>
            <a:gdLst/>
            <a:ahLst/>
            <a:cxnLst/>
            <a:rect r="r" b="b" t="t" l="l"/>
            <a:pathLst>
              <a:path h="458949" w="458949">
                <a:moveTo>
                  <a:pt x="0" y="0"/>
                </a:moveTo>
                <a:lnTo>
                  <a:pt x="458950" y="0"/>
                </a:lnTo>
                <a:lnTo>
                  <a:pt x="458950" y="458949"/>
                </a:lnTo>
                <a:lnTo>
                  <a:pt x="0" y="458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wipe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4313" y="3384493"/>
            <a:ext cx="6938953" cy="5620552"/>
          </a:xfrm>
          <a:custGeom>
            <a:avLst/>
            <a:gdLst/>
            <a:ahLst/>
            <a:cxnLst/>
            <a:rect r="r" b="b" t="t" l="l"/>
            <a:pathLst>
              <a:path h="5620552" w="6938953">
                <a:moveTo>
                  <a:pt x="0" y="0"/>
                </a:moveTo>
                <a:lnTo>
                  <a:pt x="6938954" y="0"/>
                </a:lnTo>
                <a:lnTo>
                  <a:pt x="6938954" y="5620553"/>
                </a:lnTo>
                <a:lnTo>
                  <a:pt x="0" y="5620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76700" y="2019440"/>
            <a:ext cx="101346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667198"/>
                </a:solidFill>
                <a:latin typeface="Canva Sans"/>
                <a:ea typeface="Canva Sans"/>
                <a:cs typeface="Canva Sans"/>
                <a:sym typeface="Canva Sans"/>
              </a:rPr>
              <a:t>Filter and rank initiatives to focus resources</a:t>
            </a:r>
            <a:r>
              <a:rPr lang="en-US" sz="1800">
                <a:solidFill>
                  <a:srgbClr val="667198"/>
                </a:solidFill>
                <a:latin typeface="Canva Sans"/>
                <a:ea typeface="Canva Sans"/>
                <a:cs typeface="Canva Sans"/>
                <a:sym typeface="Canva Sans"/>
              </a:rPr>
              <a:t> on highest value opportunities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21295" y="1180170"/>
            <a:ext cx="1304540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Roadmap Prioritization Framework</a:t>
            </a:r>
          </a:p>
        </p:txBody>
      </p:sp>
      <p:sp>
        <p:nvSpPr>
          <p:cNvPr name="AutoShape 5" id="5"/>
          <p:cNvSpPr/>
          <p:nvPr/>
        </p:nvSpPr>
        <p:spPr>
          <a:xfrm>
            <a:off x="6523444" y="4686763"/>
            <a:ext cx="2134826" cy="0"/>
          </a:xfrm>
          <a:prstGeom prst="line">
            <a:avLst/>
          </a:prstGeom>
          <a:ln cap="rnd" w="66675">
            <a:solidFill>
              <a:srgbClr val="CADBE8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1887200" y="4360881"/>
            <a:ext cx="4648200" cy="60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Gather a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ll potential initiatives from stakeholders, teams, and market research.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24136" y="4539443"/>
            <a:ext cx="3899309" cy="30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0"/>
              </a:lnSpc>
            </a:pPr>
            <a:r>
              <a:rPr lang="en-US" sz="21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Idea Collection</a:t>
            </a:r>
          </a:p>
        </p:txBody>
      </p:sp>
      <p:sp>
        <p:nvSpPr>
          <p:cNvPr name="AutoShape 8" id="8"/>
          <p:cNvSpPr/>
          <p:nvPr/>
        </p:nvSpPr>
        <p:spPr>
          <a:xfrm>
            <a:off x="9680889" y="4686079"/>
            <a:ext cx="1821752" cy="0"/>
          </a:xfrm>
          <a:prstGeom prst="line">
            <a:avLst/>
          </a:prstGeom>
          <a:ln cap="rnd" w="66675">
            <a:solidFill>
              <a:srgbClr val="CADBE8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8734265" y="4352247"/>
            <a:ext cx="819470" cy="817981"/>
          </a:xfrm>
          <a:custGeom>
            <a:avLst/>
            <a:gdLst/>
            <a:ahLst/>
            <a:cxnLst/>
            <a:rect r="r" b="b" t="t" l="l"/>
            <a:pathLst>
              <a:path h="817981" w="819470">
                <a:moveTo>
                  <a:pt x="0" y="0"/>
                </a:moveTo>
                <a:lnTo>
                  <a:pt x="819470" y="0"/>
                </a:lnTo>
                <a:lnTo>
                  <a:pt x="819470" y="817981"/>
                </a:lnTo>
                <a:lnTo>
                  <a:pt x="0" y="817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765070" y="4263535"/>
            <a:ext cx="757861" cy="75786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BF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36939" lIns="36939" bIns="36939" rIns="36939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65070" y="4203298"/>
            <a:ext cx="757861" cy="75786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36939" lIns="36939" bIns="36939" rIns="36939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sp>
        <p:nvSpPr>
          <p:cNvPr name="AutoShape 16" id="16"/>
          <p:cNvSpPr/>
          <p:nvPr/>
        </p:nvSpPr>
        <p:spPr>
          <a:xfrm flipV="true">
            <a:off x="6308528" y="5949312"/>
            <a:ext cx="2349742" cy="0"/>
          </a:xfrm>
          <a:prstGeom prst="line">
            <a:avLst/>
          </a:prstGeom>
          <a:ln cap="rnd" w="66675">
            <a:solidFill>
              <a:srgbClr val="6AD572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1887200" y="5623430"/>
            <a:ext cx="4648200" cy="60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Eva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luate each opportunity based on business value and strategic alignment.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839052" y="5801992"/>
            <a:ext cx="3469477" cy="30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0"/>
              </a:lnSpc>
            </a:pPr>
            <a:r>
              <a:rPr lang="en-US" sz="21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Impact Assessment</a:t>
            </a:r>
          </a:p>
        </p:txBody>
      </p:sp>
      <p:sp>
        <p:nvSpPr>
          <p:cNvPr name="AutoShape 19" id="19"/>
          <p:cNvSpPr/>
          <p:nvPr/>
        </p:nvSpPr>
        <p:spPr>
          <a:xfrm flipV="true">
            <a:off x="9680889" y="5948628"/>
            <a:ext cx="1821752" cy="0"/>
          </a:xfrm>
          <a:prstGeom prst="line">
            <a:avLst/>
          </a:prstGeom>
          <a:ln cap="rnd" w="66675">
            <a:solidFill>
              <a:srgbClr val="6AD572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8734265" y="5614797"/>
            <a:ext cx="819470" cy="817981"/>
          </a:xfrm>
          <a:custGeom>
            <a:avLst/>
            <a:gdLst/>
            <a:ahLst/>
            <a:cxnLst/>
            <a:rect r="r" b="b" t="t" l="l"/>
            <a:pathLst>
              <a:path h="817981" w="819470">
                <a:moveTo>
                  <a:pt x="0" y="0"/>
                </a:moveTo>
                <a:lnTo>
                  <a:pt x="819470" y="0"/>
                </a:lnTo>
                <a:lnTo>
                  <a:pt x="819470" y="817980"/>
                </a:lnTo>
                <a:lnTo>
                  <a:pt x="0" y="8179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8765070" y="5526085"/>
            <a:ext cx="757861" cy="75786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BF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36939" lIns="36939" bIns="36939" rIns="36939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765070" y="5465847"/>
            <a:ext cx="757861" cy="75786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36939" lIns="36939" bIns="36939" rIns="36939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>
            <a:off x="5997570" y="7211861"/>
            <a:ext cx="2660701" cy="0"/>
          </a:xfrm>
          <a:prstGeom prst="line">
            <a:avLst/>
          </a:prstGeom>
          <a:ln cap="rnd" w="66675">
            <a:solidFill>
              <a:srgbClr val="65A6FE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3150010" y="7064541"/>
            <a:ext cx="2847559" cy="30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0"/>
              </a:lnSpc>
            </a:pPr>
            <a:r>
              <a:rPr lang="en-US" sz="21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Feasibility Review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887200" y="6885979"/>
            <a:ext cx="4648200" cy="60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alyze resource requirements, technical complexity, and implementation timeline.</a:t>
            </a:r>
          </a:p>
        </p:txBody>
      </p:sp>
      <p:sp>
        <p:nvSpPr>
          <p:cNvPr name="AutoShape 30" id="30"/>
          <p:cNvSpPr/>
          <p:nvPr/>
        </p:nvSpPr>
        <p:spPr>
          <a:xfrm>
            <a:off x="9680889" y="7211178"/>
            <a:ext cx="1821752" cy="0"/>
          </a:xfrm>
          <a:prstGeom prst="line">
            <a:avLst/>
          </a:prstGeom>
          <a:ln cap="rnd" w="66675">
            <a:solidFill>
              <a:srgbClr val="65A6FE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8734265" y="6877346"/>
            <a:ext cx="819470" cy="817981"/>
          </a:xfrm>
          <a:custGeom>
            <a:avLst/>
            <a:gdLst/>
            <a:ahLst/>
            <a:cxnLst/>
            <a:rect r="r" b="b" t="t" l="l"/>
            <a:pathLst>
              <a:path h="817981" w="819470">
                <a:moveTo>
                  <a:pt x="0" y="0"/>
                </a:moveTo>
                <a:lnTo>
                  <a:pt x="819470" y="0"/>
                </a:lnTo>
                <a:lnTo>
                  <a:pt x="819470" y="817980"/>
                </a:lnTo>
                <a:lnTo>
                  <a:pt x="0" y="8179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8765070" y="6788634"/>
            <a:ext cx="757861" cy="757861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BF4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36939" lIns="36939" bIns="36939" rIns="36939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765070" y="6728396"/>
            <a:ext cx="757861" cy="75786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36939" lIns="36939" bIns="36939" rIns="36939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sp>
        <p:nvSpPr>
          <p:cNvPr name="AutoShape 38" id="38"/>
          <p:cNvSpPr/>
          <p:nvPr/>
        </p:nvSpPr>
        <p:spPr>
          <a:xfrm>
            <a:off x="5660216" y="8505443"/>
            <a:ext cx="2998054" cy="0"/>
          </a:xfrm>
          <a:prstGeom prst="line">
            <a:avLst/>
          </a:prstGeom>
          <a:ln cap="rnd" w="66675">
            <a:solidFill>
              <a:srgbClr val="667198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3487364" y="8205678"/>
            <a:ext cx="2172852" cy="60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8"/>
              </a:lnSpc>
            </a:pPr>
            <a:r>
              <a:rPr lang="en-US" sz="2100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Final</a:t>
            </a:r>
          </a:p>
          <a:p>
            <a:pPr algn="ctr">
              <a:lnSpc>
                <a:spcPts val="2450"/>
              </a:lnSpc>
            </a:pPr>
            <a:r>
              <a:rPr lang="en-US" sz="2100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Selection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887200" y="8179561"/>
            <a:ext cx="4648200" cy="60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Choose initiatives that offer maximum return with available resources.</a:t>
            </a:r>
          </a:p>
        </p:txBody>
      </p:sp>
      <p:sp>
        <p:nvSpPr>
          <p:cNvPr name="AutoShape 41" id="41"/>
          <p:cNvSpPr/>
          <p:nvPr/>
        </p:nvSpPr>
        <p:spPr>
          <a:xfrm>
            <a:off x="9680889" y="8504759"/>
            <a:ext cx="1821752" cy="0"/>
          </a:xfrm>
          <a:prstGeom prst="line">
            <a:avLst/>
          </a:prstGeom>
          <a:ln cap="rnd" w="66675">
            <a:solidFill>
              <a:srgbClr val="667198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42" id="42"/>
          <p:cNvSpPr/>
          <p:nvPr/>
        </p:nvSpPr>
        <p:spPr>
          <a:xfrm flipH="false" flipV="false" rot="0">
            <a:off x="8734265" y="8139895"/>
            <a:ext cx="819470" cy="817981"/>
          </a:xfrm>
          <a:custGeom>
            <a:avLst/>
            <a:gdLst/>
            <a:ahLst/>
            <a:cxnLst/>
            <a:rect r="r" b="b" t="t" l="l"/>
            <a:pathLst>
              <a:path h="817981" w="819470">
                <a:moveTo>
                  <a:pt x="0" y="0"/>
                </a:moveTo>
                <a:lnTo>
                  <a:pt x="819470" y="0"/>
                </a:lnTo>
                <a:lnTo>
                  <a:pt x="819470" y="817981"/>
                </a:lnTo>
                <a:lnTo>
                  <a:pt x="0" y="817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8765070" y="8051183"/>
            <a:ext cx="757861" cy="757861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BF4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36939" lIns="36939" bIns="36939" rIns="36939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765070" y="7990945"/>
            <a:ext cx="757861" cy="757861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36939" lIns="36939" bIns="36939" rIns="36939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8938649" y="5639426"/>
            <a:ext cx="410702" cy="410702"/>
          </a:xfrm>
          <a:custGeom>
            <a:avLst/>
            <a:gdLst/>
            <a:ahLst/>
            <a:cxnLst/>
            <a:rect r="r" b="b" t="t" l="l"/>
            <a:pathLst>
              <a:path h="410702" w="410702">
                <a:moveTo>
                  <a:pt x="0" y="0"/>
                </a:moveTo>
                <a:lnTo>
                  <a:pt x="410702" y="0"/>
                </a:lnTo>
                <a:lnTo>
                  <a:pt x="410702" y="410702"/>
                </a:lnTo>
                <a:lnTo>
                  <a:pt x="0" y="4107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8981516" y="8164525"/>
            <a:ext cx="324968" cy="410702"/>
          </a:xfrm>
          <a:custGeom>
            <a:avLst/>
            <a:gdLst/>
            <a:ahLst/>
            <a:cxnLst/>
            <a:rect r="r" b="b" t="t" l="l"/>
            <a:pathLst>
              <a:path h="410702" w="324968">
                <a:moveTo>
                  <a:pt x="0" y="0"/>
                </a:moveTo>
                <a:lnTo>
                  <a:pt x="324968" y="0"/>
                </a:lnTo>
                <a:lnTo>
                  <a:pt x="324968" y="410702"/>
                </a:lnTo>
                <a:lnTo>
                  <a:pt x="0" y="4107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9007185" y="4376877"/>
            <a:ext cx="273630" cy="410702"/>
          </a:xfrm>
          <a:custGeom>
            <a:avLst/>
            <a:gdLst/>
            <a:ahLst/>
            <a:cxnLst/>
            <a:rect r="r" b="b" t="t" l="l"/>
            <a:pathLst>
              <a:path h="410702" w="273630">
                <a:moveTo>
                  <a:pt x="0" y="0"/>
                </a:moveTo>
                <a:lnTo>
                  <a:pt x="273630" y="0"/>
                </a:lnTo>
                <a:lnTo>
                  <a:pt x="273630" y="410702"/>
                </a:lnTo>
                <a:lnTo>
                  <a:pt x="0" y="4107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8938649" y="6901975"/>
            <a:ext cx="410702" cy="410702"/>
          </a:xfrm>
          <a:custGeom>
            <a:avLst/>
            <a:gdLst/>
            <a:ahLst/>
            <a:cxnLst/>
            <a:rect r="r" b="b" t="t" l="l"/>
            <a:pathLst>
              <a:path h="410702" w="410702">
                <a:moveTo>
                  <a:pt x="0" y="0"/>
                </a:moveTo>
                <a:lnTo>
                  <a:pt x="410702" y="0"/>
                </a:lnTo>
                <a:lnTo>
                  <a:pt x="410702" y="410703"/>
                </a:lnTo>
                <a:lnTo>
                  <a:pt x="0" y="41070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wipe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76700" y="2019440"/>
            <a:ext cx="101346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667198"/>
                </a:solidFill>
                <a:latin typeface="Canva Sans"/>
                <a:ea typeface="Canva Sans"/>
                <a:cs typeface="Canva Sans"/>
                <a:sym typeface="Canva Sans"/>
              </a:rPr>
              <a:t>Effective methods to share roadmap</a:t>
            </a:r>
            <a:r>
              <a:rPr lang="en-US" sz="1800">
                <a:solidFill>
                  <a:srgbClr val="667198"/>
                </a:solidFill>
                <a:latin typeface="Canva Sans"/>
                <a:ea typeface="Canva Sans"/>
                <a:cs typeface="Canva Sans"/>
                <a:sym typeface="Canva Sans"/>
              </a:rPr>
              <a:t> information across different organizational levels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977145" y="1180170"/>
            <a:ext cx="12333710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Roadmap Communication Strategies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864248" y="3106198"/>
            <a:ext cx="8317977" cy="3285601"/>
          </a:xfrm>
          <a:custGeom>
            <a:avLst/>
            <a:gdLst/>
            <a:ahLst/>
            <a:cxnLst/>
            <a:rect r="r" b="b" t="t" l="l"/>
            <a:pathLst>
              <a:path h="3285601" w="8317977">
                <a:moveTo>
                  <a:pt x="0" y="0"/>
                </a:moveTo>
                <a:lnTo>
                  <a:pt x="8317977" y="0"/>
                </a:lnTo>
                <a:lnTo>
                  <a:pt x="8317977" y="3285601"/>
                </a:lnTo>
                <a:lnTo>
                  <a:pt x="0" y="3285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272287" y="3276911"/>
            <a:ext cx="5501898" cy="2381250"/>
            <a:chOff x="0" y="0"/>
            <a:chExt cx="2888979" cy="12503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88979" cy="1250365"/>
            </a:xfrm>
            <a:custGeom>
              <a:avLst/>
              <a:gdLst/>
              <a:ahLst/>
              <a:cxnLst/>
              <a:rect r="r" b="b" t="t" l="l"/>
              <a:pathLst>
                <a:path h="1250365" w="2888979">
                  <a:moveTo>
                    <a:pt x="39400" y="0"/>
                  </a:moveTo>
                  <a:lnTo>
                    <a:pt x="2849579" y="0"/>
                  </a:lnTo>
                  <a:cubicBezTo>
                    <a:pt x="2860028" y="0"/>
                    <a:pt x="2870050" y="4151"/>
                    <a:pt x="2877439" y="11540"/>
                  </a:cubicBezTo>
                  <a:cubicBezTo>
                    <a:pt x="2884828" y="18929"/>
                    <a:pt x="2888979" y="28950"/>
                    <a:pt x="2888979" y="39400"/>
                  </a:cubicBezTo>
                  <a:lnTo>
                    <a:pt x="2888979" y="1210965"/>
                  </a:lnTo>
                  <a:cubicBezTo>
                    <a:pt x="2888979" y="1221415"/>
                    <a:pt x="2884828" y="1231436"/>
                    <a:pt x="2877439" y="1238825"/>
                  </a:cubicBezTo>
                  <a:cubicBezTo>
                    <a:pt x="2870050" y="1246214"/>
                    <a:pt x="2860028" y="1250365"/>
                    <a:pt x="2849579" y="1250365"/>
                  </a:cubicBezTo>
                  <a:lnTo>
                    <a:pt x="39400" y="1250365"/>
                  </a:lnTo>
                  <a:cubicBezTo>
                    <a:pt x="28950" y="1250365"/>
                    <a:pt x="18929" y="1246214"/>
                    <a:pt x="11540" y="1238825"/>
                  </a:cubicBezTo>
                  <a:cubicBezTo>
                    <a:pt x="4151" y="1231436"/>
                    <a:pt x="0" y="1221415"/>
                    <a:pt x="0" y="1210965"/>
                  </a:cubicBezTo>
                  <a:lnTo>
                    <a:pt x="0" y="39400"/>
                  </a:lnTo>
                  <a:cubicBezTo>
                    <a:pt x="0" y="28950"/>
                    <a:pt x="4151" y="18929"/>
                    <a:pt x="11540" y="11540"/>
                  </a:cubicBezTo>
                  <a:cubicBezTo>
                    <a:pt x="18929" y="4151"/>
                    <a:pt x="28950" y="0"/>
                    <a:pt x="39400" y="0"/>
                  </a:cubicBezTo>
                  <a:close/>
                </a:path>
              </a:pathLst>
            </a:custGeom>
            <a:solidFill>
              <a:srgbClr val="E9EBF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888979" cy="1297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272287" y="3186354"/>
            <a:ext cx="5501898" cy="2381250"/>
            <a:chOff x="0" y="0"/>
            <a:chExt cx="2888979" cy="12503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88979" cy="1250365"/>
            </a:xfrm>
            <a:custGeom>
              <a:avLst/>
              <a:gdLst/>
              <a:ahLst/>
              <a:cxnLst/>
              <a:rect r="r" b="b" t="t" l="l"/>
              <a:pathLst>
                <a:path h="1250365" w="2888979">
                  <a:moveTo>
                    <a:pt x="39400" y="0"/>
                  </a:moveTo>
                  <a:lnTo>
                    <a:pt x="2849579" y="0"/>
                  </a:lnTo>
                  <a:cubicBezTo>
                    <a:pt x="2860028" y="0"/>
                    <a:pt x="2870050" y="4151"/>
                    <a:pt x="2877439" y="11540"/>
                  </a:cubicBezTo>
                  <a:cubicBezTo>
                    <a:pt x="2884828" y="18929"/>
                    <a:pt x="2888979" y="28950"/>
                    <a:pt x="2888979" y="39400"/>
                  </a:cubicBezTo>
                  <a:lnTo>
                    <a:pt x="2888979" y="1210965"/>
                  </a:lnTo>
                  <a:cubicBezTo>
                    <a:pt x="2888979" y="1221415"/>
                    <a:pt x="2884828" y="1231436"/>
                    <a:pt x="2877439" y="1238825"/>
                  </a:cubicBezTo>
                  <a:cubicBezTo>
                    <a:pt x="2870050" y="1246214"/>
                    <a:pt x="2860028" y="1250365"/>
                    <a:pt x="2849579" y="1250365"/>
                  </a:cubicBezTo>
                  <a:lnTo>
                    <a:pt x="39400" y="1250365"/>
                  </a:lnTo>
                  <a:cubicBezTo>
                    <a:pt x="28950" y="1250365"/>
                    <a:pt x="18929" y="1246214"/>
                    <a:pt x="11540" y="1238825"/>
                  </a:cubicBezTo>
                  <a:cubicBezTo>
                    <a:pt x="4151" y="1231436"/>
                    <a:pt x="0" y="1221415"/>
                    <a:pt x="0" y="1210965"/>
                  </a:cubicBezTo>
                  <a:lnTo>
                    <a:pt x="0" y="39400"/>
                  </a:lnTo>
                  <a:cubicBezTo>
                    <a:pt x="0" y="28950"/>
                    <a:pt x="4151" y="18929"/>
                    <a:pt x="11540" y="11540"/>
                  </a:cubicBezTo>
                  <a:cubicBezTo>
                    <a:pt x="18929" y="4151"/>
                    <a:pt x="28950" y="0"/>
                    <a:pt x="39400" y="0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888979" cy="1297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085856" y="3395901"/>
            <a:ext cx="1201761" cy="1201761"/>
          </a:xfrm>
          <a:custGeom>
            <a:avLst/>
            <a:gdLst/>
            <a:ahLst/>
            <a:cxnLst/>
            <a:rect r="r" b="b" t="t" l="l"/>
            <a:pathLst>
              <a:path h="1201761" w="1201761">
                <a:moveTo>
                  <a:pt x="0" y="0"/>
                </a:moveTo>
                <a:lnTo>
                  <a:pt x="1201761" y="0"/>
                </a:lnTo>
                <a:lnTo>
                  <a:pt x="1201761" y="1201761"/>
                </a:lnTo>
                <a:lnTo>
                  <a:pt x="0" y="12017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931548" y="3840298"/>
            <a:ext cx="1539614" cy="1324229"/>
            <a:chOff x="0" y="0"/>
            <a:chExt cx="264494" cy="2274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4494" cy="227492"/>
            </a:xfrm>
            <a:custGeom>
              <a:avLst/>
              <a:gdLst/>
              <a:ahLst/>
              <a:cxnLst/>
              <a:rect r="r" b="b" t="t" l="l"/>
              <a:pathLst>
                <a:path h="227492" w="264494">
                  <a:moveTo>
                    <a:pt x="0" y="0"/>
                  </a:moveTo>
                  <a:lnTo>
                    <a:pt x="264494" y="0"/>
                  </a:lnTo>
                  <a:lnTo>
                    <a:pt x="264494" y="227492"/>
                  </a:lnTo>
                  <a:lnTo>
                    <a:pt x="0" y="227492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50000">
                  <a:srgbClr val="FCFDFE">
                    <a:alpha val="100000"/>
                  </a:srgbClr>
                </a:gs>
                <a:gs pos="100000">
                  <a:srgbClr val="FCFDF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64494" cy="275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575311" y="4588455"/>
            <a:ext cx="4895850" cy="67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Present high </a:t>
            </a:r>
            <a:r>
              <a:rPr lang="en-US" sz="1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level overview with key milestones and business impact.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75311" y="3386694"/>
            <a:ext cx="835397" cy="318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799">
                <a:solidFill>
                  <a:srgbClr val="667198"/>
                </a:solidFill>
                <a:latin typeface="Canva Sans"/>
                <a:ea typeface="Canva Sans"/>
                <a:cs typeface="Canva Sans"/>
                <a:sym typeface="Canva Sans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575311" y="4163371"/>
            <a:ext cx="3356236" cy="30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0"/>
              </a:lnSpc>
            </a:pPr>
            <a:r>
              <a:rPr lang="en-US" sz="21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Executive Summary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864248" y="6391799"/>
            <a:ext cx="8317977" cy="3285601"/>
          </a:xfrm>
          <a:custGeom>
            <a:avLst/>
            <a:gdLst/>
            <a:ahLst/>
            <a:cxnLst/>
            <a:rect r="r" b="b" t="t" l="l"/>
            <a:pathLst>
              <a:path h="3285601" w="8317977">
                <a:moveTo>
                  <a:pt x="0" y="0"/>
                </a:moveTo>
                <a:lnTo>
                  <a:pt x="8317977" y="0"/>
                </a:lnTo>
                <a:lnTo>
                  <a:pt x="8317977" y="3285601"/>
                </a:lnTo>
                <a:lnTo>
                  <a:pt x="0" y="3285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3272287" y="6562512"/>
            <a:ext cx="5501898" cy="2381250"/>
            <a:chOff x="0" y="0"/>
            <a:chExt cx="2888979" cy="125036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88979" cy="1250365"/>
            </a:xfrm>
            <a:custGeom>
              <a:avLst/>
              <a:gdLst/>
              <a:ahLst/>
              <a:cxnLst/>
              <a:rect r="r" b="b" t="t" l="l"/>
              <a:pathLst>
                <a:path h="1250365" w="2888979">
                  <a:moveTo>
                    <a:pt x="39400" y="0"/>
                  </a:moveTo>
                  <a:lnTo>
                    <a:pt x="2849579" y="0"/>
                  </a:lnTo>
                  <a:cubicBezTo>
                    <a:pt x="2860028" y="0"/>
                    <a:pt x="2870050" y="4151"/>
                    <a:pt x="2877439" y="11540"/>
                  </a:cubicBezTo>
                  <a:cubicBezTo>
                    <a:pt x="2884828" y="18929"/>
                    <a:pt x="2888979" y="28950"/>
                    <a:pt x="2888979" y="39400"/>
                  </a:cubicBezTo>
                  <a:lnTo>
                    <a:pt x="2888979" y="1210965"/>
                  </a:lnTo>
                  <a:cubicBezTo>
                    <a:pt x="2888979" y="1221415"/>
                    <a:pt x="2884828" y="1231436"/>
                    <a:pt x="2877439" y="1238825"/>
                  </a:cubicBezTo>
                  <a:cubicBezTo>
                    <a:pt x="2870050" y="1246214"/>
                    <a:pt x="2860028" y="1250365"/>
                    <a:pt x="2849579" y="1250365"/>
                  </a:cubicBezTo>
                  <a:lnTo>
                    <a:pt x="39400" y="1250365"/>
                  </a:lnTo>
                  <a:cubicBezTo>
                    <a:pt x="28950" y="1250365"/>
                    <a:pt x="18929" y="1246214"/>
                    <a:pt x="11540" y="1238825"/>
                  </a:cubicBezTo>
                  <a:cubicBezTo>
                    <a:pt x="4151" y="1231436"/>
                    <a:pt x="0" y="1221415"/>
                    <a:pt x="0" y="1210965"/>
                  </a:cubicBezTo>
                  <a:lnTo>
                    <a:pt x="0" y="39400"/>
                  </a:lnTo>
                  <a:cubicBezTo>
                    <a:pt x="0" y="28950"/>
                    <a:pt x="4151" y="18929"/>
                    <a:pt x="11540" y="11540"/>
                  </a:cubicBezTo>
                  <a:cubicBezTo>
                    <a:pt x="18929" y="4151"/>
                    <a:pt x="28950" y="0"/>
                    <a:pt x="39400" y="0"/>
                  </a:cubicBezTo>
                  <a:close/>
                </a:path>
              </a:pathLst>
            </a:custGeom>
            <a:solidFill>
              <a:srgbClr val="E9EBF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888979" cy="1297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272287" y="6471955"/>
            <a:ext cx="5501898" cy="2381250"/>
            <a:chOff x="0" y="0"/>
            <a:chExt cx="2888979" cy="125036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88979" cy="1250365"/>
            </a:xfrm>
            <a:custGeom>
              <a:avLst/>
              <a:gdLst/>
              <a:ahLst/>
              <a:cxnLst/>
              <a:rect r="r" b="b" t="t" l="l"/>
              <a:pathLst>
                <a:path h="1250365" w="2888979">
                  <a:moveTo>
                    <a:pt x="39400" y="0"/>
                  </a:moveTo>
                  <a:lnTo>
                    <a:pt x="2849579" y="0"/>
                  </a:lnTo>
                  <a:cubicBezTo>
                    <a:pt x="2860028" y="0"/>
                    <a:pt x="2870050" y="4151"/>
                    <a:pt x="2877439" y="11540"/>
                  </a:cubicBezTo>
                  <a:cubicBezTo>
                    <a:pt x="2884828" y="18929"/>
                    <a:pt x="2888979" y="28950"/>
                    <a:pt x="2888979" y="39400"/>
                  </a:cubicBezTo>
                  <a:lnTo>
                    <a:pt x="2888979" y="1210965"/>
                  </a:lnTo>
                  <a:cubicBezTo>
                    <a:pt x="2888979" y="1221415"/>
                    <a:pt x="2884828" y="1231436"/>
                    <a:pt x="2877439" y="1238825"/>
                  </a:cubicBezTo>
                  <a:cubicBezTo>
                    <a:pt x="2870050" y="1246214"/>
                    <a:pt x="2860028" y="1250365"/>
                    <a:pt x="2849579" y="1250365"/>
                  </a:cubicBezTo>
                  <a:lnTo>
                    <a:pt x="39400" y="1250365"/>
                  </a:lnTo>
                  <a:cubicBezTo>
                    <a:pt x="28950" y="1250365"/>
                    <a:pt x="18929" y="1246214"/>
                    <a:pt x="11540" y="1238825"/>
                  </a:cubicBezTo>
                  <a:cubicBezTo>
                    <a:pt x="4151" y="1231436"/>
                    <a:pt x="0" y="1221415"/>
                    <a:pt x="0" y="1210965"/>
                  </a:cubicBezTo>
                  <a:lnTo>
                    <a:pt x="0" y="39400"/>
                  </a:lnTo>
                  <a:cubicBezTo>
                    <a:pt x="0" y="28950"/>
                    <a:pt x="4151" y="18929"/>
                    <a:pt x="11540" y="11540"/>
                  </a:cubicBezTo>
                  <a:cubicBezTo>
                    <a:pt x="18929" y="4151"/>
                    <a:pt x="28950" y="0"/>
                    <a:pt x="39400" y="0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888979" cy="1297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3579890" y="6672295"/>
            <a:ext cx="835397" cy="318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799">
                <a:solidFill>
                  <a:srgbClr val="667198"/>
                </a:solidFill>
                <a:latin typeface="Canva Sans"/>
                <a:ea typeface="Canva Sans"/>
                <a:cs typeface="Canva Sans"/>
                <a:sym typeface="Canva Sans"/>
              </a:rPr>
              <a:t>03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7127219" y="6719920"/>
            <a:ext cx="1148271" cy="1148271"/>
          </a:xfrm>
          <a:custGeom>
            <a:avLst/>
            <a:gdLst/>
            <a:ahLst/>
            <a:cxnLst/>
            <a:rect r="r" b="b" t="t" l="l"/>
            <a:pathLst>
              <a:path h="1148271" w="1148271">
                <a:moveTo>
                  <a:pt x="0" y="0"/>
                </a:moveTo>
                <a:lnTo>
                  <a:pt x="1148271" y="0"/>
                </a:lnTo>
                <a:lnTo>
                  <a:pt x="1148271" y="1148271"/>
                </a:lnTo>
                <a:lnTo>
                  <a:pt x="0" y="11482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6931548" y="7125899"/>
            <a:ext cx="1539614" cy="1324229"/>
            <a:chOff x="0" y="0"/>
            <a:chExt cx="264494" cy="2274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64494" cy="227492"/>
            </a:xfrm>
            <a:custGeom>
              <a:avLst/>
              <a:gdLst/>
              <a:ahLst/>
              <a:cxnLst/>
              <a:rect r="r" b="b" t="t" l="l"/>
              <a:pathLst>
                <a:path h="227492" w="264494">
                  <a:moveTo>
                    <a:pt x="0" y="0"/>
                  </a:moveTo>
                  <a:lnTo>
                    <a:pt x="264494" y="0"/>
                  </a:lnTo>
                  <a:lnTo>
                    <a:pt x="264494" y="227492"/>
                  </a:lnTo>
                  <a:lnTo>
                    <a:pt x="0" y="227492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50000">
                  <a:srgbClr val="FCFDFE">
                    <a:alpha val="100000"/>
                  </a:srgbClr>
                </a:gs>
                <a:gs pos="100000">
                  <a:srgbClr val="FCFDF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264494" cy="275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3575311" y="7874056"/>
            <a:ext cx="4895850" cy="67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1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rovide regular status reports highlighting achievements and upcoming deliverables.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575311" y="7448972"/>
            <a:ext cx="3356236" cy="30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0"/>
              </a:lnSpc>
            </a:pPr>
            <a:r>
              <a:rPr lang="en-US" sz="21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Stakeholder Updates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8105775" y="3106198"/>
            <a:ext cx="8317977" cy="3285601"/>
          </a:xfrm>
          <a:custGeom>
            <a:avLst/>
            <a:gdLst/>
            <a:ahLst/>
            <a:cxnLst/>
            <a:rect r="r" b="b" t="t" l="l"/>
            <a:pathLst>
              <a:path h="3285601" w="8317977">
                <a:moveTo>
                  <a:pt x="0" y="0"/>
                </a:moveTo>
                <a:lnTo>
                  <a:pt x="8317977" y="0"/>
                </a:lnTo>
                <a:lnTo>
                  <a:pt x="8317977" y="3285601"/>
                </a:lnTo>
                <a:lnTo>
                  <a:pt x="0" y="3285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9513815" y="3276911"/>
            <a:ext cx="5501898" cy="2381250"/>
            <a:chOff x="0" y="0"/>
            <a:chExt cx="2888979" cy="125036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888979" cy="1250365"/>
            </a:xfrm>
            <a:custGeom>
              <a:avLst/>
              <a:gdLst/>
              <a:ahLst/>
              <a:cxnLst/>
              <a:rect r="r" b="b" t="t" l="l"/>
              <a:pathLst>
                <a:path h="1250365" w="2888979">
                  <a:moveTo>
                    <a:pt x="39400" y="0"/>
                  </a:moveTo>
                  <a:lnTo>
                    <a:pt x="2849579" y="0"/>
                  </a:lnTo>
                  <a:cubicBezTo>
                    <a:pt x="2860028" y="0"/>
                    <a:pt x="2870050" y="4151"/>
                    <a:pt x="2877439" y="11540"/>
                  </a:cubicBezTo>
                  <a:cubicBezTo>
                    <a:pt x="2884828" y="18929"/>
                    <a:pt x="2888979" y="28950"/>
                    <a:pt x="2888979" y="39400"/>
                  </a:cubicBezTo>
                  <a:lnTo>
                    <a:pt x="2888979" y="1210965"/>
                  </a:lnTo>
                  <a:cubicBezTo>
                    <a:pt x="2888979" y="1221415"/>
                    <a:pt x="2884828" y="1231436"/>
                    <a:pt x="2877439" y="1238825"/>
                  </a:cubicBezTo>
                  <a:cubicBezTo>
                    <a:pt x="2870050" y="1246214"/>
                    <a:pt x="2860028" y="1250365"/>
                    <a:pt x="2849579" y="1250365"/>
                  </a:cubicBezTo>
                  <a:lnTo>
                    <a:pt x="39400" y="1250365"/>
                  </a:lnTo>
                  <a:cubicBezTo>
                    <a:pt x="28950" y="1250365"/>
                    <a:pt x="18929" y="1246214"/>
                    <a:pt x="11540" y="1238825"/>
                  </a:cubicBezTo>
                  <a:cubicBezTo>
                    <a:pt x="4151" y="1231436"/>
                    <a:pt x="0" y="1221415"/>
                    <a:pt x="0" y="1210965"/>
                  </a:cubicBezTo>
                  <a:lnTo>
                    <a:pt x="0" y="39400"/>
                  </a:lnTo>
                  <a:cubicBezTo>
                    <a:pt x="0" y="28950"/>
                    <a:pt x="4151" y="18929"/>
                    <a:pt x="11540" y="11540"/>
                  </a:cubicBezTo>
                  <a:cubicBezTo>
                    <a:pt x="18929" y="4151"/>
                    <a:pt x="28950" y="0"/>
                    <a:pt x="39400" y="0"/>
                  </a:cubicBezTo>
                  <a:close/>
                </a:path>
              </a:pathLst>
            </a:custGeom>
            <a:solidFill>
              <a:srgbClr val="E9EBF4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2888979" cy="1297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513815" y="3186354"/>
            <a:ext cx="5501898" cy="2381250"/>
            <a:chOff x="0" y="0"/>
            <a:chExt cx="2888979" cy="125036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888979" cy="1250365"/>
            </a:xfrm>
            <a:custGeom>
              <a:avLst/>
              <a:gdLst/>
              <a:ahLst/>
              <a:cxnLst/>
              <a:rect r="r" b="b" t="t" l="l"/>
              <a:pathLst>
                <a:path h="1250365" w="2888979">
                  <a:moveTo>
                    <a:pt x="39400" y="0"/>
                  </a:moveTo>
                  <a:lnTo>
                    <a:pt x="2849579" y="0"/>
                  </a:lnTo>
                  <a:cubicBezTo>
                    <a:pt x="2860028" y="0"/>
                    <a:pt x="2870050" y="4151"/>
                    <a:pt x="2877439" y="11540"/>
                  </a:cubicBezTo>
                  <a:cubicBezTo>
                    <a:pt x="2884828" y="18929"/>
                    <a:pt x="2888979" y="28950"/>
                    <a:pt x="2888979" y="39400"/>
                  </a:cubicBezTo>
                  <a:lnTo>
                    <a:pt x="2888979" y="1210965"/>
                  </a:lnTo>
                  <a:cubicBezTo>
                    <a:pt x="2888979" y="1221415"/>
                    <a:pt x="2884828" y="1231436"/>
                    <a:pt x="2877439" y="1238825"/>
                  </a:cubicBezTo>
                  <a:cubicBezTo>
                    <a:pt x="2870050" y="1246214"/>
                    <a:pt x="2860028" y="1250365"/>
                    <a:pt x="2849579" y="1250365"/>
                  </a:cubicBezTo>
                  <a:lnTo>
                    <a:pt x="39400" y="1250365"/>
                  </a:lnTo>
                  <a:cubicBezTo>
                    <a:pt x="28950" y="1250365"/>
                    <a:pt x="18929" y="1246214"/>
                    <a:pt x="11540" y="1238825"/>
                  </a:cubicBezTo>
                  <a:cubicBezTo>
                    <a:pt x="4151" y="1231436"/>
                    <a:pt x="0" y="1221415"/>
                    <a:pt x="0" y="1210965"/>
                  </a:cubicBezTo>
                  <a:lnTo>
                    <a:pt x="0" y="39400"/>
                  </a:lnTo>
                  <a:cubicBezTo>
                    <a:pt x="0" y="28950"/>
                    <a:pt x="4151" y="18929"/>
                    <a:pt x="11540" y="11540"/>
                  </a:cubicBezTo>
                  <a:cubicBezTo>
                    <a:pt x="18929" y="4151"/>
                    <a:pt x="28950" y="0"/>
                    <a:pt x="39400" y="0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2888979" cy="1297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816839" y="3386694"/>
            <a:ext cx="835397" cy="318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799">
                <a:solidFill>
                  <a:srgbClr val="667198"/>
                </a:solidFill>
                <a:latin typeface="Canva Sans"/>
                <a:ea typeface="Canva Sans"/>
                <a:cs typeface="Canva Sans"/>
                <a:sym typeface="Canva Sans"/>
              </a:rPr>
              <a:t>02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3327383" y="3434319"/>
            <a:ext cx="1201761" cy="1201761"/>
          </a:xfrm>
          <a:custGeom>
            <a:avLst/>
            <a:gdLst/>
            <a:ahLst/>
            <a:cxnLst/>
            <a:rect r="r" b="b" t="t" l="l"/>
            <a:pathLst>
              <a:path h="1201761" w="1201761">
                <a:moveTo>
                  <a:pt x="0" y="0"/>
                </a:moveTo>
                <a:lnTo>
                  <a:pt x="1201761" y="0"/>
                </a:lnTo>
                <a:lnTo>
                  <a:pt x="1201761" y="1201761"/>
                </a:lnTo>
                <a:lnTo>
                  <a:pt x="0" y="12017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3173075" y="3840298"/>
            <a:ext cx="1539614" cy="1324229"/>
            <a:chOff x="0" y="0"/>
            <a:chExt cx="264494" cy="2274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64494" cy="227492"/>
            </a:xfrm>
            <a:custGeom>
              <a:avLst/>
              <a:gdLst/>
              <a:ahLst/>
              <a:cxnLst/>
              <a:rect r="r" b="b" t="t" l="l"/>
              <a:pathLst>
                <a:path h="227492" w="264494">
                  <a:moveTo>
                    <a:pt x="0" y="0"/>
                  </a:moveTo>
                  <a:lnTo>
                    <a:pt x="264494" y="0"/>
                  </a:lnTo>
                  <a:lnTo>
                    <a:pt x="264494" y="227492"/>
                  </a:lnTo>
                  <a:lnTo>
                    <a:pt x="0" y="227492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50000">
                  <a:srgbClr val="FCFDFE">
                    <a:alpha val="100000"/>
                  </a:srgbClr>
                </a:gs>
                <a:gs pos="100000">
                  <a:srgbClr val="FCFDF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264494" cy="275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9816839" y="4588455"/>
            <a:ext cx="4895850" cy="67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Create detailed views showing individual responsibilities and progress tracking.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816839" y="4163371"/>
            <a:ext cx="3356236" cy="30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0"/>
              </a:lnSpc>
            </a:pPr>
            <a:r>
              <a:rPr lang="en-US" sz="21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Team Dashboards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8105775" y="6391799"/>
            <a:ext cx="8317977" cy="3285601"/>
          </a:xfrm>
          <a:custGeom>
            <a:avLst/>
            <a:gdLst/>
            <a:ahLst/>
            <a:cxnLst/>
            <a:rect r="r" b="b" t="t" l="l"/>
            <a:pathLst>
              <a:path h="3285601" w="8317977">
                <a:moveTo>
                  <a:pt x="0" y="0"/>
                </a:moveTo>
                <a:lnTo>
                  <a:pt x="8317977" y="0"/>
                </a:lnTo>
                <a:lnTo>
                  <a:pt x="8317977" y="3285601"/>
                </a:lnTo>
                <a:lnTo>
                  <a:pt x="0" y="3285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9513815" y="6562512"/>
            <a:ext cx="5501898" cy="2381250"/>
            <a:chOff x="0" y="0"/>
            <a:chExt cx="2888979" cy="125036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888979" cy="1250365"/>
            </a:xfrm>
            <a:custGeom>
              <a:avLst/>
              <a:gdLst/>
              <a:ahLst/>
              <a:cxnLst/>
              <a:rect r="r" b="b" t="t" l="l"/>
              <a:pathLst>
                <a:path h="1250365" w="2888979">
                  <a:moveTo>
                    <a:pt x="39400" y="0"/>
                  </a:moveTo>
                  <a:lnTo>
                    <a:pt x="2849579" y="0"/>
                  </a:lnTo>
                  <a:cubicBezTo>
                    <a:pt x="2860028" y="0"/>
                    <a:pt x="2870050" y="4151"/>
                    <a:pt x="2877439" y="11540"/>
                  </a:cubicBezTo>
                  <a:cubicBezTo>
                    <a:pt x="2884828" y="18929"/>
                    <a:pt x="2888979" y="28950"/>
                    <a:pt x="2888979" y="39400"/>
                  </a:cubicBezTo>
                  <a:lnTo>
                    <a:pt x="2888979" y="1210965"/>
                  </a:lnTo>
                  <a:cubicBezTo>
                    <a:pt x="2888979" y="1221415"/>
                    <a:pt x="2884828" y="1231436"/>
                    <a:pt x="2877439" y="1238825"/>
                  </a:cubicBezTo>
                  <a:cubicBezTo>
                    <a:pt x="2870050" y="1246214"/>
                    <a:pt x="2860028" y="1250365"/>
                    <a:pt x="2849579" y="1250365"/>
                  </a:cubicBezTo>
                  <a:lnTo>
                    <a:pt x="39400" y="1250365"/>
                  </a:lnTo>
                  <a:cubicBezTo>
                    <a:pt x="28950" y="1250365"/>
                    <a:pt x="18929" y="1246214"/>
                    <a:pt x="11540" y="1238825"/>
                  </a:cubicBezTo>
                  <a:cubicBezTo>
                    <a:pt x="4151" y="1231436"/>
                    <a:pt x="0" y="1221415"/>
                    <a:pt x="0" y="1210965"/>
                  </a:cubicBezTo>
                  <a:lnTo>
                    <a:pt x="0" y="39400"/>
                  </a:lnTo>
                  <a:cubicBezTo>
                    <a:pt x="0" y="28950"/>
                    <a:pt x="4151" y="18929"/>
                    <a:pt x="11540" y="11540"/>
                  </a:cubicBezTo>
                  <a:cubicBezTo>
                    <a:pt x="18929" y="4151"/>
                    <a:pt x="28950" y="0"/>
                    <a:pt x="39400" y="0"/>
                  </a:cubicBezTo>
                  <a:close/>
                </a:path>
              </a:pathLst>
            </a:custGeom>
            <a:solidFill>
              <a:srgbClr val="E9EBF4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2888979" cy="1297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513815" y="6471955"/>
            <a:ext cx="5501898" cy="2381250"/>
            <a:chOff x="0" y="0"/>
            <a:chExt cx="2888979" cy="125036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888979" cy="1250365"/>
            </a:xfrm>
            <a:custGeom>
              <a:avLst/>
              <a:gdLst/>
              <a:ahLst/>
              <a:cxnLst/>
              <a:rect r="r" b="b" t="t" l="l"/>
              <a:pathLst>
                <a:path h="1250365" w="2888979">
                  <a:moveTo>
                    <a:pt x="39400" y="0"/>
                  </a:moveTo>
                  <a:lnTo>
                    <a:pt x="2849579" y="0"/>
                  </a:lnTo>
                  <a:cubicBezTo>
                    <a:pt x="2860028" y="0"/>
                    <a:pt x="2870050" y="4151"/>
                    <a:pt x="2877439" y="11540"/>
                  </a:cubicBezTo>
                  <a:cubicBezTo>
                    <a:pt x="2884828" y="18929"/>
                    <a:pt x="2888979" y="28950"/>
                    <a:pt x="2888979" y="39400"/>
                  </a:cubicBezTo>
                  <a:lnTo>
                    <a:pt x="2888979" y="1210965"/>
                  </a:lnTo>
                  <a:cubicBezTo>
                    <a:pt x="2888979" y="1221415"/>
                    <a:pt x="2884828" y="1231436"/>
                    <a:pt x="2877439" y="1238825"/>
                  </a:cubicBezTo>
                  <a:cubicBezTo>
                    <a:pt x="2870050" y="1246214"/>
                    <a:pt x="2860028" y="1250365"/>
                    <a:pt x="2849579" y="1250365"/>
                  </a:cubicBezTo>
                  <a:lnTo>
                    <a:pt x="39400" y="1250365"/>
                  </a:lnTo>
                  <a:cubicBezTo>
                    <a:pt x="28950" y="1250365"/>
                    <a:pt x="18929" y="1246214"/>
                    <a:pt x="11540" y="1238825"/>
                  </a:cubicBezTo>
                  <a:cubicBezTo>
                    <a:pt x="4151" y="1231436"/>
                    <a:pt x="0" y="1221415"/>
                    <a:pt x="0" y="1210965"/>
                  </a:cubicBezTo>
                  <a:lnTo>
                    <a:pt x="0" y="39400"/>
                  </a:lnTo>
                  <a:cubicBezTo>
                    <a:pt x="0" y="28950"/>
                    <a:pt x="4151" y="18929"/>
                    <a:pt x="11540" y="11540"/>
                  </a:cubicBezTo>
                  <a:cubicBezTo>
                    <a:pt x="18929" y="4151"/>
                    <a:pt x="28950" y="0"/>
                    <a:pt x="39400" y="0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2888979" cy="1297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9816839" y="6672295"/>
            <a:ext cx="835397" cy="318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799">
                <a:solidFill>
                  <a:srgbClr val="667198"/>
                </a:solidFill>
                <a:latin typeface="Canva Sans"/>
                <a:ea typeface="Canva Sans"/>
                <a:cs typeface="Canva Sans"/>
                <a:sym typeface="Canva Sans"/>
              </a:rPr>
              <a:t>04</a:t>
            </a:r>
          </a:p>
        </p:txBody>
      </p:sp>
      <p:sp>
        <p:nvSpPr>
          <p:cNvPr name="Freeform 54" id="54"/>
          <p:cNvSpPr/>
          <p:nvPr/>
        </p:nvSpPr>
        <p:spPr>
          <a:xfrm flipH="false" flipV="false" rot="0">
            <a:off x="13342001" y="6719920"/>
            <a:ext cx="1201761" cy="1201761"/>
          </a:xfrm>
          <a:custGeom>
            <a:avLst/>
            <a:gdLst/>
            <a:ahLst/>
            <a:cxnLst/>
            <a:rect r="r" b="b" t="t" l="l"/>
            <a:pathLst>
              <a:path h="1201761" w="1201761">
                <a:moveTo>
                  <a:pt x="0" y="0"/>
                </a:moveTo>
                <a:lnTo>
                  <a:pt x="1201761" y="0"/>
                </a:lnTo>
                <a:lnTo>
                  <a:pt x="1201761" y="1201761"/>
                </a:lnTo>
                <a:lnTo>
                  <a:pt x="0" y="12017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0">
            <a:off x="13173075" y="7125899"/>
            <a:ext cx="1539614" cy="1324229"/>
            <a:chOff x="0" y="0"/>
            <a:chExt cx="264494" cy="22749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64494" cy="227492"/>
            </a:xfrm>
            <a:custGeom>
              <a:avLst/>
              <a:gdLst/>
              <a:ahLst/>
              <a:cxnLst/>
              <a:rect r="r" b="b" t="t" l="l"/>
              <a:pathLst>
                <a:path h="227492" w="264494">
                  <a:moveTo>
                    <a:pt x="0" y="0"/>
                  </a:moveTo>
                  <a:lnTo>
                    <a:pt x="264494" y="0"/>
                  </a:lnTo>
                  <a:lnTo>
                    <a:pt x="264494" y="227492"/>
                  </a:lnTo>
                  <a:lnTo>
                    <a:pt x="0" y="227492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50000">
                  <a:srgbClr val="FCFDFE">
                    <a:alpha val="100000"/>
                  </a:srgbClr>
                </a:gs>
                <a:gs pos="100000">
                  <a:srgbClr val="FCFDF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264494" cy="275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9816839" y="7874056"/>
            <a:ext cx="4895850" cy="67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</a:t>
            </a:r>
            <a:r>
              <a:rPr lang="en-US" sz="1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charts and graphics to make complex information accessible.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816839" y="7448972"/>
            <a:ext cx="3356236" cy="30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0"/>
              </a:lnSpc>
            </a:pPr>
            <a:r>
              <a:rPr lang="en-US" sz="21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Visual Storytelling</a:t>
            </a:r>
          </a:p>
        </p:txBody>
      </p:sp>
    </p:spTree>
  </p:cSld>
  <p:clrMapOvr>
    <a:masterClrMapping/>
  </p:clrMapOvr>
  <p:transition spd="fast">
    <p:wipe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76700" y="2019440"/>
            <a:ext cx="101346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667198"/>
                </a:solidFill>
                <a:latin typeface="Canva Sans"/>
                <a:ea typeface="Canva Sans"/>
                <a:cs typeface="Canva Sans"/>
                <a:sym typeface="Canva Sans"/>
              </a:rPr>
              <a:t>Sequential approach to trans</a:t>
            </a:r>
            <a:r>
              <a:rPr lang="en-US" sz="1800">
                <a:solidFill>
                  <a:srgbClr val="667198"/>
                </a:solidFill>
                <a:latin typeface="Canva Sans"/>
                <a:ea typeface="Canva Sans"/>
                <a:cs typeface="Canva Sans"/>
                <a:sym typeface="Canva Sans"/>
              </a:rPr>
              <a:t>form strategic vision into operational reality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90248" y="1180170"/>
            <a:ext cx="13107504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Implementation Roadmap Structure</a:t>
            </a:r>
          </a:p>
        </p:txBody>
      </p:sp>
      <p:sp>
        <p:nvSpPr>
          <p:cNvPr name="AutoShape 4" id="4"/>
          <p:cNvSpPr/>
          <p:nvPr/>
        </p:nvSpPr>
        <p:spPr>
          <a:xfrm>
            <a:off x="-134590" y="5871314"/>
            <a:ext cx="18576230" cy="18680"/>
          </a:xfrm>
          <a:prstGeom prst="line">
            <a:avLst/>
          </a:prstGeom>
          <a:ln cap="rnd" w="66675">
            <a:gradFill>
              <a:gsLst>
                <a:gs pos="0">
                  <a:srgbClr val="6AD572">
                    <a:alpha val="100000"/>
                  </a:srgbClr>
                </a:gs>
                <a:gs pos="100000">
                  <a:srgbClr val="65A6FE">
                    <a:alpha val="100000"/>
                  </a:srgbClr>
                </a:gs>
              </a:gsLst>
              <a:lin ang="0"/>
            </a:gradFill>
            <a:prstDash val="sysDot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142448" y="6508092"/>
            <a:ext cx="2895600" cy="1232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Estab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lish team structure, governance processes, and success measurement frameworks.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3527275"/>
            <a:ext cx="3123096" cy="2334514"/>
          </a:xfrm>
          <a:custGeom>
            <a:avLst/>
            <a:gdLst/>
            <a:ahLst/>
            <a:cxnLst/>
            <a:rect r="r" b="b" t="t" l="l"/>
            <a:pathLst>
              <a:path h="2334514" w="3123096">
                <a:moveTo>
                  <a:pt x="0" y="0"/>
                </a:moveTo>
                <a:lnTo>
                  <a:pt x="3123096" y="0"/>
                </a:lnTo>
                <a:lnTo>
                  <a:pt x="3123096" y="2334514"/>
                </a:lnTo>
                <a:lnTo>
                  <a:pt x="0" y="2334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344635" y="3646407"/>
            <a:ext cx="2491227" cy="1862192"/>
          </a:xfrm>
          <a:custGeom>
            <a:avLst/>
            <a:gdLst/>
            <a:ahLst/>
            <a:cxnLst/>
            <a:rect r="r" b="b" t="t" l="l"/>
            <a:pathLst>
              <a:path h="1862192" w="2491227">
                <a:moveTo>
                  <a:pt x="0" y="0"/>
                </a:moveTo>
                <a:lnTo>
                  <a:pt x="2491226" y="0"/>
                </a:lnTo>
                <a:lnTo>
                  <a:pt x="2491226" y="1862192"/>
                </a:lnTo>
                <a:lnTo>
                  <a:pt x="0" y="1862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44635" y="3598782"/>
            <a:ext cx="2491227" cy="1862192"/>
          </a:xfrm>
          <a:custGeom>
            <a:avLst/>
            <a:gdLst/>
            <a:ahLst/>
            <a:cxnLst/>
            <a:rect r="r" b="b" t="t" l="l"/>
            <a:pathLst>
              <a:path h="1862192" w="2491227">
                <a:moveTo>
                  <a:pt x="0" y="0"/>
                </a:moveTo>
                <a:lnTo>
                  <a:pt x="2491226" y="0"/>
                </a:lnTo>
                <a:lnTo>
                  <a:pt x="2491226" y="1862192"/>
                </a:lnTo>
                <a:lnTo>
                  <a:pt x="0" y="18621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43777" y="4606505"/>
            <a:ext cx="2292942" cy="54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Foundation Building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80784" y="6508092"/>
            <a:ext cx="2895600" cy="91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Execut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primary initiatives that drive significant progress toward goals.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767036" y="3527275"/>
            <a:ext cx="3123096" cy="2334514"/>
          </a:xfrm>
          <a:custGeom>
            <a:avLst/>
            <a:gdLst/>
            <a:ahLst/>
            <a:cxnLst/>
            <a:rect r="r" b="b" t="t" l="l"/>
            <a:pathLst>
              <a:path h="2334514" w="3123096">
                <a:moveTo>
                  <a:pt x="0" y="0"/>
                </a:moveTo>
                <a:lnTo>
                  <a:pt x="3123096" y="0"/>
                </a:lnTo>
                <a:lnTo>
                  <a:pt x="3123096" y="2334514"/>
                </a:lnTo>
                <a:lnTo>
                  <a:pt x="0" y="2334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0082971" y="3646407"/>
            <a:ext cx="2491227" cy="1862192"/>
          </a:xfrm>
          <a:custGeom>
            <a:avLst/>
            <a:gdLst/>
            <a:ahLst/>
            <a:cxnLst/>
            <a:rect r="r" b="b" t="t" l="l"/>
            <a:pathLst>
              <a:path h="1862192" w="2491227">
                <a:moveTo>
                  <a:pt x="0" y="0"/>
                </a:moveTo>
                <a:lnTo>
                  <a:pt x="2491226" y="0"/>
                </a:lnTo>
                <a:lnTo>
                  <a:pt x="2491226" y="1862192"/>
                </a:lnTo>
                <a:lnTo>
                  <a:pt x="0" y="18621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082971" y="3598782"/>
            <a:ext cx="2491227" cy="1862192"/>
          </a:xfrm>
          <a:custGeom>
            <a:avLst/>
            <a:gdLst/>
            <a:ahLst/>
            <a:cxnLst/>
            <a:rect r="r" b="b" t="t" l="l"/>
            <a:pathLst>
              <a:path h="1862192" w="2491227">
                <a:moveTo>
                  <a:pt x="0" y="0"/>
                </a:moveTo>
                <a:lnTo>
                  <a:pt x="2491226" y="0"/>
                </a:lnTo>
                <a:lnTo>
                  <a:pt x="2491226" y="1862192"/>
                </a:lnTo>
                <a:lnTo>
                  <a:pt x="0" y="18621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182113" y="4620755"/>
            <a:ext cx="2292942" cy="52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8"/>
              </a:lnSpc>
            </a:pPr>
            <a:r>
              <a:rPr lang="en-US" sz="1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Core</a:t>
            </a:r>
          </a:p>
          <a:p>
            <a:pPr algn="ctr">
              <a:lnSpc>
                <a:spcPts val="2100"/>
              </a:lnSpc>
            </a:pPr>
            <a:r>
              <a:rPr lang="en-US" sz="1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Development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11616" y="4225036"/>
            <a:ext cx="2895600" cy="91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liver early results that build momentum and demonstrate value.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-10800000">
            <a:off x="5397868" y="6145202"/>
            <a:ext cx="3123096" cy="2334514"/>
          </a:xfrm>
          <a:custGeom>
            <a:avLst/>
            <a:gdLst/>
            <a:ahLst/>
            <a:cxnLst/>
            <a:rect r="r" b="b" t="t" l="l"/>
            <a:pathLst>
              <a:path h="2334514" w="3123096">
                <a:moveTo>
                  <a:pt x="0" y="0"/>
                </a:moveTo>
                <a:lnTo>
                  <a:pt x="3123096" y="0"/>
                </a:lnTo>
                <a:lnTo>
                  <a:pt x="3123096" y="2334514"/>
                </a:lnTo>
                <a:lnTo>
                  <a:pt x="0" y="233451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24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-10800000">
            <a:off x="5713803" y="6293909"/>
            <a:ext cx="2491227" cy="1862192"/>
          </a:xfrm>
          <a:custGeom>
            <a:avLst/>
            <a:gdLst/>
            <a:ahLst/>
            <a:cxnLst/>
            <a:rect r="r" b="b" t="t" l="l"/>
            <a:pathLst>
              <a:path h="1862192" w="2491227">
                <a:moveTo>
                  <a:pt x="0" y="0"/>
                </a:moveTo>
                <a:lnTo>
                  <a:pt x="2491226" y="0"/>
                </a:lnTo>
                <a:lnTo>
                  <a:pt x="2491226" y="1862192"/>
                </a:lnTo>
                <a:lnTo>
                  <a:pt x="0" y="18621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10800000">
            <a:off x="5713803" y="6236759"/>
            <a:ext cx="2491227" cy="1862192"/>
          </a:xfrm>
          <a:custGeom>
            <a:avLst/>
            <a:gdLst/>
            <a:ahLst/>
            <a:cxnLst/>
            <a:rect r="r" b="b" t="t" l="l"/>
            <a:pathLst>
              <a:path h="1862192" w="2491227">
                <a:moveTo>
                  <a:pt x="0" y="0"/>
                </a:moveTo>
                <a:lnTo>
                  <a:pt x="2491226" y="0"/>
                </a:lnTo>
                <a:lnTo>
                  <a:pt x="2491226" y="1862192"/>
                </a:lnTo>
                <a:lnTo>
                  <a:pt x="0" y="186219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812945" y="6685602"/>
            <a:ext cx="2292942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Quick Wins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49952" y="4225036"/>
            <a:ext cx="2895600" cy="91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efine processes, scale successful elements, and prepare for growth.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-10800000">
            <a:off x="14136204" y="6145202"/>
            <a:ext cx="3123096" cy="2334514"/>
          </a:xfrm>
          <a:custGeom>
            <a:avLst/>
            <a:gdLst/>
            <a:ahLst/>
            <a:cxnLst/>
            <a:rect r="r" b="b" t="t" l="l"/>
            <a:pathLst>
              <a:path h="2334514" w="3123096">
                <a:moveTo>
                  <a:pt x="0" y="0"/>
                </a:moveTo>
                <a:lnTo>
                  <a:pt x="3123096" y="0"/>
                </a:lnTo>
                <a:lnTo>
                  <a:pt x="3123096" y="2334514"/>
                </a:lnTo>
                <a:lnTo>
                  <a:pt x="0" y="233451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24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-10800000">
            <a:off x="14452139" y="6293909"/>
            <a:ext cx="2491227" cy="1862192"/>
          </a:xfrm>
          <a:custGeom>
            <a:avLst/>
            <a:gdLst/>
            <a:ahLst/>
            <a:cxnLst/>
            <a:rect r="r" b="b" t="t" l="l"/>
            <a:pathLst>
              <a:path h="1862192" w="2491227">
                <a:moveTo>
                  <a:pt x="0" y="0"/>
                </a:moveTo>
                <a:lnTo>
                  <a:pt x="2491226" y="0"/>
                </a:lnTo>
                <a:lnTo>
                  <a:pt x="2491226" y="1862192"/>
                </a:lnTo>
                <a:lnTo>
                  <a:pt x="0" y="186219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10800000">
            <a:off x="14452139" y="6236759"/>
            <a:ext cx="2491227" cy="1862192"/>
          </a:xfrm>
          <a:custGeom>
            <a:avLst/>
            <a:gdLst/>
            <a:ahLst/>
            <a:cxnLst/>
            <a:rect r="r" b="b" t="t" l="l"/>
            <a:pathLst>
              <a:path h="1862192" w="2491227">
                <a:moveTo>
                  <a:pt x="0" y="0"/>
                </a:moveTo>
                <a:lnTo>
                  <a:pt x="2491226" y="0"/>
                </a:lnTo>
                <a:lnTo>
                  <a:pt x="2491226" y="1862192"/>
                </a:lnTo>
                <a:lnTo>
                  <a:pt x="0" y="186219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4551281" y="6566502"/>
            <a:ext cx="2292942" cy="52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8"/>
              </a:lnSpc>
            </a:pPr>
            <a:r>
              <a:rPr lang="en-US" sz="1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Optimization</a:t>
            </a:r>
          </a:p>
          <a:p>
            <a:pPr algn="ctr">
              <a:lnSpc>
                <a:spcPts val="2100"/>
              </a:lnSpc>
            </a:pPr>
            <a:r>
              <a:rPr lang="en-US" sz="1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Phase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2449628" y="5723631"/>
            <a:ext cx="281240" cy="327261"/>
            <a:chOff x="0" y="0"/>
            <a:chExt cx="6985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6AD57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40854" lIns="40854" bIns="40854" rIns="40854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820769" y="5725926"/>
            <a:ext cx="277295" cy="322670"/>
            <a:chOff x="0" y="0"/>
            <a:chExt cx="6985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56AB9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40854" lIns="40854" bIns="40854" rIns="40854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189937" y="5725926"/>
            <a:ext cx="277295" cy="322670"/>
            <a:chOff x="0" y="0"/>
            <a:chExt cx="6985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65B3C4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40854" lIns="40854" bIns="40854" rIns="40854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5559105" y="5725926"/>
            <a:ext cx="277295" cy="322670"/>
            <a:chOff x="0" y="0"/>
            <a:chExt cx="6985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65A6FE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40854" lIns="40854" bIns="40854" rIns="40854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2389304" y="3841593"/>
            <a:ext cx="401888" cy="438623"/>
          </a:xfrm>
          <a:custGeom>
            <a:avLst/>
            <a:gdLst/>
            <a:ahLst/>
            <a:cxnLst/>
            <a:rect r="r" b="b" t="t" l="l"/>
            <a:pathLst>
              <a:path h="438623" w="401888">
                <a:moveTo>
                  <a:pt x="0" y="0"/>
                </a:moveTo>
                <a:lnTo>
                  <a:pt x="401888" y="0"/>
                </a:lnTo>
                <a:lnTo>
                  <a:pt x="401888" y="438623"/>
                </a:lnTo>
                <a:lnTo>
                  <a:pt x="0" y="43862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6758689" y="7426556"/>
            <a:ext cx="401455" cy="438150"/>
          </a:xfrm>
          <a:custGeom>
            <a:avLst/>
            <a:gdLst/>
            <a:ahLst/>
            <a:cxnLst/>
            <a:rect r="r" b="b" t="t" l="l"/>
            <a:pathLst>
              <a:path h="438150" w="401455">
                <a:moveTo>
                  <a:pt x="0" y="0"/>
                </a:moveTo>
                <a:lnTo>
                  <a:pt x="401454" y="0"/>
                </a:lnTo>
                <a:lnTo>
                  <a:pt x="401454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5478677" y="7426556"/>
            <a:ext cx="438150" cy="438150"/>
          </a:xfrm>
          <a:custGeom>
            <a:avLst/>
            <a:gdLst/>
            <a:ahLst/>
            <a:cxnLst/>
            <a:rect r="r" b="b" t="t" l="l"/>
            <a:pathLst>
              <a:path h="438150" w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1109272" y="3841593"/>
            <a:ext cx="438623" cy="438623"/>
          </a:xfrm>
          <a:custGeom>
            <a:avLst/>
            <a:gdLst/>
            <a:ahLst/>
            <a:cxnLst/>
            <a:rect r="r" b="b" t="t" l="l"/>
            <a:pathLst>
              <a:path h="438623" w="438623">
                <a:moveTo>
                  <a:pt x="0" y="0"/>
                </a:moveTo>
                <a:lnTo>
                  <a:pt x="438623" y="0"/>
                </a:lnTo>
                <a:lnTo>
                  <a:pt x="438623" y="438623"/>
                </a:lnTo>
                <a:lnTo>
                  <a:pt x="0" y="438623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wipe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9600" y="3329753"/>
            <a:ext cx="5111802" cy="511180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25000">
                  <a:srgbClr val="FFFFFF">
                    <a:alpha val="100000"/>
                  </a:srgbClr>
                </a:gs>
                <a:gs pos="50000">
                  <a:srgbClr val="FFFFFF">
                    <a:alpha val="0"/>
                  </a:srgbClr>
                </a:gs>
                <a:gs pos="75000">
                  <a:srgbClr val="FCFDFE">
                    <a:alpha val="0"/>
                  </a:srgbClr>
                </a:gs>
                <a:gs pos="100000">
                  <a:srgbClr val="FCFDFE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4636154" y="2638309"/>
            <a:ext cx="5111802" cy="6494689"/>
            <a:chOff x="0" y="0"/>
            <a:chExt cx="1168896" cy="14851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68896" cy="1485116"/>
            </a:xfrm>
            <a:custGeom>
              <a:avLst/>
              <a:gdLst/>
              <a:ahLst/>
              <a:cxnLst/>
              <a:rect r="r" b="b" t="t" l="l"/>
              <a:pathLst>
                <a:path h="1485116" w="1168896">
                  <a:moveTo>
                    <a:pt x="584448" y="0"/>
                  </a:moveTo>
                  <a:lnTo>
                    <a:pt x="1168896" y="1485116"/>
                  </a:lnTo>
                  <a:lnTo>
                    <a:pt x="0" y="1485116"/>
                  </a:lnTo>
                  <a:lnTo>
                    <a:pt x="584448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6AD572">
                    <a:alpha val="100000"/>
                  </a:srgbClr>
                </a:gs>
                <a:gs pos="100000">
                  <a:srgbClr val="6AD572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82640" y="641893"/>
              <a:ext cx="803616" cy="737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8540044" y="2638309"/>
            <a:ext cx="5111802" cy="6494689"/>
            <a:chOff x="0" y="0"/>
            <a:chExt cx="1168896" cy="14851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68896" cy="1485116"/>
            </a:xfrm>
            <a:custGeom>
              <a:avLst/>
              <a:gdLst/>
              <a:ahLst/>
              <a:cxnLst/>
              <a:rect r="r" b="b" t="t" l="l"/>
              <a:pathLst>
                <a:path h="1485116" w="1168896">
                  <a:moveTo>
                    <a:pt x="584448" y="0"/>
                  </a:moveTo>
                  <a:lnTo>
                    <a:pt x="1168896" y="1485116"/>
                  </a:lnTo>
                  <a:lnTo>
                    <a:pt x="0" y="1485116"/>
                  </a:lnTo>
                  <a:lnTo>
                    <a:pt x="584448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65A6FE">
                    <a:alpha val="100000"/>
                  </a:srgbClr>
                </a:gs>
                <a:gs pos="100000">
                  <a:srgbClr val="65A6F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182640" y="641893"/>
              <a:ext cx="803616" cy="737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12566598" y="3329753"/>
            <a:ext cx="5111802" cy="511180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25000">
                  <a:srgbClr val="FFFFFF">
                    <a:alpha val="100000"/>
                  </a:srgbClr>
                </a:gs>
                <a:gs pos="50000">
                  <a:srgbClr val="FFFFFF">
                    <a:alpha val="0"/>
                  </a:srgbClr>
                </a:gs>
                <a:gs pos="75000">
                  <a:srgbClr val="FCFDFE">
                    <a:alpha val="0"/>
                  </a:srgbClr>
                </a:gs>
                <a:gs pos="100000">
                  <a:srgbClr val="FCFDFE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918320" y="3622517"/>
            <a:ext cx="4451359" cy="445135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E9EBF4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209324" y="3950977"/>
            <a:ext cx="3869352" cy="386935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BF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7410954" y="4428548"/>
            <a:ext cx="3466093" cy="3466093"/>
          </a:xfrm>
          <a:custGeom>
            <a:avLst/>
            <a:gdLst/>
            <a:ahLst/>
            <a:cxnLst/>
            <a:rect r="r" b="b" t="t" l="l"/>
            <a:pathLst>
              <a:path h="3466093" w="3466093">
                <a:moveTo>
                  <a:pt x="0" y="0"/>
                </a:moveTo>
                <a:lnTo>
                  <a:pt x="3466092" y="0"/>
                </a:lnTo>
                <a:lnTo>
                  <a:pt x="3466092" y="3466093"/>
                </a:lnTo>
                <a:lnTo>
                  <a:pt x="0" y="34660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1" id="21"/>
          <p:cNvGrpSpPr/>
          <p:nvPr/>
        </p:nvGrpSpPr>
        <p:grpSpPr>
          <a:xfrm rot="0">
            <a:off x="7673072" y="4509976"/>
            <a:ext cx="2941856" cy="2941856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BF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673072" y="4414726"/>
            <a:ext cx="2941856" cy="2941856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023748" y="4727945"/>
            <a:ext cx="2240504" cy="2240504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19075" cap="sq">
              <a:gradFill>
                <a:gsLst>
                  <a:gs pos="0">
                    <a:srgbClr val="6AD572">
                      <a:alpha val="100000"/>
                    </a:srgbClr>
                  </a:gs>
                  <a:gs pos="100000">
                    <a:srgbClr val="65A6F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4076700" y="2019440"/>
            <a:ext cx="101346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667198"/>
                </a:solidFill>
                <a:latin typeface="Canva Sans"/>
                <a:ea typeface="Canva Sans"/>
                <a:cs typeface="Canva Sans"/>
                <a:sym typeface="Canva Sans"/>
              </a:rPr>
              <a:t>Compare conventional and flexible approaches</a:t>
            </a:r>
            <a:r>
              <a:rPr lang="en-US" sz="1800">
                <a:solidFill>
                  <a:srgbClr val="667198"/>
                </a:solidFill>
                <a:latin typeface="Canva Sans"/>
                <a:ea typeface="Canva Sans"/>
                <a:cs typeface="Canva Sans"/>
                <a:sym typeface="Canva Sans"/>
              </a:rPr>
              <a:t> to project roadmap development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825075" y="1180170"/>
            <a:ext cx="12637850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Traditional vs Agile Roadmaps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349347" y="5529418"/>
            <a:ext cx="1589306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800">
                <a:solidFill>
                  <a:srgbClr val="667198"/>
                </a:solidFill>
                <a:latin typeface="Gotham"/>
                <a:ea typeface="Gotham"/>
                <a:cs typeface="Gotham"/>
                <a:sym typeface="Gotham"/>
              </a:rPr>
              <a:t>vs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64651" y="6661912"/>
            <a:ext cx="4648200" cy="67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Sequ</a:t>
            </a:r>
            <a:r>
              <a:rPr lang="en-US" sz="1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ential task completion following predetermined order and strict timelines.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64651" y="4800497"/>
            <a:ext cx="4648200" cy="67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1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etailed upfront planning with minimal changes throughout project lifecycle.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170128" y="6661912"/>
            <a:ext cx="4648200" cy="67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8"/>
              </a:lnSpc>
            </a:pPr>
            <a:r>
              <a:rPr lang="en-US" sz="1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Continuous improvement cycles with regular adjustments based on results.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170128" y="4800497"/>
            <a:ext cx="4648200" cy="67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8"/>
              </a:lnSpc>
            </a:pPr>
            <a:r>
              <a:rPr lang="en-US" sz="1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</a:t>
            </a:r>
            <a:r>
              <a:rPr lang="en-US" sz="1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erative planning that responds to feedback and changing market conditions.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64651" y="6309013"/>
            <a:ext cx="4343400" cy="30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0"/>
              </a:lnSpc>
            </a:pPr>
            <a:r>
              <a:rPr lang="en-US" sz="21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Linear Execution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64651" y="4447598"/>
            <a:ext cx="4343400" cy="30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0"/>
              </a:lnSpc>
            </a:pPr>
            <a:r>
              <a:rPr lang="en-US" sz="21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Fixed Planning</a:t>
            </a:r>
          </a:p>
        </p:txBody>
      </p:sp>
      <p:sp>
        <p:nvSpPr>
          <p:cNvPr name="TextBox 39" id="39"/>
          <p:cNvSpPr txBox="true"/>
          <p:nvPr/>
        </p:nvSpPr>
        <p:spPr>
          <a:xfrm rot="1309066">
            <a:off x="4431630" y="3690084"/>
            <a:ext cx="3316482" cy="235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6"/>
              </a:lnSpc>
            </a:pPr>
            <a:r>
              <a:rPr lang="en-US" sz="1600">
                <a:solidFill>
                  <a:srgbClr val="667198"/>
                </a:solidFill>
                <a:latin typeface="Gotham"/>
                <a:ea typeface="Gotham"/>
                <a:cs typeface="Gotham"/>
                <a:sym typeface="Gotham"/>
              </a:rPr>
              <a:t>Traditional Approach</a:t>
            </a:r>
          </a:p>
        </p:txBody>
      </p:sp>
      <p:sp>
        <p:nvSpPr>
          <p:cNvPr name="TextBox 40" id="40"/>
          <p:cNvSpPr txBox="true"/>
          <p:nvPr/>
        </p:nvSpPr>
        <p:spPr>
          <a:xfrm rot="-1308000">
            <a:off x="10540045" y="3690548"/>
            <a:ext cx="3316482" cy="235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6"/>
              </a:lnSpc>
            </a:pPr>
            <a:r>
              <a:rPr lang="en-US" sz="1600">
                <a:solidFill>
                  <a:srgbClr val="667198"/>
                </a:solidFill>
                <a:latin typeface="Gotham"/>
                <a:ea typeface="Gotham"/>
                <a:cs typeface="Gotham"/>
                <a:sym typeface="Gotham"/>
              </a:rPr>
              <a:t>Agile Approach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474928" y="6309013"/>
            <a:ext cx="4343400" cy="30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50"/>
              </a:lnSpc>
            </a:pPr>
            <a:r>
              <a:rPr lang="en-US" sz="21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Flexible Delivery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474928" y="4447598"/>
            <a:ext cx="4343400" cy="30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50"/>
              </a:lnSpc>
            </a:pPr>
            <a:r>
              <a:rPr lang="en-US" sz="21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Adaptive Planning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6627201" y="4727945"/>
            <a:ext cx="819470" cy="966930"/>
            <a:chOff x="0" y="0"/>
            <a:chExt cx="1092627" cy="128924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198600"/>
              <a:ext cx="1092627" cy="1090641"/>
            </a:xfrm>
            <a:custGeom>
              <a:avLst/>
              <a:gdLst/>
              <a:ahLst/>
              <a:cxnLst/>
              <a:rect r="r" b="b" t="t" l="l"/>
              <a:pathLst>
                <a:path h="1090641" w="1092627">
                  <a:moveTo>
                    <a:pt x="0" y="0"/>
                  </a:moveTo>
                  <a:lnTo>
                    <a:pt x="1092627" y="0"/>
                  </a:lnTo>
                  <a:lnTo>
                    <a:pt x="1092627" y="1090641"/>
                  </a:lnTo>
                  <a:lnTo>
                    <a:pt x="0" y="1090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0" t="0" r="0" b="0"/>
              </a:stretch>
            </a:blipFill>
          </p:spPr>
        </p:sp>
        <p:grpSp>
          <p:nvGrpSpPr>
            <p:cNvPr name="Group 45" id="45"/>
            <p:cNvGrpSpPr/>
            <p:nvPr/>
          </p:nvGrpSpPr>
          <p:grpSpPr>
            <a:xfrm rot="0">
              <a:off x="41073" y="80317"/>
              <a:ext cx="1010481" cy="1010481"/>
              <a:chOff x="0" y="0"/>
              <a:chExt cx="812800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EBF4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36939" lIns="36939" bIns="36939" rIns="36939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41073" y="0"/>
              <a:ext cx="1010481" cy="1010481"/>
              <a:chOff x="0" y="0"/>
              <a:chExt cx="812800" cy="8128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CFDFE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36939" lIns="36939" bIns="36939" rIns="36939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</p:grpSp>
      <p:grpSp>
        <p:nvGrpSpPr>
          <p:cNvPr name="Group 51" id="51"/>
          <p:cNvGrpSpPr/>
          <p:nvPr/>
        </p:nvGrpSpPr>
        <p:grpSpPr>
          <a:xfrm rot="0">
            <a:off x="10843528" y="4727945"/>
            <a:ext cx="819470" cy="966930"/>
            <a:chOff x="0" y="0"/>
            <a:chExt cx="1092627" cy="128924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198600"/>
              <a:ext cx="1092627" cy="1090641"/>
            </a:xfrm>
            <a:custGeom>
              <a:avLst/>
              <a:gdLst/>
              <a:ahLst/>
              <a:cxnLst/>
              <a:rect r="r" b="b" t="t" l="l"/>
              <a:pathLst>
                <a:path h="1090641" w="1092627">
                  <a:moveTo>
                    <a:pt x="0" y="0"/>
                  </a:moveTo>
                  <a:lnTo>
                    <a:pt x="1092627" y="0"/>
                  </a:lnTo>
                  <a:lnTo>
                    <a:pt x="1092627" y="1090641"/>
                  </a:lnTo>
                  <a:lnTo>
                    <a:pt x="0" y="1090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0" t="0" r="0" b="0"/>
              </a:stretch>
            </a:blipFill>
          </p:spPr>
        </p:sp>
        <p:grpSp>
          <p:nvGrpSpPr>
            <p:cNvPr name="Group 53" id="53"/>
            <p:cNvGrpSpPr/>
            <p:nvPr/>
          </p:nvGrpSpPr>
          <p:grpSpPr>
            <a:xfrm rot="0">
              <a:off x="41073" y="80317"/>
              <a:ext cx="1010481" cy="1010481"/>
              <a:chOff x="0" y="0"/>
              <a:chExt cx="812800" cy="8128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EBF4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36939" lIns="36939" bIns="36939" rIns="36939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0">
              <a:off x="41073" y="0"/>
              <a:ext cx="1010481" cy="1010481"/>
              <a:chOff x="0" y="0"/>
              <a:chExt cx="812800" cy="812800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CFDFE"/>
              </a:solidFill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36939" lIns="36939" bIns="36939" rIns="36939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</p:grpSp>
      <p:grpSp>
        <p:nvGrpSpPr>
          <p:cNvPr name="Group 59" id="59"/>
          <p:cNvGrpSpPr/>
          <p:nvPr/>
        </p:nvGrpSpPr>
        <p:grpSpPr>
          <a:xfrm rot="0">
            <a:off x="6627201" y="6226072"/>
            <a:ext cx="819470" cy="966930"/>
            <a:chOff x="0" y="0"/>
            <a:chExt cx="1092627" cy="128924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198600"/>
              <a:ext cx="1092627" cy="1090641"/>
            </a:xfrm>
            <a:custGeom>
              <a:avLst/>
              <a:gdLst/>
              <a:ahLst/>
              <a:cxnLst/>
              <a:rect r="r" b="b" t="t" l="l"/>
              <a:pathLst>
                <a:path h="1090641" w="1092627">
                  <a:moveTo>
                    <a:pt x="0" y="0"/>
                  </a:moveTo>
                  <a:lnTo>
                    <a:pt x="1092627" y="0"/>
                  </a:lnTo>
                  <a:lnTo>
                    <a:pt x="1092627" y="1090641"/>
                  </a:lnTo>
                  <a:lnTo>
                    <a:pt x="0" y="1090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0" t="0" r="0" b="0"/>
              </a:stretch>
            </a:blipFill>
          </p:spPr>
        </p:sp>
        <p:grpSp>
          <p:nvGrpSpPr>
            <p:cNvPr name="Group 61" id="61"/>
            <p:cNvGrpSpPr/>
            <p:nvPr/>
          </p:nvGrpSpPr>
          <p:grpSpPr>
            <a:xfrm rot="0">
              <a:off x="41073" y="80317"/>
              <a:ext cx="1010481" cy="1010481"/>
              <a:chOff x="0" y="0"/>
              <a:chExt cx="812800" cy="8128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EBF4"/>
              </a:solid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36939" lIns="36939" bIns="36939" rIns="36939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41073" y="0"/>
              <a:ext cx="1010481" cy="1010481"/>
              <a:chOff x="0" y="0"/>
              <a:chExt cx="812800" cy="81280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CFDFE"/>
              </a:solidFill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36939" lIns="36939" bIns="36939" rIns="36939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</p:grpSp>
      <p:grpSp>
        <p:nvGrpSpPr>
          <p:cNvPr name="Group 67" id="67"/>
          <p:cNvGrpSpPr/>
          <p:nvPr/>
        </p:nvGrpSpPr>
        <p:grpSpPr>
          <a:xfrm rot="0">
            <a:off x="10843528" y="6226072"/>
            <a:ext cx="819470" cy="966930"/>
            <a:chOff x="0" y="0"/>
            <a:chExt cx="1092627" cy="128924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198600"/>
              <a:ext cx="1092627" cy="1090641"/>
            </a:xfrm>
            <a:custGeom>
              <a:avLst/>
              <a:gdLst/>
              <a:ahLst/>
              <a:cxnLst/>
              <a:rect r="r" b="b" t="t" l="l"/>
              <a:pathLst>
                <a:path h="1090641" w="1092627">
                  <a:moveTo>
                    <a:pt x="0" y="0"/>
                  </a:moveTo>
                  <a:lnTo>
                    <a:pt x="1092627" y="0"/>
                  </a:lnTo>
                  <a:lnTo>
                    <a:pt x="1092627" y="1090641"/>
                  </a:lnTo>
                  <a:lnTo>
                    <a:pt x="0" y="1090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0" t="0" r="0" b="0"/>
              </a:stretch>
            </a:blipFill>
          </p:spPr>
        </p:sp>
        <p:grpSp>
          <p:nvGrpSpPr>
            <p:cNvPr name="Group 69" id="69"/>
            <p:cNvGrpSpPr/>
            <p:nvPr/>
          </p:nvGrpSpPr>
          <p:grpSpPr>
            <a:xfrm rot="0">
              <a:off x="41073" y="80317"/>
              <a:ext cx="1010481" cy="1010481"/>
              <a:chOff x="0" y="0"/>
              <a:chExt cx="812800" cy="812800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EBF4"/>
              </a:solidFill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36939" lIns="36939" bIns="36939" rIns="36939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  <p:grpSp>
          <p:nvGrpSpPr>
            <p:cNvPr name="Group 72" id="72"/>
            <p:cNvGrpSpPr/>
            <p:nvPr/>
          </p:nvGrpSpPr>
          <p:grpSpPr>
            <a:xfrm rot="0">
              <a:off x="41073" y="0"/>
              <a:ext cx="1010481" cy="1010481"/>
              <a:chOff x="0" y="0"/>
              <a:chExt cx="812800" cy="812800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CFDFE"/>
              </a:solidFill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36939" lIns="36939" bIns="36939" rIns="36939"/>
              <a:lstStyle/>
              <a:p>
                <a:pPr algn="ctr">
                  <a:lnSpc>
                    <a:spcPts val="2488"/>
                  </a:lnSpc>
                </a:pPr>
              </a:p>
            </p:txBody>
          </p:sp>
        </p:grpSp>
      </p:grpSp>
      <p:sp>
        <p:nvSpPr>
          <p:cNvPr name="Freeform 75" id="75"/>
          <p:cNvSpPr/>
          <p:nvPr/>
        </p:nvSpPr>
        <p:spPr>
          <a:xfrm flipH="false" flipV="false" rot="0">
            <a:off x="6817625" y="4868037"/>
            <a:ext cx="438623" cy="438623"/>
          </a:xfrm>
          <a:custGeom>
            <a:avLst/>
            <a:gdLst/>
            <a:ahLst/>
            <a:cxnLst/>
            <a:rect r="r" b="b" t="t" l="l"/>
            <a:pathLst>
              <a:path h="438623" w="438623">
                <a:moveTo>
                  <a:pt x="0" y="0"/>
                </a:moveTo>
                <a:lnTo>
                  <a:pt x="438623" y="0"/>
                </a:lnTo>
                <a:lnTo>
                  <a:pt x="438623" y="438623"/>
                </a:lnTo>
                <a:lnTo>
                  <a:pt x="0" y="4386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6817625" y="6393866"/>
            <a:ext cx="438623" cy="438623"/>
          </a:xfrm>
          <a:custGeom>
            <a:avLst/>
            <a:gdLst/>
            <a:ahLst/>
            <a:cxnLst/>
            <a:rect r="r" b="b" t="t" l="l"/>
            <a:pathLst>
              <a:path h="438623" w="438623">
                <a:moveTo>
                  <a:pt x="0" y="0"/>
                </a:moveTo>
                <a:lnTo>
                  <a:pt x="438623" y="0"/>
                </a:lnTo>
                <a:lnTo>
                  <a:pt x="438623" y="438623"/>
                </a:lnTo>
                <a:lnTo>
                  <a:pt x="0" y="4386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11053055" y="4895613"/>
            <a:ext cx="438623" cy="438623"/>
          </a:xfrm>
          <a:custGeom>
            <a:avLst/>
            <a:gdLst/>
            <a:ahLst/>
            <a:cxnLst/>
            <a:rect r="r" b="b" t="t" l="l"/>
            <a:pathLst>
              <a:path h="438623" w="438623">
                <a:moveTo>
                  <a:pt x="0" y="0"/>
                </a:moveTo>
                <a:lnTo>
                  <a:pt x="438623" y="0"/>
                </a:lnTo>
                <a:lnTo>
                  <a:pt x="438623" y="438624"/>
                </a:lnTo>
                <a:lnTo>
                  <a:pt x="0" y="4386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11033898" y="6412184"/>
            <a:ext cx="438730" cy="401987"/>
          </a:xfrm>
          <a:custGeom>
            <a:avLst/>
            <a:gdLst/>
            <a:ahLst/>
            <a:cxnLst/>
            <a:rect r="r" b="b" t="t" l="l"/>
            <a:pathLst>
              <a:path h="401987" w="438730">
                <a:moveTo>
                  <a:pt x="0" y="0"/>
                </a:moveTo>
                <a:lnTo>
                  <a:pt x="438730" y="0"/>
                </a:lnTo>
                <a:lnTo>
                  <a:pt x="438730" y="401987"/>
                </a:lnTo>
                <a:lnTo>
                  <a:pt x="0" y="4019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wipe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00800" y="3665460"/>
            <a:ext cx="5486400" cy="5102352"/>
          </a:xfrm>
          <a:custGeom>
            <a:avLst/>
            <a:gdLst/>
            <a:ahLst/>
            <a:cxnLst/>
            <a:rect r="r" b="b" t="t" l="l"/>
            <a:pathLst>
              <a:path h="5102352" w="5486400">
                <a:moveTo>
                  <a:pt x="0" y="0"/>
                </a:moveTo>
                <a:lnTo>
                  <a:pt x="5486400" y="0"/>
                </a:lnTo>
                <a:lnTo>
                  <a:pt x="5486400" y="5102352"/>
                </a:lnTo>
                <a:lnTo>
                  <a:pt x="0" y="5102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7632302" y="3640034"/>
            <a:ext cx="1076099" cy="1529406"/>
            <a:chOff x="0" y="0"/>
            <a:chExt cx="247481" cy="3517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7481" cy="351732"/>
            </a:xfrm>
            <a:custGeom>
              <a:avLst/>
              <a:gdLst/>
              <a:ahLst/>
              <a:cxnLst/>
              <a:rect r="r" b="b" t="t" l="l"/>
              <a:pathLst>
                <a:path h="351732" w="247481">
                  <a:moveTo>
                    <a:pt x="123740" y="0"/>
                  </a:moveTo>
                  <a:lnTo>
                    <a:pt x="247481" y="351732"/>
                  </a:lnTo>
                  <a:lnTo>
                    <a:pt x="0" y="351732"/>
                  </a:lnTo>
                  <a:lnTo>
                    <a:pt x="12374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CADBE8">
                    <a:alpha val="50000"/>
                  </a:srgbClr>
                </a:gs>
                <a:gs pos="100000">
                  <a:srgbClr val="CADBE9">
                    <a:alpha val="5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38669" y="115679"/>
              <a:ext cx="170143" cy="210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6977176" y="4831705"/>
            <a:ext cx="1076099" cy="1529406"/>
            <a:chOff x="0" y="0"/>
            <a:chExt cx="247481" cy="3517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7481" cy="351732"/>
            </a:xfrm>
            <a:custGeom>
              <a:avLst/>
              <a:gdLst/>
              <a:ahLst/>
              <a:cxnLst/>
              <a:rect r="r" b="b" t="t" l="l"/>
              <a:pathLst>
                <a:path h="351732" w="247481">
                  <a:moveTo>
                    <a:pt x="123740" y="0"/>
                  </a:moveTo>
                  <a:lnTo>
                    <a:pt x="247481" y="351732"/>
                  </a:lnTo>
                  <a:lnTo>
                    <a:pt x="0" y="351732"/>
                  </a:lnTo>
                  <a:lnTo>
                    <a:pt x="123740" y="0"/>
                  </a:lnTo>
                  <a:close/>
                </a:path>
              </a:pathLst>
            </a:custGeom>
            <a:solidFill>
              <a:srgbClr val="6AD572">
                <a:alpha val="4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38669" y="115679"/>
              <a:ext cx="170143" cy="210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6328624" y="6031629"/>
            <a:ext cx="1076099" cy="1529406"/>
            <a:chOff x="0" y="0"/>
            <a:chExt cx="247481" cy="3517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7481" cy="351732"/>
            </a:xfrm>
            <a:custGeom>
              <a:avLst/>
              <a:gdLst/>
              <a:ahLst/>
              <a:cxnLst/>
              <a:rect r="r" b="b" t="t" l="l"/>
              <a:pathLst>
                <a:path h="351732" w="247481">
                  <a:moveTo>
                    <a:pt x="123740" y="0"/>
                  </a:moveTo>
                  <a:lnTo>
                    <a:pt x="247481" y="351732"/>
                  </a:lnTo>
                  <a:lnTo>
                    <a:pt x="0" y="351732"/>
                  </a:lnTo>
                  <a:lnTo>
                    <a:pt x="123740" y="0"/>
                  </a:lnTo>
                  <a:close/>
                </a:path>
              </a:pathLst>
            </a:custGeom>
            <a:solidFill>
              <a:srgbClr val="65A6FE">
                <a:alpha val="49804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38669" y="115679"/>
              <a:ext cx="170143" cy="210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5400000">
            <a:off x="5681548" y="7241077"/>
            <a:ext cx="1076099" cy="1529406"/>
            <a:chOff x="0" y="0"/>
            <a:chExt cx="247481" cy="3517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7481" cy="351732"/>
            </a:xfrm>
            <a:custGeom>
              <a:avLst/>
              <a:gdLst/>
              <a:ahLst/>
              <a:cxnLst/>
              <a:rect r="r" b="b" t="t" l="l"/>
              <a:pathLst>
                <a:path h="351732" w="247481">
                  <a:moveTo>
                    <a:pt x="123740" y="0"/>
                  </a:moveTo>
                  <a:lnTo>
                    <a:pt x="247481" y="351732"/>
                  </a:lnTo>
                  <a:lnTo>
                    <a:pt x="0" y="351732"/>
                  </a:lnTo>
                  <a:lnTo>
                    <a:pt x="123740" y="0"/>
                  </a:lnTo>
                  <a:close/>
                </a:path>
              </a:pathLst>
            </a:custGeom>
            <a:solidFill>
              <a:srgbClr val="667198">
                <a:alpha val="49804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38669" y="115679"/>
              <a:ext cx="170143" cy="210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076700" y="2019440"/>
            <a:ext cx="101346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667198"/>
                </a:solidFill>
                <a:latin typeface="Canva Sans"/>
                <a:ea typeface="Canva Sans"/>
                <a:cs typeface="Canva Sans"/>
                <a:sym typeface="Canva Sans"/>
              </a:rPr>
              <a:t>Layered approach to building sustainable and</a:t>
            </a:r>
            <a:r>
              <a:rPr lang="en-US" sz="1800">
                <a:solidFill>
                  <a:srgbClr val="667198"/>
                </a:solidFill>
                <a:latin typeface="Canva Sans"/>
                <a:ea typeface="Canva Sans"/>
                <a:cs typeface="Canva Sans"/>
                <a:sym typeface="Canva Sans"/>
              </a:rPr>
              <a:t> effective project roadmap systems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200400" y="1180170"/>
            <a:ext cx="11887200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Roadmap Success Hierarchy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62667" y="4082831"/>
            <a:ext cx="4343400" cy="60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Ensur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all initiatives support overarching business objectives and vision.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21032" y="5284546"/>
            <a:ext cx="4343400" cy="60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lement robust methodologies for planning, tracking, and decision making.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030362" y="4261393"/>
            <a:ext cx="3356236" cy="30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0"/>
              </a:lnSpc>
            </a:pPr>
            <a:r>
              <a:rPr lang="en-US" sz="21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Strategic Alignment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378266" y="5463108"/>
            <a:ext cx="3356236" cy="30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0"/>
              </a:lnSpc>
            </a:pPr>
            <a:r>
              <a:rPr lang="en-US" sz="21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Process Excellence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258067" y="6486261"/>
            <a:ext cx="4343400" cy="60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Foster collaboration, ownership, and accountability among project participants.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30952" y="6664823"/>
            <a:ext cx="3356236" cy="30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0"/>
              </a:lnSpc>
            </a:pPr>
            <a:r>
              <a:rPr lang="en-US" sz="21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Team Engagement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15900" y="7687976"/>
            <a:ext cx="4343400" cy="60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Est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ablish feedback loops that drive improvement and knowledge sharing.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81252" y="7866538"/>
            <a:ext cx="3356236" cy="30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0"/>
              </a:lnSpc>
            </a:pPr>
            <a:r>
              <a:rPr lang="en-US" sz="21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Continuous Learning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8924688" y="6592832"/>
            <a:ext cx="438623" cy="438623"/>
          </a:xfrm>
          <a:custGeom>
            <a:avLst/>
            <a:gdLst/>
            <a:ahLst/>
            <a:cxnLst/>
            <a:rect r="r" b="b" t="t" l="l"/>
            <a:pathLst>
              <a:path h="438623" w="438623">
                <a:moveTo>
                  <a:pt x="0" y="0"/>
                </a:moveTo>
                <a:lnTo>
                  <a:pt x="438624" y="0"/>
                </a:lnTo>
                <a:lnTo>
                  <a:pt x="438624" y="438623"/>
                </a:lnTo>
                <a:lnTo>
                  <a:pt x="0" y="4386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970470" y="4251868"/>
            <a:ext cx="347060" cy="438623"/>
          </a:xfrm>
          <a:custGeom>
            <a:avLst/>
            <a:gdLst/>
            <a:ahLst/>
            <a:cxnLst/>
            <a:rect r="r" b="b" t="t" l="l"/>
            <a:pathLst>
              <a:path h="438623" w="347060">
                <a:moveTo>
                  <a:pt x="0" y="0"/>
                </a:moveTo>
                <a:lnTo>
                  <a:pt x="347060" y="0"/>
                </a:lnTo>
                <a:lnTo>
                  <a:pt x="347060" y="438623"/>
                </a:lnTo>
                <a:lnTo>
                  <a:pt x="0" y="4386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924688" y="7794547"/>
            <a:ext cx="438623" cy="438623"/>
          </a:xfrm>
          <a:custGeom>
            <a:avLst/>
            <a:gdLst/>
            <a:ahLst/>
            <a:cxnLst/>
            <a:rect r="r" b="b" t="t" l="l"/>
            <a:pathLst>
              <a:path h="438623" w="438623">
                <a:moveTo>
                  <a:pt x="0" y="0"/>
                </a:moveTo>
                <a:lnTo>
                  <a:pt x="438624" y="0"/>
                </a:lnTo>
                <a:lnTo>
                  <a:pt x="438624" y="438623"/>
                </a:lnTo>
                <a:lnTo>
                  <a:pt x="0" y="4386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924688" y="5392209"/>
            <a:ext cx="438623" cy="438623"/>
          </a:xfrm>
          <a:custGeom>
            <a:avLst/>
            <a:gdLst/>
            <a:ahLst/>
            <a:cxnLst/>
            <a:rect r="r" b="b" t="t" l="l"/>
            <a:pathLst>
              <a:path h="438623" w="438623">
                <a:moveTo>
                  <a:pt x="0" y="0"/>
                </a:moveTo>
                <a:lnTo>
                  <a:pt x="438624" y="0"/>
                </a:lnTo>
                <a:lnTo>
                  <a:pt x="438624" y="438623"/>
                </a:lnTo>
                <a:lnTo>
                  <a:pt x="0" y="4386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wipe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17844" y="542925"/>
            <a:ext cx="4060556" cy="10151390"/>
          </a:xfrm>
          <a:custGeom>
            <a:avLst/>
            <a:gdLst/>
            <a:ahLst/>
            <a:cxnLst/>
            <a:rect r="r" b="b" t="t" l="l"/>
            <a:pathLst>
              <a:path h="10151390" w="4060556">
                <a:moveTo>
                  <a:pt x="0" y="0"/>
                </a:moveTo>
                <a:lnTo>
                  <a:pt x="4060556" y="0"/>
                </a:lnTo>
                <a:lnTo>
                  <a:pt x="4060556" y="10151390"/>
                </a:lnTo>
                <a:lnTo>
                  <a:pt x="0" y="101513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5400000">
            <a:off x="-4527" y="-252072"/>
            <a:ext cx="10706309" cy="10791145"/>
            <a:chOff x="0" y="0"/>
            <a:chExt cx="2448171" cy="2467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8171" cy="2467570"/>
            </a:xfrm>
            <a:custGeom>
              <a:avLst/>
              <a:gdLst/>
              <a:ahLst/>
              <a:cxnLst/>
              <a:rect r="r" b="b" t="t" l="l"/>
              <a:pathLst>
                <a:path h="2467570" w="2448171">
                  <a:moveTo>
                    <a:pt x="1224086" y="0"/>
                  </a:moveTo>
                  <a:lnTo>
                    <a:pt x="2448171" y="2467570"/>
                  </a:lnTo>
                  <a:lnTo>
                    <a:pt x="0" y="2467570"/>
                  </a:lnTo>
                  <a:lnTo>
                    <a:pt x="1224086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6AD572">
                    <a:alpha val="0"/>
                  </a:srgbClr>
                </a:gs>
                <a:gs pos="50000">
                  <a:srgbClr val="6AD572">
                    <a:alpha val="0"/>
                  </a:srgbClr>
                </a:gs>
                <a:gs pos="100000">
                  <a:srgbClr val="6AD572">
                    <a:alpha val="305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382527" y="1098033"/>
              <a:ext cx="1683118" cy="1193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226592" y="542925"/>
            <a:ext cx="5075695" cy="10151390"/>
          </a:xfrm>
          <a:custGeom>
            <a:avLst/>
            <a:gdLst/>
            <a:ahLst/>
            <a:cxnLst/>
            <a:rect r="r" b="b" t="t" l="l"/>
            <a:pathLst>
              <a:path h="10151390" w="5075695">
                <a:moveTo>
                  <a:pt x="0" y="0"/>
                </a:moveTo>
                <a:lnTo>
                  <a:pt x="5075696" y="0"/>
                </a:lnTo>
                <a:lnTo>
                  <a:pt x="5075696" y="10151390"/>
                </a:lnTo>
                <a:lnTo>
                  <a:pt x="0" y="101513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9789297" y="542925"/>
            <a:ext cx="5075695" cy="10151390"/>
          </a:xfrm>
          <a:custGeom>
            <a:avLst/>
            <a:gdLst/>
            <a:ahLst/>
            <a:cxnLst/>
            <a:rect r="r" b="b" t="t" l="l"/>
            <a:pathLst>
              <a:path h="10151390" w="5075695">
                <a:moveTo>
                  <a:pt x="0" y="0"/>
                </a:moveTo>
                <a:lnTo>
                  <a:pt x="5075695" y="0"/>
                </a:lnTo>
                <a:lnTo>
                  <a:pt x="5075695" y="10151390"/>
                </a:lnTo>
                <a:lnTo>
                  <a:pt x="0" y="101513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4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4081429" y="1315128"/>
            <a:ext cx="3150599" cy="7876497"/>
          </a:xfrm>
          <a:custGeom>
            <a:avLst/>
            <a:gdLst/>
            <a:ahLst/>
            <a:cxnLst/>
            <a:rect r="r" b="b" t="t" l="l"/>
            <a:pathLst>
              <a:path h="7876497" w="3150599">
                <a:moveTo>
                  <a:pt x="0" y="0"/>
                </a:moveTo>
                <a:lnTo>
                  <a:pt x="3150599" y="0"/>
                </a:lnTo>
                <a:lnTo>
                  <a:pt x="3150599" y="7876497"/>
                </a:lnTo>
                <a:lnTo>
                  <a:pt x="0" y="7876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10009" y="1315128"/>
            <a:ext cx="3938248" cy="7876497"/>
          </a:xfrm>
          <a:custGeom>
            <a:avLst/>
            <a:gdLst/>
            <a:ahLst/>
            <a:cxnLst/>
            <a:rect r="r" b="b" t="t" l="l"/>
            <a:pathLst>
              <a:path h="7876497" w="3938248">
                <a:moveTo>
                  <a:pt x="0" y="0"/>
                </a:moveTo>
                <a:lnTo>
                  <a:pt x="3938248" y="0"/>
                </a:lnTo>
                <a:lnTo>
                  <a:pt x="3938248" y="7876497"/>
                </a:lnTo>
                <a:lnTo>
                  <a:pt x="0" y="78764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383605" y="1315128"/>
            <a:ext cx="3938248" cy="7876497"/>
          </a:xfrm>
          <a:custGeom>
            <a:avLst/>
            <a:gdLst/>
            <a:ahLst/>
            <a:cxnLst/>
            <a:rect r="r" b="b" t="t" l="l"/>
            <a:pathLst>
              <a:path h="7876497" w="3938248">
                <a:moveTo>
                  <a:pt x="0" y="0"/>
                </a:moveTo>
                <a:lnTo>
                  <a:pt x="3938248" y="0"/>
                </a:lnTo>
                <a:lnTo>
                  <a:pt x="3938248" y="7876497"/>
                </a:lnTo>
                <a:lnTo>
                  <a:pt x="0" y="78764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081429" y="1194728"/>
            <a:ext cx="3150599" cy="7876497"/>
          </a:xfrm>
          <a:custGeom>
            <a:avLst/>
            <a:gdLst/>
            <a:ahLst/>
            <a:cxnLst/>
            <a:rect r="r" b="b" t="t" l="l"/>
            <a:pathLst>
              <a:path h="7876497" w="3150599">
                <a:moveTo>
                  <a:pt x="0" y="0"/>
                </a:moveTo>
                <a:lnTo>
                  <a:pt x="3150599" y="0"/>
                </a:lnTo>
                <a:lnTo>
                  <a:pt x="3150599" y="7876497"/>
                </a:lnTo>
                <a:lnTo>
                  <a:pt x="0" y="787649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810009" y="1194728"/>
            <a:ext cx="3938248" cy="7876497"/>
          </a:xfrm>
          <a:custGeom>
            <a:avLst/>
            <a:gdLst/>
            <a:ahLst/>
            <a:cxnLst/>
            <a:rect r="r" b="b" t="t" l="l"/>
            <a:pathLst>
              <a:path h="7876497" w="3938248">
                <a:moveTo>
                  <a:pt x="0" y="0"/>
                </a:moveTo>
                <a:lnTo>
                  <a:pt x="3938248" y="0"/>
                </a:lnTo>
                <a:lnTo>
                  <a:pt x="3938248" y="7876497"/>
                </a:lnTo>
                <a:lnTo>
                  <a:pt x="0" y="787649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383605" y="1194728"/>
            <a:ext cx="3938248" cy="7876497"/>
          </a:xfrm>
          <a:custGeom>
            <a:avLst/>
            <a:gdLst/>
            <a:ahLst/>
            <a:cxnLst/>
            <a:rect r="r" b="b" t="t" l="l"/>
            <a:pathLst>
              <a:path h="7876497" w="3938248">
                <a:moveTo>
                  <a:pt x="0" y="0"/>
                </a:moveTo>
                <a:lnTo>
                  <a:pt x="3938248" y="0"/>
                </a:lnTo>
                <a:lnTo>
                  <a:pt x="3938248" y="7876497"/>
                </a:lnTo>
                <a:lnTo>
                  <a:pt x="0" y="787649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743304" y="1922185"/>
            <a:ext cx="1313088" cy="1313088"/>
          </a:xfrm>
          <a:custGeom>
            <a:avLst/>
            <a:gdLst/>
            <a:ahLst/>
            <a:cxnLst/>
            <a:rect r="r" b="b" t="t" l="l"/>
            <a:pathLst>
              <a:path h="1313088" w="1313088">
                <a:moveTo>
                  <a:pt x="0" y="0"/>
                </a:moveTo>
                <a:lnTo>
                  <a:pt x="1313088" y="0"/>
                </a:lnTo>
                <a:lnTo>
                  <a:pt x="1313088" y="1313087"/>
                </a:lnTo>
                <a:lnTo>
                  <a:pt x="0" y="131308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095435" y="1922185"/>
            <a:ext cx="1313088" cy="1313088"/>
          </a:xfrm>
          <a:custGeom>
            <a:avLst/>
            <a:gdLst/>
            <a:ahLst/>
            <a:cxnLst/>
            <a:rect r="r" b="b" t="t" l="l"/>
            <a:pathLst>
              <a:path h="1313088" w="1313088">
                <a:moveTo>
                  <a:pt x="0" y="0"/>
                </a:moveTo>
                <a:lnTo>
                  <a:pt x="1313087" y="0"/>
                </a:lnTo>
                <a:lnTo>
                  <a:pt x="1313087" y="1313087"/>
                </a:lnTo>
                <a:lnTo>
                  <a:pt x="0" y="131308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397538" y="1922185"/>
            <a:ext cx="1313088" cy="1313088"/>
          </a:xfrm>
          <a:custGeom>
            <a:avLst/>
            <a:gdLst/>
            <a:ahLst/>
            <a:cxnLst/>
            <a:rect r="r" b="b" t="t" l="l"/>
            <a:pathLst>
              <a:path h="1313088" w="1313088">
                <a:moveTo>
                  <a:pt x="0" y="0"/>
                </a:moveTo>
                <a:lnTo>
                  <a:pt x="1313087" y="0"/>
                </a:lnTo>
                <a:lnTo>
                  <a:pt x="1313087" y="1313087"/>
                </a:lnTo>
                <a:lnTo>
                  <a:pt x="0" y="131308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7578706" y="2556851"/>
            <a:ext cx="1642285" cy="1276677"/>
            <a:chOff x="0" y="0"/>
            <a:chExt cx="264494" cy="20561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64494" cy="205612"/>
            </a:xfrm>
            <a:custGeom>
              <a:avLst/>
              <a:gdLst/>
              <a:ahLst/>
              <a:cxnLst/>
              <a:rect r="r" b="b" t="t" l="l"/>
              <a:pathLst>
                <a:path h="205612" w="264494">
                  <a:moveTo>
                    <a:pt x="0" y="0"/>
                  </a:moveTo>
                  <a:lnTo>
                    <a:pt x="264494" y="0"/>
                  </a:lnTo>
                  <a:lnTo>
                    <a:pt x="264494" y="205612"/>
                  </a:lnTo>
                  <a:lnTo>
                    <a:pt x="0" y="205612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50000">
                  <a:srgbClr val="FCFDFE">
                    <a:alpha val="100000"/>
                  </a:srgbClr>
                </a:gs>
                <a:gs pos="100000">
                  <a:srgbClr val="FCFDF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64494" cy="253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238709" y="2556851"/>
            <a:ext cx="1642285" cy="1276677"/>
            <a:chOff x="0" y="0"/>
            <a:chExt cx="264494" cy="20561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4494" cy="205612"/>
            </a:xfrm>
            <a:custGeom>
              <a:avLst/>
              <a:gdLst/>
              <a:ahLst/>
              <a:cxnLst/>
              <a:rect r="r" b="b" t="t" l="l"/>
              <a:pathLst>
                <a:path h="205612" w="264494">
                  <a:moveTo>
                    <a:pt x="0" y="0"/>
                  </a:moveTo>
                  <a:lnTo>
                    <a:pt x="264494" y="0"/>
                  </a:lnTo>
                  <a:lnTo>
                    <a:pt x="264494" y="205612"/>
                  </a:lnTo>
                  <a:lnTo>
                    <a:pt x="0" y="205612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50000">
                  <a:srgbClr val="FCFDFE">
                    <a:alpha val="100000"/>
                  </a:srgbClr>
                </a:gs>
                <a:gs pos="100000">
                  <a:srgbClr val="FCFDF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64494" cy="253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930836" y="2556851"/>
            <a:ext cx="1642285" cy="1276677"/>
            <a:chOff x="0" y="0"/>
            <a:chExt cx="264494" cy="20561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4494" cy="205612"/>
            </a:xfrm>
            <a:custGeom>
              <a:avLst/>
              <a:gdLst/>
              <a:ahLst/>
              <a:cxnLst/>
              <a:rect r="r" b="b" t="t" l="l"/>
              <a:pathLst>
                <a:path h="205612" w="264494">
                  <a:moveTo>
                    <a:pt x="0" y="0"/>
                  </a:moveTo>
                  <a:lnTo>
                    <a:pt x="264494" y="0"/>
                  </a:lnTo>
                  <a:lnTo>
                    <a:pt x="264494" y="205612"/>
                  </a:lnTo>
                  <a:lnTo>
                    <a:pt x="0" y="205612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50000">
                  <a:srgbClr val="FCFDFE">
                    <a:alpha val="100000"/>
                  </a:srgbClr>
                </a:gs>
                <a:gs pos="100000">
                  <a:srgbClr val="FCFDF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64494" cy="253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8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752600" y="3433762"/>
            <a:ext cx="4343400" cy="215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5"/>
              </a:lnSpc>
            </a:pPr>
            <a:r>
              <a:rPr lang="en-US" sz="48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Roadmap Optimization Keys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52600" y="5936933"/>
            <a:ext cx="4343400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</a:t>
            </a: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nal recommendations to enhance roadmap effectiveness and</a:t>
            </a: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drive sustained success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067550" y="6578514"/>
            <a:ext cx="2664597" cy="1728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Schedu</a:t>
            </a:r>
            <a:r>
              <a:rPr lang="en-US" sz="1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 monthly assessments to evaluate progress and adjust strategies accordingly.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727553" y="6578514"/>
            <a:ext cx="2664597" cy="1376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Collect input from users, customers, and team members for improvement.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067550" y="4932786"/>
            <a:ext cx="2664597" cy="421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sz="27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01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727553" y="4932786"/>
            <a:ext cx="2664597" cy="421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sz="27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02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067550" y="3433763"/>
            <a:ext cx="2664597" cy="705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24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Regular</a:t>
            </a:r>
          </a:p>
          <a:p>
            <a:pPr algn="ctr">
              <a:lnSpc>
                <a:spcPts val="2800"/>
              </a:lnSpc>
            </a:pPr>
            <a:r>
              <a:rPr lang="en-US" sz="24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Reviews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727553" y="3424238"/>
            <a:ext cx="2664597" cy="71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4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Stakeholder Feedback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419680" y="6578514"/>
            <a:ext cx="2664597" cy="1376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</a:t>
            </a:r>
            <a:r>
              <a:rPr lang="en-US" sz="1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ack key indicators that measure progress toward strategic objectives.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419680" y="4932786"/>
            <a:ext cx="2664597" cy="421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sz="2799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03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419680" y="3424238"/>
            <a:ext cx="2664597" cy="71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400" b="true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Performance Metrics</a:t>
            </a:r>
          </a:p>
        </p:txBody>
      </p:sp>
    </p:spTree>
  </p:cSld>
  <p:clrMapOvr>
    <a:masterClrMapping/>
  </p:clrMapOvr>
  <p:transition spd="fast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DAHI5MQ4xxQ</dc:identifier>
  <dcterms:modified xsi:type="dcterms:W3CDTF">2011-08-01T06:04:30Z</dcterms:modified>
  <cp:revision>1</cp:revision>
</cp:coreProperties>
</file>