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3" r:id="rId5"/>
    <p:sldId id="265" r:id="rId6"/>
    <p:sldId id="267" r:id="rId7"/>
    <p:sldId id="269" r:id="rId8"/>
    <p:sldId id="271" r:id="rId9"/>
    <p:sldId id="273" r:id="rId10"/>
    <p:sldId id="275" r:id="rId11"/>
    <p:sldId id="277" r:id="rId12"/>
    <p:sldId id="279" r:id="rId13"/>
    <p:sldId id="281" r:id="rId14"/>
    <p:sldId id="283" r:id="rId15"/>
    <p:sldId id="285" r:id="rId16"/>
    <p:sldId id="287" r:id="rId17"/>
    <p:sldId id="289" r:id="rId18"/>
    <p:sldId id="291" r:id="rId19"/>
    <p:sldId id="293" r:id="rId20"/>
    <p:sldId id="295" r:id="rId21"/>
    <p:sldId id="297" r:id="rId22"/>
    <p:sldId id="299" r:id="rId23"/>
    <p:sldId id="301" r:id="rId24"/>
    <p:sldId id="303" r:id="rId25"/>
    <p:sldId id="305" r:id="rId26"/>
    <p:sldId id="307" r:id="rId27"/>
    <p:sldId id="309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E2DDD4-8AFA-4B43-9F55-3E15BF98A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E325A62-18DC-4B1E-A000-D79DB6746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21818F-58BC-462D-8B25-27694E9A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31241-7514-41B4-A880-A075D2E6067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2E07C8-B04F-47C0-91FA-F0492E2A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BCAE22-3048-4784-B4E8-7E22B6F6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B431-378D-4853-BFA9-B1EB3650F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775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8880F-E71D-471F-9A94-6F0F749C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B71B4B-2D32-451F-99B7-EE3B55853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181FEB-5AD5-41F2-A752-790D57FFB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31241-7514-41B4-A880-A075D2E6067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B4788-A18F-4844-AF07-89CD928D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A0C940-4645-4A82-A6C7-7CF5F0DF6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B431-378D-4853-BFA9-B1EB3650F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397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13E00B-54DD-49ED-A415-689554036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93146B-F447-417C-99A2-DFDA8A8C9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E62FF2-1EC8-4B76-8184-09DFE11E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31241-7514-41B4-A880-A075D2E6067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3A0876-570E-446B-B24E-EDA8CC2A8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FF2AD4-82FE-4E15-8C07-7D2D3677C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B431-378D-4853-BFA9-B1EB3650F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46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72D7E6-7D11-4660-B8E5-39F7EACDA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4BEB3E-9117-487C-94D7-726F18FA4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6E2135-D6BC-450E-878C-A48426B41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958EA1-C974-4D43-A37C-C969BC6A1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31241-7514-41B4-A880-A075D2E6067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4D8B48-081E-46FA-B74A-0D0094A24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A14964-A04B-4588-ADC9-661D13FF7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B431-378D-4853-BFA9-B1EB3650F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021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CAF27-9F63-4B2F-96D0-86B456ED8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7910E8-64A8-48A6-8D8E-E697DD380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059CA1-3A84-4D87-AD3E-91CAA301D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03C3FE-2B3C-4DC9-A872-0151677111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636C61-392B-4E27-9C4B-8461ABD278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EF7EC08-F1BB-43A3-B2A0-D89CA856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31241-7514-41B4-A880-A075D2E6067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A8E2FA-136F-40EE-871C-DD33D3C3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A59717-1D1D-4B76-B316-1B8816E09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B431-378D-4853-BFA9-B1EB3650F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8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10B15E-6234-44EB-A114-6852EEBE6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9679124-33C0-4ECD-8A6E-33F5AA1D0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31241-7514-41B4-A880-A075D2E6067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74B51C-FE78-4480-8B19-F3350551F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3D9F52-704C-492D-889B-4F4098FCC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B431-378D-4853-BFA9-B1EB3650F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097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3B07DC-7F27-463C-A451-7BD654B0C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31241-7514-41B4-A880-A075D2E6067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8EA293-B7C9-4095-AD7A-B865B29C6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2C19A8-84DC-46C7-91EF-341FCB48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B431-378D-4853-BFA9-B1EB3650F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20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115BE-324D-467C-811E-B16C7B3A6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C589ED-5890-4E97-B796-2022F21C8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5B93FA-D675-47EA-A8E9-F8D43E86F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76033F-E10D-4022-A037-7C28DAB89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31241-7514-41B4-A880-A075D2E6067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826F2C-0261-47C8-85AA-27DFDE5E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A68299-EE30-4047-9362-D5F82B008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B431-378D-4853-BFA9-B1EB3650F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192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2C49D-2559-4AD1-8C7E-2DA0F9F81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C0A23E-F53D-4506-A9E7-7081A8729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9C7341-E277-40B1-B824-9360D5C06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4C9172-9333-4252-8D4D-7EC4BF2BA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31241-7514-41B4-A880-A075D2E6067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12C4A8-18FF-4707-B405-D7FBFC26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EF82D6-D6A3-4787-BF0D-AA40314C9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B431-378D-4853-BFA9-B1EB3650F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020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052074-468E-40B1-8EE4-9E31CB54A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34D4EF-B6A6-4DD6-B9C6-D121FB027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8149A8-BF74-495A-AC5A-1715D8463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31241-7514-41B4-A880-A075D2E6067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7F8DE2-C26F-47C8-B5AC-FE4B37F27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5199F0-FC90-4405-A7D3-14B8ABB9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B431-378D-4853-BFA9-B1EB3650F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205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1D6CB8-E1FC-493C-8F9C-C595ACE8F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5C850E-8320-4E28-BF41-8795106E5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B4BE31-0D30-4084-BC8B-B8ECE9A93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31241-7514-41B4-A880-A075D2E6067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03ABEC-D538-4D38-B224-008AB86D6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DF507B-9A8D-4B27-89C2-9A4D525E3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1B431-378D-4853-BFA9-B1EB3650F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44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5EED3B-64E7-48E4-B2E5-4E40802FF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65C697-2864-48B7-86B2-D99DC123F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FC4735-D6A3-49A3-B95D-D56323E25B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31241-7514-41B4-A880-A075D2E60673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49270D-594B-4E7C-9977-805B85F28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35F231-DEB9-4989-AD8F-92DCC21F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1B431-378D-4853-BFA9-B1EB3650F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9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48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안녕하세요. TicketLegacy 프로젝트 발표를 시작하겠습니다.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저희 팀은 Spring Legacy MVC 5.3 기반의 공연 예매 플랫폼을 개발했습니다.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단순한 토이 프로젝트가 아닌, 실제 운영 환경을 가정한 엔터프라이즈 수준의 설계를 목표로 했습니다.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3개의 독립 WAR — 사용자, 파트너, 어드민 포털이 단일 DB를 공유하며,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JWT 토큰 기반 인증, Redis 좌석 락, FSM 상태 관리 등 핵심 기술을 적용했습니다.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지금부터 프로젝트의 배경부터 기술 구현, 그리고 향후 계획까지 순서대로 설명드리겠습니다.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48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발표는 총 7개 파트로 구성되어 있습니다.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01 프로젝트 개요 — 왜 이 프로젝트를 선택했는지, 목표는 무엇인지 설명합니다.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02 요구사항 명세 — 사용자·파트너·어드민 포털의 기능 요구사항과 비기능 요구사항을 정리했습니다.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03 시스템 아키텍처 — 멀티모듈 구조와 기술 스택, DB 설계를 설명합니다.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04 핵심 기능 구현 — 동시성 제어, FSM, 인증 보안 등 기술적 깊이를 다룹니다.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05 데이터 &amp; 성과 — 200개 이상의 실데이터 구축과 구현 완성도를 보여드립니다.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06 기술적 도전 &amp; 해결 — 개발 과정에서 만난 주요 이슈와 해결 방법입니다.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07 향후 계획 &amp; 결론 — 로드맵과 핵심 가치로 마무리합니다.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48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Part 1 — 프로젝트 개요입니다.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TicketLegacy는 인터파크, 예스24 티켓 같은 실제 공연 예매 서비스를 모델로 설계했습니다.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핵심 도전 과제는 두 가지였습니다.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첫째, 동시에 수천 명이 같은 좌석을 예매하려 할 때 중복 예매를 어떻게 방지할 것인가.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둘째, 공연 등록부터 심사, 승인, 게시까지의 복잡한 워크플로우를 어떻게 안전하게 관리할 것인가.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이 두 문제를 Redis Dual Defense와 FSM으로 해결했습니다.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194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프로젝트 배경과 목표를 설명드렸습니다.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단순히 CRUD를 구현하는 것이 아니라, 실제 운영 환경에서 발생할 수 있는 문제를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사전에 설계 단계에서 고려하는 것이 목표였습니다.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특히 '동작하면 끝'이 아니라 '운영에서 안 터지는가'를 기준으로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데이터 0건, 대량 트래픽, 경계값, Redis 장애 등의 시나리오를 모두 고려했습니다.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21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개발 환경과 기술 제약사항입니다.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Spring Boot가 아닌 Spring Legacy MVC 5.3을 선택한 이유는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현업에서 아직도 많이 사용되는 레거시 시스템을 경험하고,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설정 파일(root-context.xml, servlet-context.xml, security-context.xml)을 직접 다루는 역량을 키우기 위해서입니다.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jakarta 패키지가 아닌 javax 패키지를 사용해야 한다는 제약 조건은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초반에 가장 많은 실수가 있었던 부분으로, 팀원 전원이 반드시 숙지해야 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194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Part 2 — 요구사항 명세입니다.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요구사항을 3개 포털로 분류하고, 각 포털의 사용자 역할과 기능을 명세했습니다.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ticket-user는 일반 회원이 공연을 검색하고 예매하는 포털,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ticket-partner는 기획사와 공연장 담당자가 공연을 등록하고 관리하는 포털,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ticket-admin은 슈퍼어드민과 스태프가 전체 시스템을 관리하는 포털입니다.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48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3개 포털의 기능 요구사항을 카드 형태로 정리했습니다.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ticket-user는 일반 사용자가 사용하는 포털로, 공연 탐색부터 결제까지 전체 예매 플로우를 담당합니다.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특히 대기열(Queue) 시스템은 인기 공연의 동시 접속을 제어하기 위해 추가했습니다.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ticket-partner는 기획사와 공연장 담당자 전용으로, 공연 등록 후 DRAFT 상태로 시작해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어드민의 심사를 거쳐 PUBLISHED 상태가 되어야 판매가 시작됩니다.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ticket-admin은 전체 시스템의 관제탑 역할로, 모든 FSM 상태 전환의 최종 승인권을 가집니다.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48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좌석 예매의 상세 플로우입니다.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일반적인 CRUD와 달리, 예매 시스템에서 가장 중요한 것은 동시성 제어입니다.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FR-002의 Redis Lua 스크립트 선점 방식은,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여러 사용자가 동시에 같은 좌석을 선택할 때 정확히 한 명만 성공하도록 보장합니다.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FR-005의 @Scheduled 배치는 결제를 완료하지 못하고 이탈한 사용자의 좌석을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자동으로 해제하여 다음 사용자가 예매할 수 있도록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48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비기능 요구사항입니다. 기능 요구사항만큼 중요한 항목들입니다.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NFR-001 보안에서 특히 강조할 점은 JWT를 HttpOnly 쿠키로 전달한다는 것입니다.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LocalStorage나 일반 쿠키가 아닌 HttpOnly 쿠키를 사용함으로써 XSS 공격으로부터 토큰을 보호합니다.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NFR-004 가용성 — Redis가 다운되어도 예매 서비스가 중단되지 않도록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DB-only 모드로의 자동 강등을 설계했습니다. 성능은 저하되지만 서비스는 유지됩니다.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NFR-006은 코드 품질 관련 항목으로, 8차~11차 세션에 걸쳐 단계적으로 달성했습니다.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194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Part 3 — 시스템 아키텍처입니다.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이 프로젝트의 가장 큰 구조적 특징은 단일 DB를 공유하는 3-WAR 분리 아키텍처입니다.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각 WAR는 독립적으로 배포되며, 포트도 8080, 8081, 8082로 분리되어 있습니다.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그러나 모든 비즈니스 로직과 도메인 모델은 ticket-common JAR 하나에 집중되어 있어,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코드 중복 없이 3개 포털이 같은 서비스 계층을 공유합니다.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48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시스템 아키텍처 다이어그램입니다.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상단 3개 박스가 각각의 WAR 포털이고, 중앙의 ticket-common이 공유 JAR입니다.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하단 4개는 공유 인프라 — MySQL, Redis, JWT, Spring Security입니다.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주목할 점은 ticket-user ↔ ticket-partner ↔ ticket-admin 간에 직접 의존이 없다는 것입니다.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3개 포털의 소통은 오직 DB와 JWT를 통해서만 이루어집니다.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이 구조 덕분에 어드민 포털이 다운되어도 사용자 예매 서비스는 영향을 받지 않습니다.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21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Maven 멀티모듈 구조의 핵심은 단방향 의존성입니다.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ticket-common에 비즈니스 로직을 집중시켜, 3개 WAR가 이를 공유하는 구조입니다.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이로 인해 순환 의존이 구조적으로 불가능하고, ticket-common의 서비스 메서드를 수정하면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반드시 3개 WAR 전체에서 해당 메서드 호출을 확인해야 한다는 규칙이 생깁니다.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FSM Enum도 ticket-common에 위치하므로, 상태 전환 로직이 단일 지점에서 관리됩니다.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어느 포털에서 상태를 바꾸든 동일한 validateTransition() 규칙이 적용됩니다.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48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기술 스택입니다.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Spring Boot를 사용하지 않았기 때문에 자동 설정에 의존하지 않고,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모든 Bean을 직접 XML로 등록하고 관리합니다. 이 경험 자체가 큰 학습이었습니다.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Redis는 Lettuce 클라이언트를 사용했으며, 좌석 선점에 Lua 스크립트를 활용합니다.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Lua 스크립트는 Redis 서버에서 원자적으로 실행되므로, 분산 환경에서도 race condition이 없습니다.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JJWT 0.11.5는 현재 사용 중인 Deprecated API가 있어, 향후 1.0.x 마이그레이션이 필요합니다.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48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DB 설계 현황입니다. 총 45개 테이블을 6개 도메인으로 분류했습니다.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공연·일정 영역이 8개로 가장 복잡합니다.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performance, performance_schedule, venue, venue_section, stage_config 등이 포함됩니다.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좌석·구역 영역의 seat_inventory 테이블은 200개 이상의 공연에 대해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WITH RECURSIVE CTE로 12,840개 이상의 레코드를 자동 생성했습니다.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모든 DDL은 schema_total.sql 하나로 통합되어 있어, DB 재초기화가 3단계로 간소화되었습니다.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1670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Part 4 — 핵심 기능 구현입니다. 기술적 깊이를 가장 많이 다루는 파트입니다.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세 가지 핵심 기술을 소개합니다.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첫째, Redis Dual Defense — 동시 좌석 예매의 중복 방지.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둘째, FSM — 공연·회원·파트너의 상태 전환 안전 보장.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셋째, JWT + Spring Security — 3개 포털의 독립 인증 체계.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751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Dual Defense 동시성 제어 구조입니다.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1단계: Redis Lua 스크립트가 AVAILABLE 확인과 HOLD 전환을 원자적으로 수행합니다.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Lua는 Redis 서버에서 단일 스레드로 실행되므로, 동시에 두 요청이 들어와도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정확히 하나만 HOLD 전환에 성공합니다.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2단계: DB의 WHERE status='AVAILABLE' 조건부 UPDATE가 2차 방어선이 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Redis가 장애 상태여도 이 쿼리가 중복 예매를 막습니다.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3단계: idempotency_key UNIQUE 제약으로 결제 재시도 시 중복 결제를 차단합니다.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751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FSM — 유한 상태 기계(Finite State Machine) 구현입니다.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4개 도메인에 FSM을 적용했습니다: Member, Promoter, VenueManager, Performance.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각 Enum에 canTransitionTo() 또는 validateTransition() 메서드가 내장되어 있어,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허용되지 않은 상태 전환 시도 시 즉시 BusinessException(400)을 던집니다.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예를 들어, WITHDRAWN 상태의 회원은 어떤 상태로도 전환이 불가능합니다.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이는 탈퇴 회원의 계정이 복구될 수 없다는 비즈니스 규칙을 코드로 강제한 것입니다.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이 구조 덕분에 상태 전환 로직이 분산되지 않고 단일 Enum에 집중됩니다.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751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인증과 보안 아키텍처입니다.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가장 중요한 설계 결정은 포털별 쿠키명 분리입니다.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USER_TOKEN, PARTNER_TOKEN, ADMIN_TOKEN — 세 쿠키를 분리함으로써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localhost에서 개발 시 쿠키가 덮어씌워지는 문제를 원천 차단했습니다.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JwtAuthenticationFilter가 HttpOnly 쿠키에서 JWT를 파싱해 SecurityContext에 설정하고,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각 포털의 security-context.xml에서 URL 패턴과 역할을 매핑합니다.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3개 서버가 동일한 JWT_SECRET_KEY를 공유하므로, 발급 서버와 검증 서버가 달라도 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194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Part 5 — 데이터셋 구축과 구현 성과입니다.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초기에는 4~14개의 공연 데이터만 있어 Elasticsearch 테스트나 성능 검증이 어려웠습니다.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12차 세션에서 WITH RECURSIVE CTE를 활용해 200개 이상의 공연 데이터를 자동 생성했습니다.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단순히 공연만 넣은 것이 아니라, 각 공연에 딸린 일정·좌석등급·좌석·인벤토리까지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유기적으로 생성되어 실제 서비스와 유사한 데이터 환경을 구축했습니다.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21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도메인별 데이터 분포 현황입니다.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214건의 공연 데이터가 있으며, 공연당 평균 4개의 회차(Schedule)가 생성됩니다.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12,840개의 좌석 인벤토리는 WITH RECURSIVE CTE로 자동 생성된 것으로,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수동으로 입력하면 수 시간이 걸릴 데이터를 스크립트 한 번으로 해결했습니다.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poster_url은 picsum.photos 시드 URL로 정규화되어, 실제 이미지가 표시됩니다.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description은 HTML 형식으로 저장되어 Elasticsearch 인덱싱 준비가 완료된 상태입니다.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48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End-to-End 전체 플로우입니다. 5단계로 공연 등록부터 예매·취소까지 완전한 사이클을 보여줍니다.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STEP 1: 기획사 담당자가 ticket-partner에 로그인해 공연을 등록합니다. DRAFT 상태로 시작됩니다.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STEP 2: 어드민이 심사 대기 공연을 확인하고, 미리보기 후 APPROVED → PUBLISHED로 전환합니다.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STEP 3: ticket-user의 공연 목록에 ON_SALE 공연이 표시되고, 사용자가 좌석을 선택합니다.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STEP 4: Redis Lua 스크립트가 좌석을 HOLD하고, 결제 완료 시 CONFIRMED로 확정됩니다.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STEP 5: 마이페이지에서 예매를 취소하면 좌석이 AVAILABLE로 복원됩니다.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이 E2E 플로우는 7차 세션에서 전 구간 검증을 완료했습니다.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42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1"/>
            <a:ext cx="10668000" cy="1130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Part 6 — 기술적 도전과 해결책입니다.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개발 과정에서 만난 핵심 이슈 4가지를 소개합니다.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단순 버그가 아닌, 아키텍처 설계와 관련된 근본적인 문제들입니다.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44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751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4가지 핵심 이슈입니다.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첫 번째 JSP EL vs JS 템플릿 리터럴 충돌은 Spring MVC + JSP 환경의 고전적인 함정입니다.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JSP가 서버사이드에서 ${} 표현식을 먼저 처리하기 때문에,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JS의 템플릿 리터럴이 의도치 않게 서버에서 평가됩니다.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두 번째 BCrypt 해시 불일치는 여러 SQL 파일이 분산되어 있던 구조적 문제로,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data_total.sql 단일화로 영구 해결했습니다.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네 번째 매퍼 직접 주입은 8차~11차 세션에 걸쳐 단계적으로 서비스 계층으로 이전했습니다.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194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Part 7 — 향후 계획과 결론입니다.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현재 Phase 1·2가 완료된 상태이며, Phase 3부터 6까지의 로드맵이 수립되어 있습니다.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가장 중요한 다음 작업은 Phase 3 — 예매 동시성 완전 확보와 결제 PG 실제 연동입니다.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현재 PaymentService.simulatePgPayment()가 항상 true를 반환하는 mock 상태로,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실제 PG 연동이 필요합니다.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48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21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Phase 3부터 6까지의 로드맵입니다.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Phase 3 — 예매 동시성: cancelOrphan 배치 스케줄러와 환불 엣지 케이스, 실제 PG 연동.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Phase 4 — 유저 기능: 공연 검색 필터, 쿠폰 UI, 그리고 Elasticsearch 연동이 핵심입니다.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현재 데이터셋의 description HTML과 poster_url이 이미 Elasticsearch 인덱싱 형식으로 준비되어 있습니다.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Phase 5 — 코드 정리: DateUtil 중복 제거, MemberRole enum dead code 정리 등.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Phase 6 — QR 입장 스캔, 시스템 메트릭 대시보드로 운영 수준을 높입니다.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3291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결론입니다.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TicketLegacy는 Spring Legacy MVC 5.3 기반의 엔터프라이즈 수준 공연 예매 플랫폼입니다.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45개 테이블, 200개 이상의 실 데이터, 3개 독립 WAR 포털,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4개 도메인에 FSM 적용, Redis Dual Defense 동시성 제어.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단순히 '동작하는 코드'를 넘어, '운영에서 안 터지는 코드'를 목표로 설계했습니다.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트랜잭션 경계, 동시성, 멱등성, 보안 — 모든 변경에서 이 네 가지를 점검했습니다.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이 경험이 실제 현업에서 레거시 시스템을 다루는 역량으로 이어질 것이라고 확신합니다.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감사합니다.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52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67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CC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6096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7" b="1">
                <a:solidFill>
                  <a:srgbClr val="041F60"/>
                </a:solidFill>
                <a:latin typeface="Gotham Bold"/>
              </a:rPr>
              <a:t>📋  발표 대본  —  슬라이드 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109728"/>
            <a:ext cx="2316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67198"/>
                </a:solidFill>
                <a:latin typeface="Canva Sans"/>
              </a:rPr>
              <a:t>SPEAKER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80" y="701040"/>
            <a:ext cx="10668000" cy="221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이상으로 TicketLegacy 프로젝트 발표를 마치겠습니다.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질문이 있으시면 편하게 질문해 주세요.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혹시 기술적인 부분에서 더 깊이 알고 싶으신 내용이 있다면,</a:t>
            </a: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Redis Lua 스크립트, FSM 구현 방식, JWT 필터 체인 등 어떤 부분이든 설명 가능합니다.</a:t>
            </a:r>
          </a:p>
          <a:p>
            <a:pPr algn="l">
              <a:lnSpc>
                <a:spcPct val="155000"/>
              </a:lnSpc>
            </a:pPr>
            <a:endParaRPr sz="1133">
              <a:solidFill>
                <a:srgbClr val="000000"/>
              </a:solidFill>
              <a:latin typeface="Canva Sans"/>
            </a:endParaRPr>
          </a:p>
          <a:p>
            <a:pPr algn="l">
              <a:lnSpc>
                <a:spcPct val="155000"/>
              </a:lnSpc>
            </a:pPr>
            <a:r>
              <a:rPr sz="1133">
                <a:solidFill>
                  <a:srgbClr val="000000"/>
                </a:solidFill>
                <a:latin typeface="Canva Sans"/>
              </a:rPr>
              <a:t>감사합니다.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65280" y="6461761"/>
            <a:ext cx="365760" cy="205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33">
                <a:solidFill>
                  <a:srgbClr val="667198"/>
                </a:solidFill>
                <a:latin typeface="Canva Sans"/>
              </a:rPr>
              <a:t>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2158</Words>
  <Application>Microsoft Office PowerPoint</Application>
  <PresentationFormat>와이드스크린</PresentationFormat>
  <Paragraphs>308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맑은 고딕</vt:lpstr>
      <vt:lpstr>Arial</vt:lpstr>
      <vt:lpstr>Canva Sans</vt:lpstr>
      <vt:lpstr>Gotham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green</dc:creator>
  <cp:lastModifiedBy>green</cp:lastModifiedBy>
  <cp:revision>1</cp:revision>
  <dcterms:created xsi:type="dcterms:W3CDTF">2026-05-07T00:13:31Z</dcterms:created>
  <dcterms:modified xsi:type="dcterms:W3CDTF">2026-05-07T00:17:14Z</dcterms:modified>
</cp:coreProperties>
</file>