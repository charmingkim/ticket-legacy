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8"/>
    <p:sldId id="264" r:id="rId7"/>
    <p:sldId id="265" r:id="rId6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</p:sldIdLst>
  <p:sldSz cx="18288000" cy="10287000"/>
  <p:notesSz cx="6858000" cy="9144000"/>
  <p:embeddedFontLst>
    <p:embeddedFont>
      <p:font typeface="Canva Sans" charset="1" panose="020B0503030501040103"/>
      <p:regular r:id="rId16"/>
    </p:embeddedFont>
    <p:embeddedFont>
      <p:font typeface="Gotham Bold" charset="1" panose="00000000000000000000"/>
      <p:regular r:id="rId17"/>
    </p:embeddedFont>
    <p:embeddedFont>
      <p:font typeface="Gotham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>
                <a:solidFill>
                  <a:srgbClr val="041F60"/>
                </a:solidFill>
              </a:rPr>
              <a:t>도메인 카테고리별 테이블 수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테이블 수</c:v>
                </c:pt>
              </c:strCache>
            </c:strRef>
          </c:tx>
          <c:spPr>
            <a:solidFill>
              <a:srgbClr val="041F60"/>
            </a:solidFill>
          </c:spPr>
          <c:cat>
            <c:strRef>
              <c:f>Sheet1!$A$2:$A$7</c:f>
              <c:strCache>
                <c:ptCount val="6"/>
                <c:pt idx="0">
                  <c:v>공연·일정</c:v>
                </c:pt>
                <c:pt idx="1">
                  <c:v>회원·역할</c:v>
                </c:pt>
                <c:pt idx="2">
                  <c:v>좌석·구역</c:v>
                </c:pt>
                <c:pt idx="3">
                  <c:v>예매·결제</c:v>
                </c:pt>
                <c:pt idx="4">
                  <c:v>쿠폰</c:v>
                </c:pt>
                <c:pt idx="5">
                  <c:v>공지·부가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4</c:v>
                </c:pt>
                <c:pt idx="5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도메인별 데이터 분포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레코드 수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공연(Performance)</c:v>
                </c:pt>
                <c:pt idx="1">
                  <c:v>공연회차(Schedule)</c:v>
                </c:pt>
                <c:pt idx="2">
                  <c:v>좌석(Seat)</c:v>
                </c:pt>
                <c:pt idx="3">
                  <c:v>예매(Reservation)</c:v>
                </c:pt>
                <c:pt idx="4">
                  <c:v>회원(Member)</c:v>
                </c:pt>
                <c:pt idx="5">
                  <c:v>쿠폰(Coupon)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</c:v>
                </c:pt>
                <c:pt idx="1">
                  <c:v>856</c:v>
                </c:pt>
                <c:pt idx="2">
                  <c:v>12840</c:v>
                </c:pt>
                <c:pt idx="3">
                  <c:v>320</c:v>
                </c:pt>
                <c:pt idx="4">
                  <c:v>15</c:v>
                </c:pt>
                <c:pt idx="5">
                  <c:v>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28700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73152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371600" cy="3200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otham Bold"/>
              </a:rPr>
              <a:t>TICKET 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5600" b="1">
                <a:solidFill>
                  <a:srgbClr val="FFFFFF"/>
                </a:solidFill>
                <a:latin typeface="Gotham Bold"/>
              </a:rPr>
              <a:t>TicketLegacy</a:t>
            </a:r>
          </a:p>
          <a:p>
            <a:pPr algn="l">
              <a:lnSpc>
                <a:spcPct val="114999"/>
              </a:lnSpc>
            </a:pPr>
            <a:r>
              <a:rPr sz="5600" b="1">
                <a:solidFill>
                  <a:srgbClr val="FFFFFF"/>
                </a:solidFill>
                <a:latin typeface="Gotham Bold"/>
              </a:rPr>
              <a:t>공연 예매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0E8"/>
                </a:solidFill>
                <a:latin typeface="Canva Sans"/>
              </a:rPr>
              <a:t>Spring MVC 5.3 | Multi-WAR | JWT | Redis | MyBatis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69280"/>
            <a:ext cx="17373600" cy="10972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696712"/>
            <a:ext cx="17373600" cy="10972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EF0FB"/>
                </a:solidFill>
                <a:latin typeface="Canva Sans"/>
              </a:rPr>
              <a:t>팀 프로젝트 최종 발표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EF0FB"/>
                </a:solidFill>
                <a:latin typeface="Canva Sans"/>
              </a:rPr>
              <a:t>2026.05.06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004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41F60"/>
                </a:solidFill>
                <a:latin typeface="Gotham Bold"/>
              </a:rPr>
              <a:t>Enterprise-Grade
Ticketing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4864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198"/>
                </a:solidFill>
                <a:latin typeface="Canva Sans"/>
              </a:rPr>
              <a:t>3개 포털 | 45개 테이블 | 200+ 공연 데이터
Redis 좌석 락 | FSM 상태 관리 | BCrypt 인증</a:t>
            </a:r>
          </a:p>
        </p:txBody>
      </p:sp>
      <p:sp>
        <p:nvSpPr>
          <p:cNvPr id="13" name="Oval 12"/>
          <p:cNvSpPr/>
          <p:nvPr/>
        </p:nvSpPr>
        <p:spPr>
          <a:xfrm>
            <a:off x="14904720" y="274320"/>
            <a:ext cx="2194560" cy="2194560"/>
          </a:xfrm>
          <a:prstGeom prst="ellipse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630400" y="7680960"/>
            <a:ext cx="1463040" cy="1463040"/>
          </a:xfrm>
          <a:prstGeom prst="ellipse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안녕하세요. TicketLegacy 프로젝트 발표를 시작하겠습니다.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저희 팀은 Spring Legacy MVC 5.3 기반의 공연 예매 플랫폼을 개발했습니다.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단순한 토이 프로젝트가 아닌, 실제 운영 환경을 가정한 엔터프라이즈 수준의 설계를 목표로 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3개의 독립 WAR — 사용자, 파트너, 어드민 포털이 단일 DB를 공유하며,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JWT 토큰 기반 인증, Redis 좌석 락, FSM 상태 관리 등 핵심 기술을 적용했습니다.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지금부터 프로젝트의 배경부터 기술 구현, 그리고 향후 계획까지 순서대로 설명드리겠습니다.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목 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772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" cy="15544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otham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1F60"/>
                </a:solidFill>
                <a:latin typeface="Gotham Bold"/>
              </a:rPr>
              <a:t>프로젝트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배경 · 목표 · 개발 환경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417320"/>
            <a:ext cx="7772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1417320"/>
            <a:ext cx="548640" cy="15544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otham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60020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1F60"/>
                </a:solidFill>
                <a:latin typeface="Gotham Bold"/>
              </a:rPr>
              <a:t>요구사항 명세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2860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기능 요구사항 · 비기능 요구사항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39"/>
            <a:ext cx="7772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548640" cy="15544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794759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otham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19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1F60"/>
                </a:solidFill>
                <a:latin typeface="Gotham Bold"/>
              </a:rPr>
              <a:t>시스템 아키텍처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19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멀티모듈 구조 · 기술 스택 · DB 설계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3291839"/>
            <a:ext cx="7772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3291839"/>
            <a:ext cx="548640" cy="15544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3794759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otham 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474719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1F60"/>
                </a:solidFill>
                <a:latin typeface="Gotham Bold"/>
              </a:rPr>
              <a:t>핵심 기능 구현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160519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동시성 제어 · FSM · 인증·보안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66358"/>
            <a:ext cx="7772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66358"/>
            <a:ext cx="548640" cy="15544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66927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otham 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49238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1F60"/>
                </a:solidFill>
                <a:latin typeface="Gotham Bold"/>
              </a:rPr>
              <a:t>데이터 &amp; 성과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603503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200+ 공연 데이터셋 · 구현 완성도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5166358"/>
            <a:ext cx="7772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5166358"/>
            <a:ext cx="548640" cy="15544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8512" y="566927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otham 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5349238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1F60"/>
                </a:solidFill>
                <a:latin typeface="Gotham Bold"/>
              </a:rPr>
              <a:t>기술적 도전 &amp; 해결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603503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주요 이슈 3가지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7040877"/>
            <a:ext cx="7772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7040877"/>
            <a:ext cx="548640" cy="15544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7543797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otham Bold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223757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1F60"/>
                </a:solidFill>
                <a:latin typeface="Gotham Bold"/>
              </a:rPr>
              <a:t>향후 계획 &amp; 결론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909557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로드맵 · 핵심 가치 · Q&amp;A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발표는 총 7개 파트로 구성되어 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01 프로젝트 개요 — 왜 이 프로젝트를 선택했는지, 목표는 무엇인지 설명합니다.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02 요구사항 명세 — 사용자·파트너·어드민 포털의 기능 요구사항과 비기능 요구사항을 정리했습니다.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03 시스템 아키텍처 — 멀티모듈 구조와 기술 스택, DB 설계를 설명합니다.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04 핵심 기능 구현 — 동시성 제어, FSM, 인증 보안 등 기술적 깊이를 다룹니다.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05 데이터 &amp; 성과 — 200개 이상의 실데이터 구축과 구현 완성도를 보여드립니다.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06 기술적 도전 &amp; 해결 — 개발 과정에서 만난 주요 이슈와 해결 방법입니다.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07 향후 계획 &amp; 결론 — 로드맵과 핵심 가치로 마무리합니다.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178308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0E8"/>
                </a:solidFill>
                <a:latin typeface="Canva Sans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1463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otham Bold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배경 · 목표 · 개발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Part 1 — 프로젝트 개요입니다.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TicketLegacy는 인터파크, 예스24 티켓 같은 실제 공연 예매 서비스를 모델로 설계했습니다.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핵심 도전 과제는 두 가지였습니다.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첫째, 동시에 수천 명이 같은 좌석을 예매하려 할 때 중복 예매를 어떻게 방지할 것인가.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둘째, 공연 등록부터 심사, 승인, 게시까지의 복잡한 워크플로우를 어떻게 안전하게 관리할 것인가.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 두 문제를 Redis Dual Defense와 FSM으로 해결했습니다.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프로젝트 배경 &amp;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프로젝트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실제 티켓 예매 서비스(인터파크·예스24)의 핵심 기능을 Spring Legacy MVC로 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핵심 도전 과제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동시 좌석 예매 시 중복 예매 방지 → Redis Lua 스크립트 + DB 낙관적 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55848"/>
            <a:ext cx="320040" cy="3200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82696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핵심 도전 과제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공연 등록~게시 워크플로우 안전 관리 → FSM(유한 상태 기계)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88536"/>
            <a:ext cx="320040" cy="3200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15384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목표 1 — 기능 완성도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4296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3-WAR 독립 포털 완전 가동 (사용자·파트너·어드민)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21224"/>
            <a:ext cx="320040" cy="3200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48072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목표 2 — 코드 품질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86984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Mapper 직접 주입 제거, 서비스 계층 완전 typed, 도메인 봉인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53912"/>
            <a:ext cx="320040" cy="3200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08076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목표 3 — 엔터프라이즈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51967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운영에서 안 터지는 코드 — 경계값·장애 시나리오·트랜잭션 경계 고려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프로젝트 배경과 목표를 설명드렸습니다.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단순히 CRUD를 구현하는 것이 아니라, 실제 운영 환경에서 발생할 수 있는 문제를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사전에 설계 단계에서 고려하는 것이 목표였습니다.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특히 '동작하면 끝'이 아니라 '운영에서 안 터지는가'를 기준으로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데이터 0건, 대량 트래픽, 경계값, Redis 장애 등의 시나리오를 모두 고려했습니다.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개발 환경 &amp; 기술 제약사항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런타임: Java 11 + Spring MVC 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record·sealed class 사용 불가. jakarta.* 절대 금지 → javax.* 유지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DB: MySQL 8 — springgreen6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3개 WAR 단일 DB 공유. 각 모듈 독립 HikariCP 연결 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55848"/>
            <a:ext cx="320040" cy="3200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82696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캐시: Redis localhost:6379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ticket-user 필수 (좌석 락). ticket-admin은 선택적, ticket-partner 미사용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88536"/>
            <a:ext cx="320040" cy="3200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15384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인증: JWT HS256 — JWT_SECRET_KEY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4296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환경변수 Base64 인코딩. 3개 서버 동일 시크릿. 역할 기반 포털 분리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21224"/>
            <a:ext cx="320040" cy="32004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48072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빌드: Maven 멀티모듈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86984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ticket-common(JAR) ← ticket-user/partner/admin(WAR) 의존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53912"/>
            <a:ext cx="32004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08076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뷰: JSP + Tiles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51967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MyBatis 3.5 + JJWT 0.11.5. SPA 없음. 전통적 MVC 패턴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개발 환경과 기술 제약사항입니다.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Spring Boot가 아닌 Spring Legacy MVC 5.3을 선택한 이유는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현업에서 아직도 많이 사용되는 레거시 시스템을 경험하고,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설정 파일(root-context.xml, servlet-context.xml, security-context.xml)을 직접 다루는 역량을 키우기 위해서입니다.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jakarta 패키지가 아닌 javax 패키지를 사용해야 한다는 제약 조건은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초반에 가장 많은 실수가 있었던 부분으로, 팀원 전원이 반드시 숙지해야 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178308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0E8"/>
                </a:solidFill>
                <a:latin typeface="Canva Sans"/>
              </a:rPr>
              <a:t>PART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1463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otham Bold"/>
              </a:rPr>
              <a:t>요구사항 명세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기능 요구사항 · 비기능 요구사항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Part 2 — 요구사항 명세입니다.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요구사항을 3개 포털로 분류하고, 각 포털의 사용자 역할과 기능을 명세했습니다.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ticket-user는 일반 회원이 공연을 검색하고 예매하는 포털,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ticket-partner는 기획사와 공연장 담당자가 공연을 등록하고 관리하는 포털,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ticket-admin은 슈퍼어드민과 스태프가 전체 시스템을 관리하는 포털입니다.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기능 요구사항 — 포털별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08320" cy="777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608320" cy="5029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524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otham Bold"/>
              </a:rPr>
              <a:t>ticket-user (8080)
일반 회원 포털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67128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회원가입 / 로그인 / 로그아웃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62072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공연 목록 조회 &amp; 상세 보기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66744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좌석 선택 &amp; 예매 (Redis 락)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71416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결제 처리 (멱등성 보장)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85816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76088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쿠폰 조회 &amp; 적용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190488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6080760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예매 내역 조회 &amp; 취소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995160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885432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대기열(Queue) 진입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9840" y="1371600"/>
            <a:ext cx="5608320" cy="777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9840" y="1371600"/>
            <a:ext cx="5608320" cy="502920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2720" y="1444752"/>
            <a:ext cx="524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otham Bold"/>
              </a:rPr>
              <a:t>ticket-partner (8081)
파트너 포털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22720" y="2167128"/>
            <a:ext cx="201168" cy="201168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2760" y="2057400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파트너 로그인 (어드민 생성 계정)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2720" y="2971800"/>
            <a:ext cx="201168" cy="201168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2760" y="2862072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공연 등록 &amp; 수정 (DRAFT→REVIEW)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22720" y="3776472"/>
            <a:ext cx="201168" cy="201168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2760" y="3666744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공연회차 &amp; 좌석 등급/가격 설정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2720" y="4581144"/>
            <a:ext cx="201168" cy="201168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2760" y="4471416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좌석 구역 레이아웃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22720" y="5385816"/>
            <a:ext cx="201168" cy="201168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2760" y="5276088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쿠폰 발행 &amp;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2720" y="6190488"/>
            <a:ext cx="201168" cy="201168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2760" y="6080760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QR 입장 스캔 처리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2720" y="6995160"/>
            <a:ext cx="201168" cy="201168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2760" y="6885432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판매 현황 조회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222480" y="1371600"/>
            <a:ext cx="5608320" cy="777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222480" y="1371600"/>
            <a:ext cx="5608320" cy="50292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405360" y="1444752"/>
            <a:ext cx="524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otham Bold"/>
              </a:rPr>
              <a:t>ticket-admin (8082)
어드민 포털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405360" y="2167128"/>
            <a:ext cx="201168" cy="201168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25400" y="2057400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회원 목록 조회 &amp; 상태 변경 (FSM)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405360" y="2971800"/>
            <a:ext cx="201168" cy="201168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725400" y="2862072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기획사 승인/반려/정지 (FSM)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405360" y="3776472"/>
            <a:ext cx="201168" cy="201168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25400" y="3666744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공연장담당자 승인/반려 (FSM)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405360" y="4581144"/>
            <a:ext cx="201168" cy="201168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25400" y="4471416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공연 심사 &amp; 승인/반려/게시 (FSM)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405360" y="5385816"/>
            <a:ext cx="201168" cy="201168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725400" y="5276088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공연 상세 미리보기 (일정·좌석)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405360" y="6190488"/>
            <a:ext cx="201168" cy="201168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725400" y="6080760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통계 대시보드 (매출·예매)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405360" y="6995160"/>
            <a:ext cx="201168" cy="201168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25400" y="6885432"/>
            <a:ext cx="496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쿠폰 템플릿 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3개 포털의 기능 요구사항을 카드 형태로 정리했습니다.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ticket-user는 일반 사용자가 사용하는 포털로, 공연 탐색부터 결제까지 전체 예매 플로우를 담당합니다.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특히 대기열(Queue) 시스템은 인기 공연의 동시 접속을 제어하기 위해 추가했습니다.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ticket-partner는 기획사와 공연장 담당자 전용으로, 공연 등록 후 DRAFT 상태로 시작해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어드민의 심사를 거쳐 PUBLISHED 상태가 되어야 판매가 시작됩니다.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ticket-admin은 전체 시스템의 관제탑 역할로, 모든 FSM 상태 전환의 최종 승인권을 가집니다.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기능 요구사항 — 좌석 예매 상세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FR-001  좌석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사용자가 공연 회차를 선택하고 구역·좌석 등급별 좌석을 선택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FR-002  Redis 선점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Lua 스크립트로 seat_inventory.status를 AVAILABLE → HOLD로 원자 전환 (TTL 10분)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55848"/>
            <a:ext cx="320040" cy="3200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82696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FR-003  결제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PENDING 예약 생성 후 결제 Gateway 호출. idempotency_key로 중복 결제 차단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88536"/>
            <a:ext cx="320040" cy="3200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15384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FR-004  예약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4296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결제 성공 → PENDING → CONFIRMED, seat_inventory → RESERVED (동일 트랜잭션)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21224"/>
            <a:ext cx="320040" cy="32004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48072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FR-005  타임아웃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86984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@Scheduled 3초 간격으로 만료 HOLD 좌석 → AVAILABLE 복원, PENDING 예약 취소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53912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08076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FR-006  취소·환불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51967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CONFIRMED → CANCELLED. seat_inventory → AVAILABLE 복원. REFUNDED 상태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좌석 예매의 상세 플로우입니다.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일반적인 CRUD와 달리, 예매 시스템에서 가장 중요한 것은 동시성 제어입니다.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FR-002의 Redis Lua 스크립트 선점 방식은,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여러 사용자가 동시에 같은 좌석을 선택할 때 정확히 한 명만 성공하도록 보장합니다.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FR-005의 @Scheduled 배치는 결제를 완료하지 못하고 이탈한 사용자의 좌석을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자동으로 해제하여 다음 사용자가 예매할 수 있도록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비기능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NFR-001  보안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JWT HttpOnly 쿠키, BCrypt 해싱, CSRF 방어, 역할 기반 접근 제어(RBAC)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NFR-002  동시성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Redis Lua 원자 연산 + DB 조건부 UPDATE로 Race Condition 방지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55848"/>
            <a:ext cx="320040" cy="3200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82696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NFR-003  멱등성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Payment.idempotency_key UNIQUE 제약으로 네트워크 재시도 중복 결제 차단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88536"/>
            <a:ext cx="320040" cy="3200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15384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NFR-004  가용성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4296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Redis 장애 시 DB-only 모드 graceful 강등. 단일 장애점 최소화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21224"/>
            <a:ext cx="320040" cy="32004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48072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NFR-005  확장성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86984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Maven 멀티모듈로 포털별 독립 배포. ticket-common JAR 공유로 코드 중복 방지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53912"/>
            <a:ext cx="32004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08076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NFR-006  유지보수성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51967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FSM validateTransition() 중앙화. 서비스 계층 완전 typed. 매퍼 직접 주입 금지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비기능 요구사항입니다. 기능 요구사항만큼 중요한 항목들입니다.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NFR-001 보안에서 특히 강조할 점은 JWT를 HttpOnly 쿠키로 전달한다는 것입니다.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LocalStorage나 일반 쿠키가 아닌 HttpOnly 쿠키를 사용함으로써 XSS 공격으로부터 토큰을 보호합니다.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NFR-004 가용성 — Redis가 다운되어도 예매 서비스가 중단되지 않도록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DB-only 모드로의 자동 강등을 설계했습니다. 성능은 저하되지만 서비스는 유지됩니다.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NFR-006은 코드 품질 관련 항목으로, 8차~11차 세션에 걸쳐 단계적으로 달성했습니다.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178308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0E8"/>
                </a:solidFill>
                <a:latin typeface="Canva Sans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1463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otham Bold"/>
              </a:rP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멀티모듈 · 기술 스택 · DB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Part 3 — 시스템 아키텍처입니다.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 프로젝트의 가장 큰 구조적 특징은 단일 DB를 공유하는 3-WAR 분리 아키텍처입니다.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각 WAR는 독립적으로 배포되며, 포트도 8080, 8081, 8082로 분리되어 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그러나 모든 비즈니스 로직과 도메인 모델은 ticket-common JAR 하나에 집중되어 있어,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코드 중복 없이 3개 포털이 같은 서비스 계층을 공유합니다.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029200" cy="20116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ticket-user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port 8080
일반 회원 포털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463040"/>
            <a:ext cx="5029200" cy="2011680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ticket-partner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48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port 8081
기획사·공연장 포털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0" y="1463040"/>
            <a:ext cx="5029200" cy="201168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8428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ticket-admin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2148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port 8082
슈퍼어드민·스태프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4114800"/>
            <a:ext cx="5029200" cy="201168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297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ticket-common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8006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공유 JAR
도메인·서비스·매퍼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583680"/>
            <a:ext cx="3474720" cy="1828800"/>
          </a:xfrm>
          <a:prstGeom prst="rect">
            <a:avLst/>
          </a:prstGeom>
          <a:solidFill>
            <a:srgbClr val="B8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766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MySQL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7269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springgreen6 DB
45개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6583680"/>
            <a:ext cx="3474720" cy="1828800"/>
          </a:xfrm>
          <a:prstGeom prst="rect">
            <a:avLst/>
          </a:prstGeom>
          <a:solidFill>
            <a:srgbClr val="C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6766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7269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localhost:6379
좌석 선점·세션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6583680"/>
            <a:ext cx="3474720" cy="18288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6766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JWT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7269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HS256 서명
3-WAR 공유 시크릿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52960" y="6583680"/>
            <a:ext cx="3474720" cy="182880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90120" y="6766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otham Bold"/>
              </a:rPr>
              <a:t>Spring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90120" y="7269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역할 기반 접근
FSM 상태 제어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493008"/>
            <a:ext cx="54864" cy="64008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60" y="3493008"/>
            <a:ext cx="54864" cy="64008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61720" y="3493008"/>
            <a:ext cx="54864" cy="64008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7198"/>
                </a:solidFill>
                <a:latin typeface="Canva Sans"/>
              </a:rPr>
              <a:t>의존 (→ ticket-common)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72200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Gotham Bold"/>
              </a:rPr>
              <a:t>공유 인프라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시스템 아키텍처 다이어그램입니다.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상단 3개 박스가 각각의 WAR 포털이고, 중앙의 ticket-common이 공유 JAR입니다.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하단 4개는 공유 인프라 — MySQL, Redis, JWT, Spring Security입니다.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주목할 점은 ticket-user ↔ ticket-partner ↔ ticket-admin 간에 직접 의존이 없다는 것입니다.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3개 포털의 소통은 오직 DB와 JWT를 통해서만 이루어집니다.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 구조 덕분에 어드민 포털이 다운되어도 사용자 예매 서비스는 영향을 받지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Maven 멀티모듈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046720" cy="777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046720" cy="5029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otham Bold"/>
              </a:rPr>
              <a:t>모듈 의존 관계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5798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ticket-common (JAR) — 공유 도메인·서비스·매퍼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3522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ticket-user → ticket-common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1246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ticket-partner → ticket-common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970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ticket-admin → ticket-common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WAR 간 직접 의존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04418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9436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ticket-common은 외부 의존성만 보유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821424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67208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단방향 의존 — 순환 의존 구조적 불가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1371600"/>
            <a:ext cx="8046720" cy="777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371600"/>
            <a:ext cx="8046720" cy="50292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4447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otham Bold"/>
              </a:rPr>
              <a:t>ticket-common 구성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157984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0574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도메인 20개 (Member, Performance, Seat...)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935224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834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서비스 11개 (MemberService, ReservationService...)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3712464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61188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매퍼 인터페이스 21개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4489704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438912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MyBatis XML 18개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5266944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516636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Command/Query/DTO 클래스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6044184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59436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FSM Enum 4개 (상태 전환 로직 내장)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6821424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67208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anva Sans"/>
              </a:rPr>
              <a:t>GlobalExceptionHandler, ApiResponse&lt;T&gt;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Maven 멀티모듈 구조의 핵심은 단방향 의존성입니다.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ticket-common에 비즈니스 로직을 집중시켜, 3개 WAR가 이를 공유하는 구조입니다.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이로 인해 순환 의존이 구조적으로 불가능하고, ticket-common의 서비스 메서드를 수정하면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반드시 3개 WAR 전체에서 해당 메서드 호출을 확인해야 한다는 규칙이 생깁니다.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FSM Enum도 ticket-common에 위치하므로, 상태 전환 로직이 단일 지점에서 관리됩니다.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어느 포털에서 상태를 바꾸든 동일한 validateTransition() 규칙이 적용됩니다.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Spring MVC 5.3 + Tomcat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XML 기반 설정 (root-context, servlet-context, security-context). Boot 아님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MyBatis 3.5 + MySQL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동적 SQL (resultMap, association, collection). namespace 기반 매퍼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55848"/>
            <a:ext cx="320040" cy="3200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82696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Redis (Lettuce) + Spring Data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좌석 선점 Lua 스크립트. @Scheduled 만료 처리. 장애 시 graceful 강등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88536"/>
            <a:ext cx="320040" cy="3200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15384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JJWT 0.11.5 + Spring Security 5.8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4296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HS256 서명. HttpOnly 쿠키. JwtAuthenticationFilter. 역할 기반 URL 접근 제어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21224"/>
            <a:ext cx="320040" cy="32004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48072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JSP + Tiles 3 + jQuery/AJAX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86984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서버사이드 렌더링. SweetAlert2 UX. 차트.js 통계 시각화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53912"/>
            <a:ext cx="32004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08076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BCrypt +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51967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PasswordEncoder. @Valid + GlobalExceptionHandler. ApiResponse&lt;T&gt; 표준화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기술 스택입니다.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Spring Boot를 사용하지 않았기 때문에 자동 설정에 의존하지 않고,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모든 Bean을 직접 XML로 등록하고 관리합니다. 이 경험 자체가 큰 학습이었습니다.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Redis는 Lettuce 클라이언트를 사용했으며, 좌석 선점에 Lua 스크립트를 활용합니다.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Lua 스크립트는 Redis 서버에서 원자적으로 실행되므로, 분산 환경에서도 race condition이 없습니다.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JJWT 0.11.5는 현재 사용 중인 Deprecated API가 있어, 향후 1.0.x 마이그레이션이 필요합니다.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핵심 DB 테이블 — 도메인별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5819120" cy="7772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DB 설계 현황입니다. 총 45개 테이블을 6개 도메인으로 분류했습니다.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공연·일정 영역이 8개로 가장 복잡합니다.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performance, performance_schedule, venue, venue_section, stage_config 등이 포함됩니다.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좌석·구역 영역의 seat_inventory 테이블은 200개 이상의 공연에 대해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WITH RECURSIVE CTE로 12,840개 이상의 레코드를 자동 생성했습니다.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모든 DDL은 schema_total.sql 하나로 통합되어 있어, DB 재초기화가 3단계로 간소화되었습니다.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178308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0E8"/>
                </a:solidFill>
                <a:latin typeface="Canva Sans"/>
              </a:rPr>
              <a:t>PART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1463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otham Bold"/>
              </a:rPr>
              <a:t>핵심 기능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동시성 제어 · FSM · 인증·보안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Part 4 — 핵심 기능 구현입니다. 기술적 깊이를 가장 많이 다루는 파트입니다.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세 가지 핵심 기술을 소개합니다.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첫째, Redis Dual Defense — 동시 좌석 예매의 중복 방지.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둘째, FSM — 공연·회원·파트너의 상태 전환 안전 보장.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셋째, JWT + Spring Security — 3개 포털의 독립 인증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좌석 예매 동시성 제어 — Dual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840480" cy="786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otham Bold"/>
              </a:rPr>
              <a:t>1단계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BFF"/>
                </a:solidFill>
                <a:latin typeface="Gotham Bold"/>
              </a:rPr>
              <a:t>Redis Lua
원자적 선점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35661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Lua 스크립트로
AVAILABLE 확인 후
HOLD 상태 원자 전환
(10분 TTL)
→ 네트워크 분산
  레이스 컨디션 방지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5029200"/>
            <a:ext cx="164592" cy="54864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371600"/>
            <a:ext cx="3840480" cy="786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371600"/>
            <a:ext cx="3840480" cy="54864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otham Bold"/>
              </a:rPr>
              <a:t>2단계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103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41F60"/>
                </a:solidFill>
                <a:latin typeface="Gotham Bold"/>
              </a:rPr>
              <a:t>DB 낙관적 락
이중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54680"/>
            <a:ext cx="35661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WHERE status=
'AVAILABLE'
조건부 UPDATE
→ Redis 장애 시에도
  DB-only 모드로
  자동 강등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5029200"/>
            <a:ext cx="164592" cy="54864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371600"/>
            <a:ext cx="3840480" cy="786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371600"/>
            <a:ext cx="3840480" cy="5486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otham Bold"/>
              </a:rPr>
              <a:t>3단계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103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8A5A"/>
                </a:solidFill>
                <a:latin typeface="Gotham Bold"/>
              </a:rPr>
              <a:t>결제 멱등성
중복 방지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154680"/>
            <a:ext cx="35661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payment 테이블
idempotency_key
UNIQUE 제약
→ 네트워크 재시도
  중복 결제 차단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582144" y="5029200"/>
            <a:ext cx="164592" cy="54864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801600" y="1371600"/>
            <a:ext cx="3840480" cy="786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0" y="1371600"/>
            <a:ext cx="3840480" cy="5486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3876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otham Bold"/>
              </a:rPr>
              <a:t>4단계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38760" y="2103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7A1E"/>
                </a:solidFill>
                <a:latin typeface="Gotham Bold"/>
              </a:rPr>
              <a:t>예매 확정
상태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38760" y="3154680"/>
            <a:ext cx="35661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PENDING →
CONFIRMED
(결제 완료)
→ seat_inventory
  RESERVED 전환
  트랜잭션 보장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Dual Defense 동시성 제어 구조입니다.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1단계: Redis Lua 스크립트가 AVAILABLE 확인과 HOLD 전환을 원자적으로 수행합니다.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Lua는 Redis 서버에서 단일 스레드로 실행되므로, 동시에 두 요청이 들어와도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정확히 하나만 HOLD 전환에 성공합니다.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2단계: DB의 WHERE status='AVAILABLE' 조건부 UPDATE가 2차 방어선이 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Redis가 장애 상태여도 이 쿼리가 중복 예매를 막습니다.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3단계: idempotency_key UNIQUE 제약으로 결제 재시도 시 중복 결제를 차단합니다.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FSM — 상태 전환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공연(Performance) 승인 FSM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560320" cy="10058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Gotham Bold"/>
              </a:rPr>
              <a:t>DRAFT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920240"/>
            <a:ext cx="2560320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Gotham Bold"/>
              </a:rPr>
              <a:t>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920240"/>
            <a:ext cx="2560320" cy="10058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Gotham Bold"/>
              </a:rPr>
              <a:t>APPROVED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1920240"/>
            <a:ext cx="2560320" cy="10058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194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Gotham Bold"/>
              </a:rPr>
              <a:t>PUBLISHED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291840"/>
            <a:ext cx="256032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566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Gotham Bold"/>
              </a:rPr>
              <a:t>REJECTED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325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회원(Member) 상태 FSM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920240"/>
            <a:ext cx="256032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Gotham Bold"/>
              </a:rPr>
              <a:t>PENDING
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0" y="1920240"/>
            <a:ext cx="2560320" cy="10058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Gotham Bold"/>
              </a:rPr>
              <a:t>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0" y="3291840"/>
            <a:ext cx="2560320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3474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Gotham Bold"/>
              </a:rPr>
              <a:t>SUSPENDED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291840"/>
            <a:ext cx="2560320" cy="100584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474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Gotham Bold"/>
              </a:rPr>
              <a:t>DORMANT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721840" y="2560320"/>
            <a:ext cx="256032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13280" y="2743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Gotham Bold"/>
              </a:rPr>
              <a:t>WITHDRAWN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600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198"/>
                </a:solidFill>
                <a:latin typeface="Canva Sans"/>
              </a:rPr>
              <a:t>FSM 보장: validateTransition() — 허용되지 않는 전환 → BusinessException 400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17373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7373600" cy="45720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도메인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2578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상태 목록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터미널 상태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5257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전환 검증 메서드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60720"/>
            <a:ext cx="17373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1F60"/>
                </a:solidFill>
                <a:latin typeface="Canva Sans"/>
              </a:rPr>
              <a:t>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852160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PENDING_APPROVAL / ACTIVE / SUSPENDED / DORMANT / WITHDRAWN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85216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nva Sans"/>
              </a:rPr>
              <a:t>WITHDRAWN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585216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MemberStatus.canTransitionTo()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92240"/>
            <a:ext cx="17373600" cy="71323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58368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1F60"/>
                </a:solidFill>
                <a:latin typeface="Canva Sans"/>
              </a:rPr>
              <a:t>Promoter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6583680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PENDING / APPROVED / REJECTED / SUSPENDED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5836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nva Sans"/>
              </a:rPr>
              <a:t>REJECTED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658368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PromoterApprovalStatus.canTransitionTo()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7223760"/>
            <a:ext cx="17373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731520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1F60"/>
                </a:solidFill>
                <a:latin typeface="Canva Sans"/>
              </a:rPr>
              <a:t>VenueManager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7315200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PENDING / APPROVED / REJECTED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731520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nva Sans"/>
              </a:rPr>
              <a:t>REJECTED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0" y="731520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VenueManagerApprovalStatus.canTransitionTo()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7955280"/>
            <a:ext cx="17373600" cy="71323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80467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1F60"/>
                </a:solidFill>
                <a:latin typeface="Canva Sans"/>
              </a:rPr>
              <a:t>Performance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8046720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DRAFT / REVIEW / APPROVED / REJECTED / PUBLISHED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804672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nva Sans"/>
              </a:rPr>
              <a:t>PUBLISHED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0" y="804672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nva Sans"/>
              </a:rPr>
              <a:t>PerformanceApprovalStatus.validateTransition()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FSM — 유한 상태 기계(Finite State Machine) 구현입니다.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4개 도메인에 FSM을 적용했습니다: Member, Promoter, VenueManager, Performance.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각 Enum에 canTransitionTo() 또는 validateTransition() 메서드가 내장되어 있어,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허용되지 않은 상태 전환 시도 시 즉시 BusinessException(400)을 던집니다.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예를 들어, WITHDRAWN 상태의 회원은 어떤 상태로도 전환이 불가능합니다.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이는 탈퇴 회원의 계정이 복구될 수 없다는 비즈니스 규칙을 코드로 강제한 것입니다.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 구조 덕분에 상태 전환 로직이 분산되지 않고 단일 Enum에 집중됩니다.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인증 &amp; 보안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JWT HttpOnly 쿠키 기반 인증 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3017520" cy="16459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nva Sans"/>
              </a:rPr>
              <a:t>①  로그인 요청
POST /api/member/login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965960"/>
            <a:ext cx="3017520" cy="164592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057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nva Sans"/>
              </a:rPr>
              <a:t>②  JWT 발급
HS256 + 2h 만료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965960"/>
            <a:ext cx="3017520" cy="164592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057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nva Sans"/>
              </a:rPr>
              <a:t>③  HttpOnly 쿠키
XSS 방어 자동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965960"/>
            <a:ext cx="3017520" cy="1645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2057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nva Sans"/>
              </a:rPr>
              <a:t>④  요청 시 자동 전송
JwtAuthenticationFilter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0" y="1965960"/>
            <a:ext cx="3017520" cy="1645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40" y="2057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nva Sans"/>
              </a:rPr>
              <a:t>⑤  역할 검증
Security Context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포털별 쿠키명 분리 (localhost 덮어쓰기 방지)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4937760" cy="109728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otham Bold"/>
              </a:rPr>
              <a:t>USER_TOKEN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ticket-user :8080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4389120"/>
            <a:ext cx="4937760" cy="1097280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4480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otham Bold"/>
              </a:rPr>
              <a:t>PARTNER_TOKEN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5029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ticket-partner :8081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81360" y="4389120"/>
            <a:ext cx="4937760" cy="109728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20" y="4480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otham Bold"/>
              </a:rPr>
              <a:t>ADMIN_TOKEN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5029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0FB"/>
                </a:solidFill>
                <a:latin typeface="Canva Sans"/>
              </a:rPr>
              <a:t>ticket-admin :8082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Spring Security 접근 제어 규칙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263640"/>
            <a:ext cx="3840480" cy="36576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720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41F60"/>
                </a:solidFill>
                <a:latin typeface="Canva Sans"/>
              </a:rPr>
              <a:t>/backoffice/super/**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7269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1F60"/>
                </a:solidFill>
                <a:latin typeface="Gotham Bold"/>
              </a:rPr>
              <a:t>→  SUPER_ADMIN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62636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6263640"/>
            <a:ext cx="3840480" cy="36576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6720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7198"/>
                </a:solidFill>
                <a:latin typeface="Canva Sans"/>
              </a:rPr>
              <a:t>/backoffice/staff/**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7269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1F60"/>
                </a:solidFill>
                <a:latin typeface="Gotham Bold"/>
              </a:rPr>
              <a:t>→  SUPER_ADMIN + STAFF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62636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95360" y="6263640"/>
            <a:ext cx="3840480" cy="365760"/>
          </a:xfrm>
          <a:prstGeom prst="rect">
            <a:avLst/>
          </a:prstGeom>
          <a:solidFill>
            <a:srgbClr val="17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6720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5F8A"/>
                </a:solidFill>
                <a:latin typeface="Canva Sans"/>
              </a:rPr>
              <a:t>/partner/promoter/**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7269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1F60"/>
                </a:solidFill>
                <a:latin typeface="Gotham Bold"/>
              </a:rPr>
              <a:t>→  PROMOTER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664440" y="62636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664440" y="6263640"/>
            <a:ext cx="3840480" cy="365760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755880" y="6720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6C3A"/>
                </a:solidFill>
                <a:latin typeface="Canva Sans"/>
              </a:rPr>
              <a:t>/partner/venue/**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55880" y="7269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1F60"/>
                </a:solidFill>
                <a:latin typeface="Gotham Bold"/>
              </a:rPr>
              <a:t>→  VENUE_MANAGER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인증과 보안 아키텍처입니다.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가장 중요한 설계 결정은 포털별 쿠키명 분리입니다.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USER_TOKEN, PARTNER_TOKEN, ADMIN_TOKEN — 세 쿠키를 분리함으로써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localhost에서 개발 시 쿠키가 덮어씌워지는 문제를 원천 차단했습니다.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JwtAuthenticationFilter가 HttpOnly 쿠키에서 JWT를 파싱해 SecurityContext에 설정하고,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각 포털의 security-context.xml에서 URL 패턴과 역할을 매핑합니다.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3개 서버가 동일한 JWT_SECRET_KEY를 공유하므로, 발급 서버와 검증 서버가 달라도 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178308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0E8"/>
                </a:solidFill>
                <a:latin typeface="Canva Sans"/>
              </a:rPr>
              <a:t>PART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1463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otham Bold"/>
              </a:rPr>
              <a:t>데이터 &amp; 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200+ 공연 데이터셋 · 구현 완성도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Part 5 — 데이터셋 구축과 구현 성과입니다.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초기에는 4~14개의 공연 데이터만 있어 Elasticsearch 테스트나 성능 검증이 어려웠습니다.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12차 세션에서 WITH RECURSIVE CTE를 활용해 200개 이상의 공연 데이터를 자동 생성했습니다.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단순히 공연만 넣은 것이 아니라, 각 공연에 딸린 일정·좌석등급·좌석·인벤토리까지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유기적으로 생성되어 실제 서비스와 유사한 데이터 환경을 구축했습니다.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데이터셋 구성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8229600" cy="7772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0" y="1828800"/>
            <a:ext cx="6858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1828800"/>
            <a:ext cx="411480" cy="137160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0" y="196596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41F60"/>
                </a:solidFill>
                <a:latin typeface="Gotham Bold"/>
              </a:rPr>
              <a:t>214건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2606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공연 데이터 (data_extension.sql)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3520440"/>
            <a:ext cx="6858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3520440"/>
            <a:ext cx="411480" cy="137160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365760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8A5A"/>
                </a:solidFill>
                <a:latin typeface="Gotham Bold"/>
              </a:rPr>
              <a:t>12,840석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4297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좌석 인벤토리 (WITH RECURSIVE)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5212080"/>
            <a:ext cx="6858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5212080"/>
            <a:ext cx="411480" cy="13716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534924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BFF"/>
                </a:solidFill>
                <a:latin typeface="Gotham Bold"/>
              </a:rPr>
              <a:t>45개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59893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DB 테이블 (schema_total.sql)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6903720"/>
            <a:ext cx="6858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6903720"/>
            <a:ext cx="411480" cy="13716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704088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7A1E"/>
                </a:solidFill>
                <a:latin typeface="Gotham Bold"/>
              </a:rPr>
              <a:t>3-WAR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76809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198"/>
                </a:solidFill>
                <a:latin typeface="Canva Sans"/>
              </a:rPr>
              <a:t>독립 배포 (단일 DB 공유)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도메인별 데이터 분포 현황입니다.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214건의 공연 데이터가 있으며, 공연당 평균 4개의 회차(Schedule)가 생성됩니다.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12,840개의 좌석 인벤토리는 WITH RECURSIVE CTE로 자동 생성된 것으로,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수동으로 입력하면 수 시간이 걸릴 데이터를 스크립트 한 번으로 해결했습니다.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poster_url은 picsum.photos 시드 URL로 정규화되어, 실제 이미지가 표시됩니다.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description은 HTML 형식으로 저장되어 Elasticsearch 인덱싱 준비가 완료된 상태입니다.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E2E 데모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91840" cy="713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291840" cy="5029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1F60"/>
                </a:solidFill>
                <a:latin typeface="Gotham Bold"/>
              </a:rPr>
              <a:t>파트너 로그인
공연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3017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promoter1@test.com
DRAFT 상태로
공연 등록
공연회차·
좌석등급·
가격 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5120640"/>
            <a:ext cx="137160" cy="54864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40" y="1828800"/>
            <a:ext cx="3291840" cy="713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40" y="1828800"/>
            <a:ext cx="3291840" cy="50292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14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BFF"/>
                </a:solidFill>
                <a:latin typeface="Gotham Bold"/>
              </a:rPr>
              <a:t>어드민 심사
승인·게시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29000"/>
            <a:ext cx="3017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admin@ticketlegacy
.com
REVIEW →
APPROVED →
PUBLISHED
미리보기 후
게시 승인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137160" cy="54864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0" y="1828800"/>
            <a:ext cx="3291840" cy="713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0" y="1828800"/>
            <a:ext cx="3291840" cy="50292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14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8A5A"/>
                </a:solidFill>
                <a:latin typeface="Gotham Bold"/>
              </a:rPr>
              <a:t>사용자 검색
좌석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429000"/>
            <a:ext cx="3017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user1@test.com
ON_SALE 공연
목록에 표시
공연 상세 →
회차 선택 →
좌석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35640" y="5120640"/>
            <a:ext cx="137160" cy="54864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18520" y="1828800"/>
            <a:ext cx="3291840" cy="713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18520" y="1828800"/>
            <a:ext cx="3291840" cy="502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2514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A1E"/>
                </a:solidFill>
                <a:latin typeface="Gotham Bold"/>
              </a:rPr>
              <a:t>예매 &amp; 결제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3429000"/>
            <a:ext cx="3017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Redis Lua
원자 선점
PENDING 예약
생성
결제 완료 →
CONFIRMED
전환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356080" y="5120640"/>
            <a:ext cx="137160" cy="54864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538960" y="1828800"/>
            <a:ext cx="3291840" cy="713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538960" y="1828800"/>
            <a:ext cx="329184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612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otham Bold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76120" y="2514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1FA2"/>
                </a:solidFill>
                <a:latin typeface="Gotham Bold"/>
              </a:rPr>
              <a:t>예매 확인
취소·환불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76120" y="3429000"/>
            <a:ext cx="3017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nva Sans"/>
              </a:rPr>
              <a:t>마이페이지에서
예매 내역 확인
취소 시
CANCELLED
좌석 →
AVAILABLE
복원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End-to-End 전체 플로우입니다. 5단계로 공연 등록부터 예매·취소까지 완전한 사이클을 보여줍니다.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STEP 1: 기획사 담당자가 ticket-partner에 로그인해 공연을 등록합니다. DRAFT 상태로 시작됩니다.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STEP 2: 어드민이 심사 대기 공연을 확인하고, 미리보기 후 APPROVED → PUBLISHED로 전환합니다.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STEP 3: ticket-user의 공연 목록에 ON_SALE 공연이 표시되고, 사용자가 좌석을 선택합니다.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STEP 4: Redis Lua 스크립트가 좌석을 HOLD하고, 결제 완료 시 CONFIRMED로 확정됩니다.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STEP 5: 마이페이지에서 예매를 취소하면 좌석이 AVAILABLE로 복원됩니다.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 E2E 플로우는 7차 세션에서 전 구간 검증을 완료했습니다.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178308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0E8"/>
                </a:solidFill>
                <a:latin typeface="Canva Sans"/>
              </a:rPr>
              <a:t>PART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1463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otham Bold"/>
              </a:rPr>
              <a:t>기술적 도전 &amp;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개발 과정의 주요 이슈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Part 6 — 기술적 도전과 해결책입니다.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개발 과정에서 만난 핵심 이슈 4가지를 소개합니다.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단순 버그가 아닌, 아키텍처 설계와 관련된 근본적인 문제들입니다.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기술적 도전 &amp;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138160" cy="45720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4767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JSP EL vs JS 템플릿 리터럴 충돌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🔴 문제: JS 템플릿 리터럴 ${item.name}을 JSP EL이 서버사이드에서 'false'로 치환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8A5A"/>
                </a:solidFill>
                <a:latin typeface="Canva Sans"/>
              </a:rPr>
              <a:t>✅ 해결: JS 문자열 연결(+) 방식으로 전면 교체. loadVenueOptions() 동일 수정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41732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3960" y="1417320"/>
            <a:ext cx="8138160" cy="4572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94767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BFF"/>
                </a:solidFill>
                <a:latin typeface="Gotham Bold"/>
              </a:rPr>
              <a:t>BCrypt 해시 불일치 — 로그인 전면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5603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🔴 문제: 분산된 SQL 파일 간 해시 버전 불일치로 모든 계정 로그인 실패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61188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8A5A"/>
                </a:solidFill>
                <a:latin typeface="Canva Sans"/>
              </a:rPr>
              <a:t>✅ 해결: schema_total.sql + data_total.sql 단일화, $2a$10$ 해시 일괄 교체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120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212080"/>
            <a:ext cx="8138160" cy="4572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74243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7A1E"/>
                </a:solidFill>
                <a:latin typeface="Gotham Bold"/>
              </a:rPr>
              <a:t>Redis 장애 시 ticket-user 기동 실패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55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🔴 문제: LettuceConnectionFactory가 Redis 연결 실패 시 즉시 예외 발생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7406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8A5A"/>
                </a:solidFill>
                <a:latin typeface="Canva Sans"/>
              </a:rPr>
              <a:t>✅ 해결: graceful 강등 로직 — Redis 불가 시 DB-only 모드로 자동 전환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52120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5212080"/>
            <a:ext cx="8138160" cy="45720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574243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8A5A"/>
                </a:solidFill>
                <a:latin typeface="Gotham Bold"/>
              </a:rPr>
              <a:t>Mapper 직접 주입 → 서비스 계층 위반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6355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🔴 문제: 컨트롤러에서 Mapper 9개 직접 주입. 트랜잭션 경계·재사용성 취약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7406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8A5A"/>
                </a:solidFill>
                <a:latin typeface="Canva Sans"/>
              </a:rPr>
              <a:t>✅ 해결: Phase 1 — 전 매퍼 Service 메서드로 이전, @Transactional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4가지 핵심 이슈입니다.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첫 번째 JSP EL vs JS 템플릿 리터럴 충돌은 Spring MVC + JSP 환경의 고전적인 함정입니다.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JSP가 서버사이드에서 ${} 표현식을 먼저 처리하기 때문에,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JS의 템플릿 리터럴이 의도치 않게 서버에서 평가됩니다.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두 번째 BCrypt 해시 불일치는 여러 SQL 파일이 분산되어 있던 구조적 문제로,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data_total.sql 단일화로 영구 해결했습니다.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네 번째 매퍼 직접 주입은 8차~11차 세션에 걸쳐 단계적으로 서비스 계층으로 이전했습니다.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178308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0E8"/>
                </a:solidFill>
                <a:latin typeface="Canva Sans"/>
              </a:rPr>
              <a:t>PART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1463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otham Bold"/>
              </a:rPr>
              <a:t>향후 계획 &amp;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로드맵 · 핵심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Part 7 — 향후 계획과 결론입니다.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현재 Phase 1·2가 완료된 상태이며, Phase 3부터 6까지의 로드맵이 수립되어 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가장 중요한 다음 작업은 Phase 3 — 예매 동시성 완전 확보와 결제 PG 실제 연동입니다.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현재 PaymentService.simulatePgPayment()가 항상 true를 반환하는 mock 상태로,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실제 PG 연동이 필요합니다.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otham Bold"/>
              </a:rPr>
              <a:t>향후 개발 계획 (Phase 3~5)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47520" y="3474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D0E8"/>
                </a:solidFill>
                <a:latin typeface="Canva Sans"/>
              </a:rPr>
              <a:t>PART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840480" cy="7818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840480" cy="777240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otham Bold"/>
              </a:rPr>
              <a:t>Phase 3
예매 동시성 강화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Redis + DB 정합성 완전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55848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4612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환불 엣지 케이스 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224528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1480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결제 PG 실제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093208"/>
            <a:ext cx="201168" cy="201168"/>
          </a:xfrm>
          <a:prstGeom prst="rect">
            <a:avLst/>
          </a:prstGeom>
          <a:solidFill>
            <a:srgbClr val="04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98348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cancelOrphan 배치 스케줄러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1417320"/>
            <a:ext cx="3840480" cy="7818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417320"/>
            <a:ext cx="3840480" cy="7772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4904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otham Bold"/>
              </a:rPr>
              <a:t>Phase 4
유저 기능 확장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0872" y="2487168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237744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공연 검색·필터 (카테고리·날짜·가격)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90872" y="3355848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324612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쿠폰 적용 UI (결제 화면)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0872" y="4224528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411480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환불 플로우 (마이페이지)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90872" y="5093208"/>
            <a:ext cx="201168" cy="20116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2624" y="498348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Elasticsearch 검색 엔진 연동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50224" y="1417320"/>
            <a:ext cx="3840480" cy="7818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50224" y="1417320"/>
            <a:ext cx="3840480" cy="77724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7384" y="14904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otham Bold"/>
              </a:rPr>
              <a:t>Phase 5
코드 품질 정리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87384" y="2487168"/>
            <a:ext cx="201168" cy="20116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237744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DateUtil 중복 제거 (ticket-user → common)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87384" y="3355848"/>
            <a:ext cx="201168" cy="20116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89136" y="324612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JSP 날짜 헬퍼 분기 제거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87384" y="4224528"/>
            <a:ext cx="201168" cy="20116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9136" y="411480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MemberRole enum dead code 정리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87384" y="5093208"/>
            <a:ext cx="201168" cy="20116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498348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결제 게이트웨이 mock 제거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746736" y="1417320"/>
            <a:ext cx="3840480" cy="7818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746736" y="1417320"/>
            <a:ext cx="3840480" cy="7772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83896" y="14904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otham Bold"/>
              </a:rPr>
              <a:t>Phase 6
운영 모니터링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83896" y="2487168"/>
            <a:ext cx="201168" cy="20116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85648" y="237744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파트너 판매 리포트 차트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883896" y="3355848"/>
            <a:ext cx="201168" cy="20116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85648" y="324612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어드민 회원 상세 조회·강제탈퇴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83896" y="4224528"/>
            <a:ext cx="201168" cy="20116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185648" y="411480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QR 스캔 입장 시스템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883896" y="5093208"/>
            <a:ext cx="201168" cy="20116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85648" y="4983480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nva Sans"/>
              </a:rPr>
              <a:t>시스템 메트릭 대시보드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Phase 3부터 6까지의 로드맵입니다.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Phase 3 — 예매 동시성: cancelOrphan 배치 스케줄러와 환불 엣지 케이스, 실제 PG 연동.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Phase 4 — 유저 기능: 공연 검색 필터, 쿠폰 UI, 그리고 Elasticsearch 연동이 핵심입니다.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현재 데이터셋의 description HTML과 poster_url이 이미 Elasticsearch 인덱싱 형식으로 준비되어 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Phase 5 — 코드 정리: DateUtil 중복 제거, MemberRole enum dead code 정리 등.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Phase 6 — QR 입장 스캔, 시스템 메트릭 대시보드로 운영 수준을 높입니다.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102870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Gotham Bold"/>
              </a:rPr>
              <a:t>결  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198"/>
                </a:solidFill>
                <a:latin typeface="Canva Sans"/>
              </a:rPr>
              <a:t>TicketLegacy — 핵심 성과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14904720" cy="36576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otham Bold"/>
              </a:rPr>
              <a:t>45개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198"/>
                </a:solidFill>
                <a:latin typeface="Canva Sans"/>
              </a:rPr>
              <a:t>DB 테이블
(schema_total.sql)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474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otham Bold"/>
              </a:rPr>
              <a:t>200+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846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198"/>
                </a:solidFill>
                <a:latin typeface="Canva Sans"/>
              </a:rPr>
              <a:t>공연 데이터
(WITH RECURSIVE)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474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otham Bold"/>
              </a:rPr>
              <a:t>3-WAR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846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198"/>
                </a:solidFill>
                <a:latin typeface="Canva Sans"/>
              </a:rPr>
              <a:t>독립 포털
(JWT 공유 인증)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3474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otham Bold"/>
              </a:rPr>
              <a:t>4-FSM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0" y="4846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198"/>
                </a:solidFill>
                <a:latin typeface="Canva Sans"/>
              </a:rPr>
              <a:t>상태 도메인
(Member·Promoter·VM·Perf)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6217920"/>
            <a:ext cx="14904720" cy="36576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6583680"/>
            <a:ext cx="1490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otham Bold"/>
              </a:rPr>
              <a:t>Spring Legacy MVC 5.3 기반 엔터프라이즈 수준의 공연 예매 플랫폼 구현 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406640"/>
            <a:ext cx="1490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198"/>
                </a:solidFill>
                <a:latin typeface="Canva Sans"/>
              </a:rPr>
              <a:t>Dual Defense 좌석 선점 · FSM 상태 관리 · JWT 3-WAR 공유 인증 · BCrypt 보안 · 200+ 실데이터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결론입니다.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TicketLegacy는 Spring Legacy MVC 5.3 기반의 엔터프라이즈 수준 공연 예매 플랫폼입니다.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45개 테이블, 200개 이상의 실 데이터, 3개 독립 WAR 포털,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4개 도메인에 FSM 적용, Redis Dual Defense 동시성 제어.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단순히 '동작하는 코드'를 넘어, '운영에서 안 터지는 코드'를 목표로 설계했습니다.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트랜잭션 경계, 동시성, 멱등성, 보안 — 모든 변경에서 이 네 가지를 점검했습니다.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 경험이 실제 현업에서 레거시 시스템을 다루는 역량으로 이어질 것이라고 확신합니다.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감사합니다.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5720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828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041F60"/>
                </a:solidFill>
                <a:latin typeface="Gotham Bold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828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667198"/>
                </a:solidFill>
                <a:latin typeface="Canva Sans"/>
              </a:rPr>
              <a:t>질의응답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828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41F60"/>
                </a:solidFill>
                <a:latin typeface="Gotham Bold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79"/>
            <a:ext cx="1828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67198"/>
                </a:solidFill>
                <a:latin typeface="Canva Sans"/>
              </a:rPr>
              <a:t>TicketLegacy  |  Spring MVC 5.3  |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10287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82296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1F60"/>
                </a:solidFill>
                <a:latin typeface="Gotham Bold"/>
              </a:rPr>
              <a:t>📋  발표 대본  —  슬라이드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0" y="164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6002000" cy="804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이상으로 TicketLegacy 프로젝트 발표를 마치겠습니다.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질문이 있으시면 편하게 질문해 주세요.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혹시 기술적인 부분에서 더 깊이 알고 싶으신 내용이 있다면,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Redis Lua 스크립트, FSM 구현 방식, JWT 필터 체인 등 어떤 부분이든 설명 가능합니다.</a:t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700" b="0">
                <a:solidFill>
                  <a:srgbClr val="000000"/>
                </a:solidFill>
                <a:latin typeface="Canva Sans"/>
              </a:rPr>
              <a:t>감사합니다.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0" y="9692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198"/>
                </a:solidFill>
                <a:latin typeface="Canva Sans"/>
              </a:rPr>
              <a:t>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DAHI5MQ4xxQ</dc:identifier>
  <dcterms:modified xsi:type="dcterms:W3CDTF">2011-08-01T06:04:30Z</dcterms:modified>
  <cp:revision>1</cp:revision>
</cp:coreProperties>
</file>