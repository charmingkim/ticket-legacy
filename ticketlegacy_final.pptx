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33"/>
    <p:sldId id="263" r:id="rId9"/>
    <p:sldId id="264" r:id="rId10"/>
    <p:sldId id="265" r:id="rId11"/>
    <p:sldId id="266" r:id="rId12"/>
    <p:sldId id="267" r:id="rId13"/>
    <p:sldId id="268" r:id="rId14"/>
    <p:sldId id="283" r:id="rId34"/>
    <p:sldId id="269" r:id="rId15"/>
    <p:sldId id="270" r:id="rId16"/>
    <p:sldId id="271" r:id="rId17"/>
    <p:sldId id="272" r:id="rId18"/>
    <p:sldId id="273" r:id="rId19"/>
    <p:sldId id="284" r:id="rId35"/>
    <p:sldId id="285" r:id="rId36"/>
    <p:sldId id="274" r:id="rId20"/>
    <p:sldId id="275" r:id="rId21"/>
    <p:sldId id="286" r:id="rId37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55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5486400" y="-457200"/>
            <a:ext cx="5029200" cy="6400800"/>
          </a:xfrm>
          <a:prstGeom prst="rect">
            <a:avLst/>
          </a:prstGeom>
          <a:solidFill>
            <a:srgbClr val="1C2F4A"/>
          </a:solidFill>
          <a:ln w="12700">
            <a:solidFill>
              <a:srgbClr val="1C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480000">
            <a:off x="5943600" y="-457200"/>
            <a:ext cx="64008" cy="6400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TICKETING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TicketLegacy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예매 플랫폼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4114800" cy="0"/>
          </a:xfrm>
          <a:prstGeom prst="line">
            <a:avLst/>
          </a:prstGeom>
          <a:noFill/>
          <a:ln w="10160">
            <a:solidFill>
              <a:srgbClr val="484F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97180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58A6FF">
              <a:alpha val="2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71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5.3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83080" y="2971800"/>
            <a:ext cx="845820" cy="201168"/>
          </a:xfrm>
          <a:prstGeom prst="roundRect">
            <a:avLst>
              <a:gd name="adj" fmla="val 22727"/>
            </a:avLst>
          </a:prstGeom>
          <a:solidFill>
            <a:srgbClr val="58A6FF">
              <a:alpha val="2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971800"/>
            <a:ext cx="845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20340" y="2971800"/>
            <a:ext cx="434340" cy="201168"/>
          </a:xfrm>
          <a:prstGeom prst="roundRect">
            <a:avLst>
              <a:gd name="adj" fmla="val 22727"/>
            </a:avLst>
          </a:prstGeom>
          <a:solidFill>
            <a:srgbClr val="58A6FF">
              <a:alpha val="2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0340" y="2971800"/>
            <a:ext cx="434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46120" y="2971800"/>
            <a:ext cx="571500" cy="201168"/>
          </a:xfrm>
          <a:prstGeom prst="roundRect">
            <a:avLst>
              <a:gd name="adj" fmla="val 22727"/>
            </a:avLst>
          </a:prstGeom>
          <a:solidFill>
            <a:srgbClr val="58A6FF">
              <a:alpha val="2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971800"/>
            <a:ext cx="571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909060" y="2971800"/>
            <a:ext cx="708660" cy="201168"/>
          </a:xfrm>
          <a:prstGeom prst="roundRect">
            <a:avLst>
              <a:gd name="adj" fmla="val 22727"/>
            </a:avLst>
          </a:prstGeom>
          <a:solidFill>
            <a:srgbClr val="58A6FF">
              <a:alpha val="2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9060" y="2971800"/>
            <a:ext cx="70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포털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37360" y="3474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737360" y="40050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테이블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71800" y="3474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971800" y="40050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데이터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06240" y="3474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206240" y="40050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도메인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4663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프로젝트 최종 발표  |  2026.05.06</a:t>
            </a:r>
            <a:endParaRPr lang="en-US" sz="9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 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3350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61872" y="1426464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1353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9888" y="17007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· 목표 · 개발 환경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26771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61872" y="2359152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명세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89888" y="26334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 · 비기능 요구사항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3200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261872" y="3291840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9888" y="3218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89888" y="3566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멀티모듈 구조 · 기술 스택 · DB 설계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078224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41330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61872" y="4224528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9888" y="41513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구현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89888" y="44988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제어 · FSM · 인증·보안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280160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10912" y="13350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650992" y="1426464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9008" y="1353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&amp; 성과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79008" y="17007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공연 데이터셋 · 구현 완성도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212848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10912" y="226771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650992" y="2359152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도전 &amp; 해결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79008" y="26334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이슈 4가지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145536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10912" y="3200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650992" y="3291840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79008" y="3218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 &amp; 결론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79008" y="3566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로드맵 · 핵심 가치 · Q&amp;A</a:t>
            </a:r>
            <a:endParaRPr lang="en-US" sz="9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· 목표 · 개발 환경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&amp; 목표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777240"/>
            <a:ext cx="54864" cy="9601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822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09728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티켓 예매 서비스(인터파크·예스24)의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기능을 Spring Legacy MVC로 구현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47088"/>
            <a:ext cx="54864" cy="10058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9019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도전 과제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1762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좌석 예매 시 중복 예매 방지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Redis Lua 스크립트 + DB 낙관적 락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0" y="1847088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847088"/>
            <a:ext cx="54864" cy="10058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19019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도전 과제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61488" y="21762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등록~게시 워크플로우 안전 관리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FSM(유한 상태 기계) 적용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777240"/>
            <a:ext cx="3886200" cy="896112"/>
          </a:xfrm>
          <a:prstGeom prst="roundRect">
            <a:avLst>
              <a:gd name="adj" fmla="val 1224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9472" y="1033272"/>
            <a:ext cx="384048" cy="384048"/>
          </a:xfrm>
          <a:prstGeom prst="ellipse">
            <a:avLst/>
          </a:prstGeom>
          <a:solidFill>
            <a:srgbClr val="39D353">
              <a:alpha val="8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13248" y="868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완성도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13248" y="116128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3-WAR 독립 포털 완전 가동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(사용자·파트너·어드민)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1801368"/>
            <a:ext cx="3886200" cy="896112"/>
          </a:xfrm>
          <a:prstGeom prst="roundRect">
            <a:avLst>
              <a:gd name="adj" fmla="val 1224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2057400"/>
            <a:ext cx="384048" cy="384048"/>
          </a:xfrm>
          <a:prstGeom prst="ellipse">
            <a:avLst/>
          </a:prstGeom>
          <a:solidFill>
            <a:srgbClr val="58A6FF">
              <a:alpha val="8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13248" y="1892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품질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218541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계층 완전 typed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봉인·매퍼 직접주입 제거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2825496"/>
            <a:ext cx="3886200" cy="896112"/>
          </a:xfrm>
          <a:prstGeom prst="roundRect">
            <a:avLst>
              <a:gd name="adj" fmla="val 1224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9472" y="3081528"/>
            <a:ext cx="384048" cy="384048"/>
          </a:xfrm>
          <a:prstGeom prst="ellipse">
            <a:avLst/>
          </a:prstGeom>
          <a:solidFill>
            <a:srgbClr val="F0883E">
              <a:alpha val="8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413248" y="29169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13248" y="320954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경계값·장애 시나리오·트랜잭션 경계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운영에서 안 터지는 코드</a:t>
            </a:r>
            <a:endParaRPr lang="en-US" sz="850" dirty="0"/>
          </a:p>
        </p:txBody>
      </p:sp>
      <p:sp>
        <p:nvSpPr>
          <p:cNvPr id="33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환경 &amp; 기술 제약사항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1170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9601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런타임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216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+ Spring MVC 5.3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52704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record·sealed 불가 / javax.* 유지 / jakarta.* 절대 금지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92040" y="868680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868680"/>
            <a:ext cx="54864" cy="1170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9601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56632" y="1216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— springgreen6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56632" y="152704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3-WAR 단일 DB 공유 / 각 모듈 독립 HikariCP 연결 풀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221992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21992"/>
            <a:ext cx="54864" cy="11704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313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" y="25694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localhost:6379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288036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ticket-user 필수(좌석 락) / 장애 시 graceful 강등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92040" y="2221992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221992"/>
            <a:ext cx="54864" cy="11704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313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56632" y="25694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 — JWT_SECRET_KEY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56632" y="288036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인코딩 / 3-WAR 동일 시크릿 / 역할 기반 포털 분리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575304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75304"/>
            <a:ext cx="54864" cy="117043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6667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39227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멀티모듈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" y="42336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ticket-common(JAR) ← user/partner/admin(WAR)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92040" y="3575304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3575304"/>
            <a:ext cx="54864" cy="1170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36667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56632" y="39227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+ Tiles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56632" y="42336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 3.5 + JJWT 0.11.5 / SPA 없음 / 전통적 MVC</a:t>
            </a:r>
            <a:endParaRPr lang="en-US" sz="850" dirty="0"/>
          </a:p>
        </p:txBody>
      </p:sp>
      <p:sp>
        <p:nvSpPr>
          <p:cNvPr id="36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명세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 · 비기능 요구사항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 — 포털별 분류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841248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58A6FF">
              <a:alpha val="1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8869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ticket-user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42646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회원 포털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029968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4672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/ 로그인 / 로그아웃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45059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" y="2340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목록 조회 &amp; 상세 보기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871216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2761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 &amp; 예매 (Redis 락)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04672" y="31821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처리 (멱등성 보장)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712464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672" y="3602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조회 &amp; 적용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133088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04672" y="4023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내역 조회 &amp; 취소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55371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4672" y="44439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대기열(Queue) 진입 관리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55848" y="841248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355848" y="841248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0883E">
              <a:alpha val="18000"/>
            </a:srgbClr>
          </a:solidFill>
          <a:ln w="10160">
            <a:solidFill>
              <a:srgbClr val="F0883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493008" y="8869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93008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ticket-partner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93008" y="142646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포털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38728" y="2029968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703320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로그인 (어드민 생성 계정)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38728" y="2450592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703320" y="2340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등록 &amp; 수정 (DRAFT→REVIEW)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38728" y="2871216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703320" y="2761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공연회차 &amp; 좌석 등급/가격 설정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38728" y="3291840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703320" y="31821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구역 레이아웃 관리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38728" y="3712464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703320" y="3602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발행 &amp; 관리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38728" y="4133088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538728" y="4553712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254496" y="841248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254496" y="841248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85149">
              <a:alpha val="18000"/>
            </a:srgbClr>
          </a:solidFill>
          <a:ln w="10160">
            <a:solidFill>
              <a:srgbClr val="F85149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391656" y="8869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91656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ticket-admin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391656" y="142646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어드민 포털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37376" y="2029968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601968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목록 조회 &amp; 상태 변경 (FSM)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37376" y="2450592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601968" y="2340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기획사 승인/반려/정지 (FSM)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37376" y="2871216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601968" y="2761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심사 &amp; 승인/반려/게시 (FSM)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37376" y="3291840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601968" y="31821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상세 미리보기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37376" y="3712464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601968" y="3602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대시보드 (매출·예매)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37376" y="4133088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601968" y="4023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템플릿 관리</a:t>
            </a:r>
            <a:endParaRPr lang="en-US" sz="900" dirty="0"/>
          </a:p>
        </p:txBody>
      </p:sp>
      <p:sp>
        <p:nvSpPr>
          <p:cNvPr id="61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 — 좌석 예매 상세 플로우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18288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97840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1234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618488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회차 선택 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구역·등급별 좌석 선택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55264" y="1783080"/>
            <a:ext cx="45720" cy="0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8686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868680"/>
            <a:ext cx="54864" cy="18288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97840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20440" y="1234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선점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1618488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 스크립트로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→ HOLD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 전환 (TTL 10분)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53912" y="1783080"/>
            <a:ext cx="45720" cy="0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8686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868680"/>
            <a:ext cx="54864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97840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19088" y="1234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요청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9088" y="1618488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예약 생성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idempotency_key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결제 차단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9864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98648"/>
            <a:ext cx="54864" cy="1828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0083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32644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확정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" y="3648456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성공 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CONFIRMED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→ RESERVED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55264" y="3813048"/>
            <a:ext cx="45720" cy="0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289864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5848" y="2898648"/>
            <a:ext cx="54864" cy="18288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0083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20440" y="32644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타임아웃 처리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0440" y="3648456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3초 간격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 HOLD → AVAILABLE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예약 취소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53912" y="3813048"/>
            <a:ext cx="45720" cy="0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54496" y="289864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54496" y="2898648"/>
            <a:ext cx="54864" cy="18288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30083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19088" y="32644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취소·환불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19088" y="3648456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→ CANCELLED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→ AVAILABLE 복원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REFUNDED 상태 관리</a:t>
            </a:r>
            <a:endParaRPr lang="en-US" sz="950" dirty="0"/>
          </a:p>
        </p:txBody>
      </p:sp>
      <p:sp>
        <p:nvSpPr>
          <p:cNvPr id="40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비기능 요구사항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96696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85149">
              <a:alpha val="22000"/>
            </a:srgbClr>
          </a:solidFill>
          <a:ln w="762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9669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572768" y="978408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34416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HttpOnly 쿠키, BCrypt 해싱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방어, 역할 기반 접근 제어(RBAC)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64608" y="868680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01768" y="996696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0883E">
              <a:alpha val="22000"/>
            </a:srgbClr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99669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80176" y="978408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01768" y="134416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Lua 원자 연산 + DB 조건부 UPDATE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완전 방지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258568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38658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58A6FF">
              <a:alpha val="22000"/>
            </a:srgbClr>
          </a:solidFill>
          <a:ln w="762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865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72768" y="2368296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멱등성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2734056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Payment.idempotency_key UNIQUE 제약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재시도 중복 결제 차단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64608" y="2258568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01768" y="238658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39D353">
              <a:alpha val="22000"/>
            </a:srgbClr>
          </a:solidFill>
          <a:ln w="7620">
            <a:solidFill>
              <a:srgbClr val="39D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3865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80176" y="2368296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01768" y="2734056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장애 시 DB-only 모드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강등 / 단일 장애점 최소화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648456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77647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BC8CFF">
              <a:alpha val="22000"/>
            </a:srgbClr>
          </a:solidFill>
          <a:ln w="7620">
            <a:solidFill>
              <a:srgbClr val="BC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764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572768" y="3758184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4123944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멀티모듈 포털별 독립 배포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 JAR 공유로 중복 방지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64608" y="3648456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01768" y="377647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8B949E">
              <a:alpha val="22000"/>
            </a:srgbClr>
          </a:solidFill>
          <a:ln w="762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37764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980176" y="3758184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유지보수성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01768" y="4123944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validateTransition() 중앙화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계층 완전 typed / 매퍼 직접주입 금지</a:t>
            </a:r>
            <a:endParaRPr lang="en-US" sz="950" dirty="0"/>
          </a:p>
        </p:txBody>
      </p:sp>
      <p:sp>
        <p:nvSpPr>
          <p:cNvPr id="36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멀티모듈 · 기술 스택 · DB 설계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41248"/>
            <a:ext cx="260604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144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15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ticket-user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0817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회원 포털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55648" y="1755648"/>
            <a:ext cx="0" cy="201168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841248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841248"/>
            <a:ext cx="260604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9144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115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ticket-partner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40817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기획사·공연장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90288" y="1755648"/>
            <a:ext cx="0" cy="201168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841248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41248"/>
            <a:ext cx="2606040" cy="45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9144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1115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ticket-admin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40817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슈퍼어드민·스태프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24928" y="1755648"/>
            <a:ext cx="0" cy="201168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1993392"/>
            <a:ext cx="5669280" cy="804672"/>
          </a:xfrm>
          <a:prstGeom prst="roundRect">
            <a:avLst>
              <a:gd name="adj" fmla="val 13636"/>
            </a:avLst>
          </a:prstGeom>
          <a:solidFill>
            <a:srgbClr val="1C2F4A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508760" y="1993392"/>
            <a:ext cx="5669280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2066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  (공유 JAR)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64208" y="23591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20개 · 서비스 11개 · 매퍼 21개 · MyBatis XML 18개 · FSM Enum 4개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43400" y="2834640"/>
            <a:ext cx="0" cy="201168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072384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3127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34198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45개 테이블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70048" y="3072384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807208" y="3127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07208" y="34198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선점·세션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0016" y="3072384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37176" y="3127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37176" y="34198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3-WAR 공유 시크릿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29984" y="3072384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67144" y="3127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67144" y="34198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기반·FSM 제어</a:t>
            </a:r>
            <a:endParaRPr lang="en-US" sz="850" dirty="0"/>
          </a:p>
        </p:txBody>
      </p:sp>
      <p:sp>
        <p:nvSpPr>
          <p:cNvPr id="41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멀티모듈 구조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의존 관계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1188720"/>
            <a:ext cx="2743200" cy="658368"/>
          </a:xfrm>
          <a:prstGeom prst="roundRect">
            <a:avLst>
              <a:gd name="adj" fmla="val 16667"/>
            </a:avLst>
          </a:prstGeom>
          <a:solidFill>
            <a:srgbClr val="1C2F4A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188720"/>
            <a:ext cx="2743200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26187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 (JAR)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141732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945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ticket-user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65860" y="1847088"/>
            <a:ext cx="0" cy="301752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965960" y="2148840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65960" y="2148840"/>
            <a:ext cx="141732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21945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ticket-partner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74620" y="1847088"/>
            <a:ext cx="0" cy="301752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474720" y="2148840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148840"/>
            <a:ext cx="1417320" cy="3657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1945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ticket-admin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83380" y="1847088"/>
            <a:ext cx="0" cy="301752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75488" y="3035808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944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간 직접 의존 없음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3419856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3284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ticket-common은 외부 의존성만 보유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" y="3803904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7124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단방향 의존 — 순환 의존 구조적 불가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8046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 구성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1188720"/>
            <a:ext cx="3749040" cy="676656"/>
          </a:xfrm>
          <a:prstGeom prst="roundRect">
            <a:avLst>
              <a:gd name="adj" fmla="val 1621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1188720"/>
            <a:ext cx="45720" cy="67665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12344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 20개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47488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Performance, Seat...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92040" y="1975104"/>
            <a:ext cx="3749040" cy="676656"/>
          </a:xfrm>
          <a:prstGeom prst="roundRect">
            <a:avLst>
              <a:gd name="adj" fmla="val 1621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1975104"/>
            <a:ext cx="45720" cy="67665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20208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 11개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47488" y="2295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MemberService, ReservationService...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92040" y="2761488"/>
            <a:ext cx="3749040" cy="676656"/>
          </a:xfrm>
          <a:prstGeom prst="roundRect">
            <a:avLst>
              <a:gd name="adj" fmla="val 1621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2761488"/>
            <a:ext cx="45720" cy="67665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280720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매퍼 인터페이스  21개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47488" y="3081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 XML 18개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92040" y="3547872"/>
            <a:ext cx="3749040" cy="676656"/>
          </a:xfrm>
          <a:prstGeom prst="roundRect">
            <a:avLst>
              <a:gd name="adj" fmla="val 1621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92040" y="3547872"/>
            <a:ext cx="45720" cy="67665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47488" y="35935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Enum  4개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47488" y="38679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전환 로직 내장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92040" y="4334256"/>
            <a:ext cx="3749040" cy="676656"/>
          </a:xfrm>
          <a:prstGeom prst="roundRect">
            <a:avLst>
              <a:gd name="adj" fmla="val 1621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92040" y="4334256"/>
            <a:ext cx="45720" cy="67665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7488" y="43799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유틸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47488" y="46542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GlobalExceptionHandler, ApiResponse&lt;T&gt;</a:t>
            </a:r>
            <a:endParaRPr lang="en-US" sz="850" dirty="0"/>
          </a:p>
        </p:txBody>
      </p:sp>
      <p:sp>
        <p:nvSpPr>
          <p:cNvPr id="49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41248"/>
            <a:ext cx="54864" cy="122529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9326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5.3 + Tomcat 9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1298448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기반 설정 (root-context, servlet-context, security-context)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아님 — Legacy 방식 직접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64608" y="841248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841248"/>
            <a:ext cx="54864" cy="12252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9326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 3.5 + MySQL 8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1298448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SQL (resultMap, association, collection)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기반 매퍼 — 45개 테이블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231136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31136"/>
            <a:ext cx="54864" cy="12252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3225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(Lettuce) + Spring Data Redis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" y="2688336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선점 Lua 스크립트 / @Scheduled 만료 처리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시 graceful 강등 → DB-only 모드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64608" y="2231136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4608" y="2231136"/>
            <a:ext cx="54864" cy="122529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3225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0.11.5 + Spring Security 5.8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2688336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서명 / HttpOnly 쿠키 / JwtAuthenticationFilter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기반 URL 접근 제어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621024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21024"/>
            <a:ext cx="54864" cy="122529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7124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+ Tiles 3 + jQuery/AJAX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" y="4078224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서버사이드 렌더링 / SweetAlert2 UX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통계 시각화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64608" y="3621024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64608" y="3621024"/>
            <a:ext cx="54864" cy="122529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7124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Bean Validation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4078224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PasswordEncoder / @Valid + GlobalExceptionHandler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ApiResponse&lt;T&gt; 표준화</a:t>
            </a:r>
            <a:endParaRPr lang="en-US" sz="950" dirty="0"/>
          </a:p>
        </p:txBody>
      </p:sp>
      <p:sp>
        <p:nvSpPr>
          <p:cNvPr id="30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DB 테이블 — 도메인별 분포 (45개)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도메인별 테이블 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회원·인증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74520" y="1234440"/>
            <a:ext cx="872836" cy="256032"/>
          </a:xfrm>
          <a:prstGeom prst="roundRect">
            <a:avLst>
              <a:gd name="adj" fmla="val 21429"/>
            </a:avLst>
          </a:prstGeom>
          <a:solidFill>
            <a:srgbClr val="58A6FF">
              <a:alpha val="8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4788" y="12344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1783080"/>
            <a:ext cx="1454727" cy="256032"/>
          </a:xfrm>
          <a:prstGeom prst="roundRect">
            <a:avLst>
              <a:gd name="adj" fmla="val 21429"/>
            </a:avLst>
          </a:prstGeom>
          <a:solidFill>
            <a:srgbClr val="F0883E">
              <a:alpha val="8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6679" y="17830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74520" y="2331720"/>
            <a:ext cx="2327564" cy="256032"/>
          </a:xfrm>
          <a:prstGeom prst="roundRect">
            <a:avLst>
              <a:gd name="adj" fmla="val 21429"/>
            </a:avLst>
          </a:prstGeom>
          <a:solidFill>
            <a:srgbClr val="F85149">
              <a:alpha val="8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9516" y="23317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좌석·예매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74520" y="2880360"/>
            <a:ext cx="1745673" cy="256032"/>
          </a:xfrm>
          <a:prstGeom prst="roundRect">
            <a:avLst>
              <a:gd name="adj" fmla="val 21429"/>
            </a:avLst>
          </a:prstGeom>
          <a:solidFill>
            <a:srgbClr val="39D353">
              <a:alpha val="8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7625" y="2880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결제·쿠폰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74520" y="3429000"/>
            <a:ext cx="2036618" cy="256032"/>
          </a:xfrm>
          <a:prstGeom prst="roundRect">
            <a:avLst>
              <a:gd name="adj" fmla="val 21429"/>
            </a:avLst>
          </a:prstGeom>
          <a:solidFill>
            <a:srgbClr val="BC8CFF">
              <a:alpha val="8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8570" y="34290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대기·통계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74520" y="3977640"/>
            <a:ext cx="1454727" cy="256032"/>
          </a:xfrm>
          <a:prstGeom prst="roundRect">
            <a:avLst>
              <a:gd name="adj" fmla="val 21429"/>
            </a:avLst>
          </a:prstGeom>
          <a:solidFill>
            <a:srgbClr val="F0883E">
              <a:alpha val="8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6679" y="39776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설정·공통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74520" y="4526280"/>
            <a:ext cx="3200400" cy="256032"/>
          </a:xfrm>
          <a:prstGeom prst="roundRect">
            <a:avLst>
              <a:gd name="adj" fmla="val 21429"/>
            </a:avLst>
          </a:prstGeom>
          <a:solidFill>
            <a:srgbClr val="8B949E">
              <a:alpha val="80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45262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822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테이블 목록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1143000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1143000"/>
            <a:ext cx="4572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1170432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seat_inventory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96128" y="1389888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선점 + DB 낙관적 락 핵심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0" y="1682496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0" y="1682496"/>
            <a:ext cx="45720" cy="4572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6128" y="1709928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96128" y="1929384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PENDING→CONFIRMED FSM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0" y="2221992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0" y="2221992"/>
            <a:ext cx="45720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96128" y="2249424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96128" y="2468880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idempotency_key UNIQUE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0" y="2761488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0" y="2761488"/>
            <a:ext cx="45720" cy="457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96128" y="2788920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96128" y="3008376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DRAFT→PUBLISHED FSM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0" y="3300984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86400" y="3300984"/>
            <a:ext cx="45720" cy="4572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96128" y="3328416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596128" y="3547872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ACTIVE→WITHDRAWN FSM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0" y="3840480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86400" y="3840480"/>
            <a:ext cx="45720" cy="4572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96128" y="3867912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/ coupon_issue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596128" y="4087368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발행 &amp; 적용 관리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86400" y="4379976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86400" y="4379976"/>
            <a:ext cx="45720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96128" y="4407408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queue_entry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596128" y="4626864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대기열 진입 관리</a:t>
            </a:r>
            <a:endParaRPr lang="en-US" sz="800" dirty="0"/>
          </a:p>
        </p:txBody>
      </p:sp>
      <p:sp>
        <p:nvSpPr>
          <p:cNvPr id="57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구현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제어 · FSM · 인증·보안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예매 동시성 제어 — Dual Defense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005840"/>
            <a:ext cx="347472" cy="347472"/>
          </a:xfrm>
          <a:prstGeom prst="ellipse">
            <a:avLst/>
          </a:prstGeom>
          <a:solidFill>
            <a:srgbClr val="F85149">
              <a:alpha val="85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356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Lua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원자적 선점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178308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확인 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상태 원자 전환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(TTL 10분)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네트워크 분산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레이스 컨디션 방지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3744" y="2871216"/>
            <a:ext cx="54864" cy="0"/>
          </a:xfrm>
          <a:prstGeom prst="line">
            <a:avLst/>
          </a:prstGeom>
          <a:noFill/>
          <a:ln w="19050">
            <a:solidFill>
              <a:srgbClr val="484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868680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98064" y="1005840"/>
            <a:ext cx="347472" cy="347472"/>
          </a:xfrm>
          <a:prstGeom prst="ellipse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70632" y="14356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낙관적 락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검증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70632" y="1764792"/>
            <a:ext cx="178308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status=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'AVAILABLE'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UPDATE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Redis 장애 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DB-only 모드 강등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0016" y="2871216"/>
            <a:ext cx="54864" cy="0"/>
          </a:xfrm>
          <a:prstGeom prst="line">
            <a:avLst/>
          </a:prstGeom>
          <a:noFill/>
          <a:ln w="19050">
            <a:solidFill>
              <a:srgbClr val="484F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9744" y="868680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74336" y="1005840"/>
            <a:ext cx="347472" cy="347472"/>
          </a:xfrm>
          <a:prstGeom prst="ellipse">
            <a:avLst/>
          </a:prstGeom>
          <a:solidFill>
            <a:srgbClr val="39D353">
              <a:alpha val="85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46904" y="14356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멱등성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방지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46904" y="1764792"/>
            <a:ext cx="178308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테이블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idempotency_key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제약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네트워크 재시도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중복 결제 차단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76288" y="2871216"/>
            <a:ext cx="54864" cy="0"/>
          </a:xfrm>
          <a:prstGeom prst="line">
            <a:avLst/>
          </a:prstGeom>
          <a:noFill/>
          <a:ln w="19050">
            <a:solidFill>
              <a:srgbClr val="484F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86016" y="868680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1005840"/>
            <a:ext cx="347472" cy="347472"/>
          </a:xfrm>
          <a:prstGeom prst="ellipse">
            <a:avLst/>
          </a:prstGeom>
          <a:solidFill>
            <a:srgbClr val="58A6FF">
              <a:alpha val="8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23176" y="14356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확정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전환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23176" y="1764792"/>
            <a:ext cx="178308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(결제 완료)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seat_inventory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RESERVED 전환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트랜잭션 보장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85149">
              <a:alpha val="15000"/>
            </a:srgbClr>
          </a:solidFill>
          <a:ln w="7620">
            <a:solidFill>
              <a:srgbClr val="F851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장애 시 자동 강등 → DB-only 모드 유지 | 운영 환경 단일 장애점 제거</a:t>
            </a:r>
            <a:endParaRPr lang="en-US" sz="900" dirty="0"/>
          </a:p>
        </p:txBody>
      </p:sp>
      <p:sp>
        <p:nvSpPr>
          <p:cNvPr id="31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— 상태 전환 다이어그램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공연(Performance) 승인 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484F58">
              <a:alpha val="30000"/>
            </a:srgbClr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0" y="118872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F0883E">
              <a:alpha val="3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1887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18872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1887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1887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0" y="196596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9659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64208" y="1380744"/>
            <a:ext cx="164592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944368" y="1380744"/>
            <a:ext cx="164592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224528" y="1380744"/>
            <a:ext cx="164592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224528" y="1380744"/>
            <a:ext cx="0" cy="77724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457200" y="24871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회원(Member) 상태 FSM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1115568" cy="475488"/>
          </a:xfrm>
          <a:prstGeom prst="roundRect">
            <a:avLst>
              <a:gd name="adj" fmla="val 15385"/>
            </a:avLst>
          </a:prstGeom>
          <a:solidFill>
            <a:srgbClr val="F0883E">
              <a:alpha val="28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3464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0" y="2834640"/>
            <a:ext cx="1115568" cy="475488"/>
          </a:xfrm>
          <a:prstGeom prst="roundRect">
            <a:avLst>
              <a:gd name="adj" fmla="val 15385"/>
            </a:avLst>
          </a:prstGeom>
          <a:solidFill>
            <a:srgbClr val="39D353">
              <a:alpha val="28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283464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08960" y="2834640"/>
            <a:ext cx="1115568" cy="475488"/>
          </a:xfrm>
          <a:prstGeom prst="roundRect">
            <a:avLst>
              <a:gd name="adj" fmla="val 15385"/>
            </a:avLst>
          </a:prstGeom>
          <a:solidFill>
            <a:srgbClr val="F85149">
              <a:alpha val="28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283464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0" y="3566160"/>
            <a:ext cx="1115568" cy="475488"/>
          </a:xfrm>
          <a:prstGeom prst="roundRect">
            <a:avLst>
              <a:gd name="adj" fmla="val 15385"/>
            </a:avLst>
          </a:prstGeom>
          <a:solidFill>
            <a:srgbClr val="484F58">
              <a:alpha val="28000"/>
            </a:srgbClr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35661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108960" y="3566160"/>
            <a:ext cx="1115568" cy="475488"/>
          </a:xfrm>
          <a:prstGeom prst="roundRect">
            <a:avLst>
              <a:gd name="adj" fmla="val 15385"/>
            </a:avLst>
          </a:prstGeom>
          <a:solidFill>
            <a:srgbClr val="8B949E">
              <a:alpha val="28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35661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8229600" cy="8686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도메인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상태 목록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터미널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검증 메서드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Member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PENDING_APPROVAL / ACTIVE / SUSPENDED / DORMANT / WITHDRAWN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WITHDRAWN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MemberStatus.canTransitionTo()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Promoter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PENDING / APPROVED / REJECTED / SUSPENDED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REJECTED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PromoterApprovalStatus.canTransitionTo()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Performance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DRAFT / REVIEW / APPROVED / REJECTED / PUBLISHED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PUBLISHED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PerformanceApprovalStatus.validateTransition()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&amp; 보안 아키텍처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요청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/api/member/login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66544" y="1298448"/>
            <a:ext cx="73152" cy="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6272" y="822960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발급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1481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+ 2h 만료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85616" y="1298448"/>
            <a:ext cx="73152" cy="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95344" y="822960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05072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05072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쿠키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05072" y="1481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방어 자동 적용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04688" y="1298448"/>
            <a:ext cx="73152" cy="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14416" y="822960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24144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24144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자동 전송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24144" y="1481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23760" y="1298448"/>
            <a:ext cx="73152" cy="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33488" y="822960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43216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43216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검증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43216" y="1481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 설정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2011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포털별 쿠키명 분리 (localhost 덮어쓰기 방지)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33172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23957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USER_TOKEN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268833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ticket-user :8080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55848" y="233172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93008" y="23957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PARTNER_TOKEN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93008" y="268833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ticket-partner :8081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54496" y="233172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91656" y="23957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ADMIN_TOKEN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91656" y="268833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ticket-admin :8082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200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접근 제어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520440"/>
            <a:ext cx="2011680" cy="621792"/>
          </a:xfrm>
          <a:prstGeom prst="roundRect">
            <a:avLst>
              <a:gd name="adj" fmla="val 1764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6928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/backoffice/super/**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928" y="38404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SUPER_ADMIN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633472" y="3520440"/>
            <a:ext cx="2011680" cy="621792"/>
          </a:xfrm>
          <a:prstGeom prst="roundRect">
            <a:avLst>
              <a:gd name="adj" fmla="val 1764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/backoffice/staff/**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0" y="38404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SUPER_ADMIN + STAFF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09744" y="3520440"/>
            <a:ext cx="2011680" cy="621792"/>
          </a:xfrm>
          <a:prstGeom prst="roundRect">
            <a:avLst>
              <a:gd name="adj" fmla="val 1764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19472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/partner/promoter/**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19472" y="38404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PROMOTER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86016" y="3520440"/>
            <a:ext cx="2011680" cy="621792"/>
          </a:xfrm>
          <a:prstGeom prst="roundRect">
            <a:avLst>
              <a:gd name="adj" fmla="val 1764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095744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/partner/venue/**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95744" y="38404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VENUE_MANAGER</a:t>
            </a:r>
            <a:endParaRPr lang="en-US" sz="850" dirty="0"/>
          </a:p>
        </p:txBody>
      </p:sp>
      <p:sp>
        <p:nvSpPr>
          <p:cNvPr id="53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&amp; 성과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공연 데이터셋 · 구현 완성도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구성 &amp; E2E 데모 플로우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993392" cy="118872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1188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32688"/>
            <a:ext cx="181051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214건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1512418"/>
            <a:ext cx="1810512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데이터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data_extension.sql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33472" y="822960"/>
            <a:ext cx="1993392" cy="118872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822960"/>
            <a:ext cx="54864" cy="1188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932688"/>
            <a:ext cx="181051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12,840석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70632" y="1512418"/>
            <a:ext cx="1810512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인벤토리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RECURSIVE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9744" y="822960"/>
            <a:ext cx="1993392" cy="118872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9744" y="822960"/>
            <a:ext cx="54864" cy="1188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46904" y="932688"/>
            <a:ext cx="181051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45개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946904" y="1512418"/>
            <a:ext cx="1810512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테이블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schema_total.sql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86016" y="822960"/>
            <a:ext cx="1993392" cy="118872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86016" y="822960"/>
            <a:ext cx="54864" cy="1188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23176" y="932688"/>
            <a:ext cx="181051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3-WAR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123176" y="1512418"/>
            <a:ext cx="1810512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배포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DB 공유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212848"/>
            <a:ext cx="1600200" cy="2633472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21284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F0883E">
              <a:alpha val="3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2128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로그인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등록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054096"/>
            <a:ext cx="141732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promoter1@test.com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상태로 등록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공연회차·좌석등급·가격 설정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03120" y="3529584"/>
            <a:ext cx="4572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194560" y="2212848"/>
            <a:ext cx="1600200" cy="2633472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194560" y="221284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22128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28600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어드민 심사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승인·게시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3054096"/>
            <a:ext cx="141732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→ APPROVED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PUBLISHED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미리보기 후 게시 승인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0" y="3529584"/>
            <a:ext cx="4572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931920" y="2212848"/>
            <a:ext cx="1600200" cy="2633472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931920" y="221284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22128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2336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검색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0" y="3054096"/>
            <a:ext cx="141732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ON_SALE 공연 목록 표시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상세 → 회차 선택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좌석 선택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77840" y="3529584"/>
            <a:ext cx="4572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669280" y="2212848"/>
            <a:ext cx="1600200" cy="2633472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669280" y="221284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22128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76072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&amp; 결제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0" y="3054096"/>
            <a:ext cx="141732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Lua 원자 선점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예약 생성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완료 → CONFIRMED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315200" y="3529584"/>
            <a:ext cx="4572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7406640" y="2212848"/>
            <a:ext cx="1600200" cy="2633472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06640" y="221284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BC8CFF">
              <a:alpha val="3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22128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49808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확인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취소·환불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98080" y="3054096"/>
            <a:ext cx="141732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 내역 확인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시 CANCELLED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→ AVAILABLE 복원</a:t>
            </a:r>
            <a:endParaRPr lang="en-US" sz="850" dirty="0"/>
          </a:p>
        </p:txBody>
      </p:sp>
      <p:sp>
        <p:nvSpPr>
          <p:cNvPr id="51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도전 &amp; 해결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과정의 주요 이슈 4가지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도전 &amp; 해결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41248"/>
            <a:ext cx="54864" cy="9601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914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EL vs JS 템플릿 리터럴 충돌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22529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252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25296" y="12252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템플릿 리터럴 ${item.name}을 JSP EL이 서버사이드에서 'false'로 치환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2529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252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230368" y="12252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문자열 연결(+) 방식으로 전면 교체. loadVenueOptions() 동일 수정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0195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901952"/>
            <a:ext cx="54864" cy="9601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975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해시 불일치 — 로그인 전면 불가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228600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286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25296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분산된 SQL 파일 간 해시 버전 불일치로 모든 계정 로그인 실패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86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230368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schema_total.sql + data_total.sql 단일화, $2a$10$ 해시 일괄 교체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6265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962656"/>
            <a:ext cx="54864" cy="9601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035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장애 시 ticket-user 기동 실패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3346704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3467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25296" y="33467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LettuceConnectionFactory가 Redis 연결 실패 시 즉시 예외 발생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346704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3467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230368" y="33467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강등 로직 — Redis 불가 시 DB-only 모드로 자동 전환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023360"/>
            <a:ext cx="54864" cy="9601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096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직접 주입 → 서비스 계층 위반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" y="440740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4074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225296" y="44074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컨트롤러에서 Mapper 9개 직접 주입. 트랜잭션 경계·재사용성 취약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40740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4074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230368" y="44074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전 매퍼 Service 메서드로 이전, @Transactional 적용</a:t>
            </a:r>
            <a:endParaRPr lang="en-US" sz="900" dirty="0"/>
          </a:p>
        </p:txBody>
      </p:sp>
      <p:sp>
        <p:nvSpPr>
          <p:cNvPr id="42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 &amp; 결론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로드맵 · 핵심 가치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개발 계획 (Phase 3~6)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993392" cy="4041648"/>
          </a:xfrm>
          <a:prstGeom prst="roundRect">
            <a:avLst>
              <a:gd name="adj" fmla="val 550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41248"/>
            <a:ext cx="1993392" cy="45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14400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7043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동시성 강화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572768"/>
            <a:ext cx="1554480" cy="0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83794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719072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DB 정합성 완전 확보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" y="2404872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28600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환불 엣지 케이스 처리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" y="2971800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85292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PG 실제 연동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" y="3538728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419856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cancelOrphan 배치 스케줄러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33472" y="841248"/>
            <a:ext cx="1993392" cy="4041648"/>
          </a:xfrm>
          <a:prstGeom prst="roundRect">
            <a:avLst>
              <a:gd name="adj" fmla="val 550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33472" y="841248"/>
            <a:ext cx="1993392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0632" y="914400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70632" y="117043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 기능 확장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70632" y="1572768"/>
            <a:ext cx="1554480" cy="0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98064" y="1837944"/>
            <a:ext cx="82296" cy="822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1719072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검색·필터 (카테고리·날짜·가격)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98064" y="2404872"/>
            <a:ext cx="82296" cy="822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44368" y="228600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적용 UI (결제 화면)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98064" y="2971800"/>
            <a:ext cx="82296" cy="822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4368" y="285292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환불 플로우 (마이페이지)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98064" y="3538728"/>
            <a:ext cx="82296" cy="822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3419856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검색 엔진 연동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9744" y="841248"/>
            <a:ext cx="1993392" cy="4041648"/>
          </a:xfrm>
          <a:prstGeom prst="roundRect">
            <a:avLst>
              <a:gd name="adj" fmla="val 550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9744" y="841248"/>
            <a:ext cx="1993392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46904" y="914400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46904" y="117043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품질 정리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46904" y="1572768"/>
            <a:ext cx="1554480" cy="0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74336" y="1837944"/>
            <a:ext cx="82296" cy="82296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1719072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DateUtil 중복 제거 → common 이전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74336" y="2404872"/>
            <a:ext cx="82296" cy="82296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228600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날짜 헬퍼 분기 제거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74336" y="2971800"/>
            <a:ext cx="82296" cy="82296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285292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MemberRole enum dead code 정리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74336" y="3538728"/>
            <a:ext cx="82296" cy="82296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3419856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게이트웨이 mock 제거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86016" y="841248"/>
            <a:ext cx="1993392" cy="4041648"/>
          </a:xfrm>
          <a:prstGeom prst="roundRect">
            <a:avLst>
              <a:gd name="adj" fmla="val 550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986016" y="841248"/>
            <a:ext cx="199339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23176" y="914400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23176" y="117043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모니터링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123176" y="1572768"/>
            <a:ext cx="1554480" cy="0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50608" y="1837944"/>
            <a:ext cx="82296" cy="822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96912" y="1719072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판매 리포트 차트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50608" y="2404872"/>
            <a:ext cx="82296" cy="822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96912" y="228600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어드민 회원 상세 조회·강제탈퇴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50608" y="2971800"/>
            <a:ext cx="82296" cy="822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96912" y="285292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스캔 입장 시스템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50608" y="3538728"/>
            <a:ext cx="82296" cy="822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96912" y="3419856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메트릭 대시보드</a:t>
            </a:r>
            <a:endParaRPr lang="en-US" sz="900" dirty="0"/>
          </a:p>
        </p:txBody>
      </p:sp>
      <p:sp>
        <p:nvSpPr>
          <p:cNvPr id="58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  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TicketLegacy — 핵심 성과 요약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24128"/>
            <a:ext cx="54864" cy="13716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33856"/>
            <a:ext cx="1810512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181051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테이블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(schema_total.sql)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33472" y="1024128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33472" y="1024128"/>
            <a:ext cx="54864" cy="13716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133856"/>
            <a:ext cx="1810512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70632" y="1819656"/>
            <a:ext cx="181051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데이터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RECURSIVE)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9744" y="1024128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9744" y="1024128"/>
            <a:ext cx="54864" cy="13716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1133856"/>
            <a:ext cx="1810512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3-WAR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46904" y="1819656"/>
            <a:ext cx="181051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포털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(JWT 공유 인증)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86016" y="1024128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86016" y="1024128"/>
            <a:ext cx="54864" cy="13716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23176" y="1133856"/>
            <a:ext cx="1810512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4-FSM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23176" y="1819656"/>
            <a:ext cx="181051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도메인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(Member·Promoter·VM·Perf)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578608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C2F4A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6517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Legacy MVC 5.3 기반 엔터프라이즈 수준의 공연 예매 플랫폼 구현 완료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0175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Defense 좌석 선점  ·  FSM 상태 관리  ·  JWT 3-WAR 공유 인증  ·  BCrypt 보안  ·  200+ 실데이터</a:t>
            </a:r>
            <a:endParaRPr lang="en-US" sz="1000" dirty="0"/>
          </a:p>
        </p:txBody>
      </p:sp>
      <p:sp>
        <p:nvSpPr>
          <p:cNvPr id="24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질의응답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TicketLegacy  |  Spring MVC 5.3  |  2026.05</a:t>
            </a:r>
            <a:endParaRPr lang="en-US" sz="9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구현 기능 전체 현황 — 포털별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8E0"/>
                </a:solidFill>
              </a:rPr>
              <a:t>소스코드 기준 실제 구현 확인 · 28개 테이블 사용 · Mapper XML 27개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59536"/>
            <a:ext cx="10789920" cy="1524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41832"/>
            <a:ext cx="3566160" cy="4069080"/>
          </a:xfrm>
          <a:prstGeom prst="rect">
            <a:avLst/>
          </a:prstGeom>
          <a:solidFill>
            <a:srgbClr val="052218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05332"/>
            <a:ext cx="343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D6A0"/>
                </a:solidFill>
              </a:rPr>
              <a:t>🟢  ticket-user  :8080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72032"/>
            <a:ext cx="3413760" cy="366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공연 목록 다중 필터 검색 (장르/가격/날짜/정렬)</a:t>
            </a:r>
          </a:p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인터랙티브 좌석 지도 (실시간 상태 표시)</a:t>
            </a:r>
          </a:p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Dual-Defense 좌석 선점 (Redis Lua + DB)</a:t>
            </a:r>
          </a:p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대기열 (Redis Sorted Set, 500명 동시 제한)</a:t>
            </a:r>
          </a:p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결제 멱등성 키 (중복 결제 방지)</a:t>
            </a:r>
          </a:p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날짜 기반 환불 수수료 계산 (D-10/7/3/1)</a:t>
            </a:r>
          </a:p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쿠폰 적용 + 환불 시 쿠폰 자동 복구</a:t>
            </a:r>
          </a:p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위시리스트 / 취소 대기 (Waitlist)</a:t>
            </a:r>
          </a:p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공연 리뷰 (1~5점 평점)</a:t>
            </a:r>
          </a:p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디지털 티켓 조회</a:t>
            </a:r>
          </a:p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1:1 문의 / 공지사항 / FAQ</a:t>
            </a:r>
          </a:p>
          <a:p>
            <a:pPr>
              <a:spcBef>
                <a:spcPts val="180"/>
              </a:spcBef>
            </a:pPr>
            <a:r>
              <a:rPr sz="819">
                <a:solidFill>
                  <a:srgbClr val="C0C8E0"/>
                </a:solidFill>
              </a:rPr>
              <a:t>· 회원 가입·로그인·프로필·탈퇴 (FSM)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941832"/>
            <a:ext cx="3566160" cy="4069080"/>
          </a:xfrm>
          <a:prstGeom prst="rect">
            <a:avLst/>
          </a:prstGeom>
          <a:solidFill>
            <a:srgbClr val="221804"/>
          </a:solidFill>
          <a:ln w="15240">
            <a:solidFill>
              <a:srgbClr val="FFC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005332"/>
            <a:ext cx="343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85C"/>
                </a:solidFill>
              </a:rPr>
              <a:t>🟡  ticket-partner  :8081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272032"/>
            <a:ext cx="3413760" cy="366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"/>
              </a:spcBef>
            </a:pPr>
            <a:r>
              <a:rPr sz="819" b="1">
                <a:solidFill>
                  <a:srgbClr val="FFC85C"/>
                </a:solidFill>
              </a:rPr>
              <a:t>[기획사 PROMOTER]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대시보드 KPI (공연 수/매출/정산)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공연 등록 워크플로우 6단계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  초안→스케줄→좌석등급→오버라이드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  →좌석생성→심사요청 (DRAFT→SUBMITTED)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판매 리포트 (공연별)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정산 조회 (연월 선택)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쿠폰 템플릿 조회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/>
            </a:r>
          </a:p>
          <a:p>
            <a:pPr>
              <a:spcBef>
                <a:spcPts val="180"/>
              </a:spcBef>
            </a:pPr>
            <a:r>
              <a:rPr sz="819" b="1">
                <a:solidFill>
                  <a:srgbClr val="FFC85C"/>
                </a:solidFill>
              </a:rPr>
              <a:t>[공연장 담당자 VENUE_MANAGER]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대시보드 (예정 공연 요약)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공연장 구역·좌석 템플릿 관리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스테이지 구성 생성/오버라이드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스케줄 달력 (월별)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입장 체크인 (예매번호 기반 + 메모)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941832"/>
            <a:ext cx="3566160" cy="4069080"/>
          </a:xfrm>
          <a:prstGeom prst="rect">
            <a:avLst/>
          </a:prstGeom>
          <a:solidFill>
            <a:srgbClr val="220610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005332"/>
            <a:ext cx="343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76F"/>
                </a:solidFill>
              </a:rPr>
              <a:t>🔴  ticket-admin  :8082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272032"/>
            <a:ext cx="3413760" cy="366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"/>
              </a:spcBef>
            </a:pPr>
            <a:r>
              <a:rPr sz="819" b="1">
                <a:solidFill>
                  <a:srgbClr val="EF476F"/>
                </a:solidFill>
              </a:rPr>
              <a:t>[SUPER_ADMIN]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대시보드 전체 현황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회원 관리 (검색/상태 변경 FSM)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기획사 관리 (승인/반려/정지 FSM)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공연장 담당자 관리 (승인/반려 FSM)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공연 심사 워크플로우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  승인/반려/게시/초안롤백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공연장 마스터 관리 (구역/템플릿)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스테이지 구성 관리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좌석 hold_type 일괄 변경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  (RESERVED/VIP/STAFF)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정산 관리 (기획사별/연월별)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/>
            </a:r>
          </a:p>
          <a:p>
            <a:pPr>
              <a:spcBef>
                <a:spcPts val="180"/>
              </a:spcBef>
            </a:pPr>
            <a:r>
              <a:rPr sz="819" b="1">
                <a:solidFill>
                  <a:srgbClr val="EF476F"/>
                </a:solidFill>
              </a:rPr>
              <a:t>[STAFF]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예매 검색·상세·강제 취소</a:t>
            </a:r>
          </a:p>
          <a:p>
            <a:pPr>
              <a:spcBef>
                <a:spcPts val="180"/>
              </a:spcBef>
            </a:pPr>
            <a:r>
              <a:rPr sz="819" b="0">
                <a:solidFill>
                  <a:srgbClr val="C0C8E0"/>
                </a:solidFill>
              </a:rPr>
              <a:t>· 회원 검색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핵심 도메인 ER 다이어그램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8E0"/>
                </a:solidFill>
              </a:rPr>
              <a:t>45개 테이블 중 핵심 12개 엔티티 및 주요 연관관계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0789920" cy="1905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24128"/>
            <a:ext cx="3246120" cy="1261872"/>
          </a:xfrm>
          <a:prstGeom prst="rect">
            <a:avLst/>
          </a:prstGeom>
          <a:solidFill>
            <a:srgbClr val="141C2C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3246120" cy="203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840" y="1024128"/>
            <a:ext cx="31445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👤 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240" y="1265428"/>
            <a:ext cx="3119120" cy="98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🔑 member_id  PK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email  UNIQUE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password (BCrypt)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role  ENUM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status  FSM ENUM</a:t>
            </a:r>
          </a:p>
        </p:txBody>
      </p:sp>
      <p:sp>
        <p:nvSpPr>
          <p:cNvPr id="9" name="Rectangle 8"/>
          <p:cNvSpPr/>
          <p:nvPr/>
        </p:nvSpPr>
        <p:spPr>
          <a:xfrm>
            <a:off x="3730752" y="1024128"/>
            <a:ext cx="3246120" cy="1261872"/>
          </a:xfrm>
          <a:prstGeom prst="rect">
            <a:avLst/>
          </a:prstGeom>
          <a:solidFill>
            <a:srgbClr val="141C2C"/>
          </a:solidFill>
          <a:ln w="1524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30752" y="1024128"/>
            <a:ext cx="3246120" cy="20320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1552" y="1024128"/>
            <a:ext cx="31445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🏢 promoter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6952" y="1265428"/>
            <a:ext cx="3119120" cy="98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🔑 promoter_id  PK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member_id  FK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company_name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approval_status  FSM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1464" y="1024128"/>
            <a:ext cx="3246120" cy="1261872"/>
          </a:xfrm>
          <a:prstGeom prst="rect">
            <a:avLst/>
          </a:prstGeom>
          <a:solidFill>
            <a:srgbClr val="141C2C"/>
          </a:solidFill>
          <a:ln w="15240">
            <a:solidFill>
              <a:srgbClr val="00C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41464" y="1024128"/>
            <a:ext cx="3246120" cy="2032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2264" y="1024128"/>
            <a:ext cx="31445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🏟 venue / venue_section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7664" y="1265428"/>
            <a:ext cx="3119120" cy="98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🔑 venue_id  PK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name, address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── venue_section ──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🔑 section_id  PK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venue_id  FK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32304"/>
            <a:ext cx="3246120" cy="1261872"/>
          </a:xfrm>
          <a:prstGeom prst="rect">
            <a:avLst/>
          </a:prstGeom>
          <a:solidFill>
            <a:srgbClr val="141C2C"/>
          </a:solidFill>
          <a:ln w="15240">
            <a:solidFill>
              <a:srgbClr val="FFC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32304"/>
            <a:ext cx="3246120" cy="203200"/>
          </a:xfrm>
          <a:prstGeom prst="rect">
            <a:avLst/>
          </a:prstGeom>
          <a:solidFill>
            <a:srgbClr val="FFC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840" y="2432304"/>
            <a:ext cx="31445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🎭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240" y="2673604"/>
            <a:ext cx="3119120" cy="98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🔑 performance_id  PK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promoter_id  FK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venue_id  FK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approval_status  FSM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(DRAFT→PUBLISHED)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30752" y="2432304"/>
            <a:ext cx="3246120" cy="1261872"/>
          </a:xfrm>
          <a:prstGeom prst="rect">
            <a:avLst/>
          </a:prstGeom>
          <a:solidFill>
            <a:srgbClr val="141C2C"/>
          </a:solidFill>
          <a:ln w="15240">
            <a:solidFill>
              <a:srgbClr val="FFC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30752" y="2432304"/>
            <a:ext cx="3246120" cy="203200"/>
          </a:xfrm>
          <a:prstGeom prst="rect">
            <a:avLst/>
          </a:prstGeom>
          <a:solidFill>
            <a:srgbClr val="FFC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1552" y="2432304"/>
            <a:ext cx="31445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📅 schedule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6952" y="2673604"/>
            <a:ext cx="3119120" cy="98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🔑 schedule_id  PK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performance_id  FK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start_time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total_seats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available_seats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41464" y="2432304"/>
            <a:ext cx="3246120" cy="1261872"/>
          </a:xfrm>
          <a:prstGeom prst="rect">
            <a:avLst/>
          </a:prstGeom>
          <a:solidFill>
            <a:srgbClr val="141C2C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41464" y="2432304"/>
            <a:ext cx="3246120" cy="203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2264" y="2432304"/>
            <a:ext cx="31445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🪑 seat / seat_inventory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7664" y="2673604"/>
            <a:ext cx="3119120" cy="98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🔑 seat_id  PK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section_id  FK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── seat_inventory ──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schedule_id  FK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status (AVAILABLE/HOLD)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40480"/>
            <a:ext cx="3246120" cy="1261872"/>
          </a:xfrm>
          <a:prstGeom prst="rect">
            <a:avLst/>
          </a:prstGeom>
          <a:solidFill>
            <a:srgbClr val="141C2C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840480"/>
            <a:ext cx="3246120" cy="2032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840" y="3840480"/>
            <a:ext cx="31445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📋 reservation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240" y="4081780"/>
            <a:ext cx="3119120" cy="98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🔑 reservation_id  PK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member_id  FK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schedule_id  FK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status  FSM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(PENDING→CONFIRMED)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30752" y="3840480"/>
            <a:ext cx="3246120" cy="1261872"/>
          </a:xfrm>
          <a:prstGeom prst="rect">
            <a:avLst/>
          </a:prstGeom>
          <a:solidFill>
            <a:srgbClr val="141C2C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0752" y="3840480"/>
            <a:ext cx="3246120" cy="2032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81552" y="3840480"/>
            <a:ext cx="31445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💳 payment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06952" y="4081780"/>
            <a:ext cx="3119120" cy="98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🔑 payment_id  PK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reservation_id  FK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idempotency_key  UNIQUE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amount, status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(중복결제 방지)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41464" y="3840480"/>
            <a:ext cx="3246120" cy="1261872"/>
          </a:xfrm>
          <a:prstGeom prst="rect">
            <a:avLst/>
          </a:prstGeom>
          <a:solidFill>
            <a:srgbClr val="141C2C"/>
          </a:solidFill>
          <a:ln w="15240">
            <a:solidFill>
              <a:srgbClr val="A8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41464" y="3840480"/>
            <a:ext cx="3246120" cy="203200"/>
          </a:xfrm>
          <a:prstGeom prst="rect">
            <a:avLst/>
          </a:prstGeom>
          <a:solidFill>
            <a:srgbClr val="A8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92264" y="3840480"/>
            <a:ext cx="31445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🎟 coupon / coupon_template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7664" y="4081780"/>
            <a:ext cx="3119120" cy="98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🔑 coupon_id  PK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member_id  FK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→  template_id  FK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status (ISSUED/USED)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C0C8E0"/>
                </a:solidFill>
              </a:rPr>
              <a:t>   expires_at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결제 멱등성 &amp; 날짜 기반 환불 수수료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8E0"/>
                </a:solidFill>
              </a:rPr>
              <a:t>중복 결제 원천 차단 · 관람일 기준 단계적 수수료 · 쿠폰 자동 복구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59536"/>
            <a:ext cx="10789920" cy="1524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212080" cy="3657600"/>
          </a:xfrm>
          <a:prstGeom prst="rect">
            <a:avLst/>
          </a:prstGeom>
          <a:solidFill>
            <a:srgbClr val="081C30"/>
          </a:solidFill>
          <a:ln w="1524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4846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8EFF"/>
                </a:solidFill>
              </a:rPr>
              <a:t>💳  결제 멱등성 (Idempotency)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4846320" cy="868680"/>
          </a:xfrm>
          <a:prstGeom prst="rect">
            <a:avLst/>
          </a:prstGeom>
          <a:solidFill>
            <a:srgbClr val="102844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8120"/>
            <a:ext cx="6400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F476F"/>
                </a:solidFill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8120"/>
            <a:ext cx="39319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네트워크 오류 시 "결제하기" 재클릭 → 중복 청구 위험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50008"/>
            <a:ext cx="4846320" cy="868680"/>
          </a:xfrm>
          <a:prstGeom prst="rect">
            <a:avLst/>
          </a:prstGeom>
          <a:solidFill>
            <a:srgbClr val="102844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00808"/>
            <a:ext cx="6400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6D6A0"/>
                </a:solidFill>
              </a:rPr>
              <a:t>해결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00808"/>
            <a:ext cx="39319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idempotency_key UNIQUE 제약</a:t>
            </a:r>
            <a:br/>
            <a:r>
              <a:t>동일 키로 재시도 시 INSERT 차단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82696"/>
            <a:ext cx="4846320" cy="868680"/>
          </a:xfrm>
          <a:prstGeom prst="rect">
            <a:avLst/>
          </a:prstGeom>
          <a:solidFill>
            <a:srgbClr val="102844"/>
          </a:solidFill>
          <a:ln w="10160">
            <a:solidFill>
              <a:srgbClr val="FFC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33496"/>
            <a:ext cx="6400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85C"/>
                </a:solidFill>
              </a:rPr>
              <a:t>부가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33496"/>
            <a:ext cx="39319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결제 실패 시 고아 PENDING 예약</a:t>
            </a:r>
            <a:br/>
            <a:r>
              <a:t>자동 정리 (orphan cleanup)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005840"/>
            <a:ext cx="5212080" cy="3657600"/>
          </a:xfrm>
          <a:prstGeom prst="rect">
            <a:avLst/>
          </a:prstGeom>
          <a:solidFill>
            <a:srgbClr val="1A0C08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078992"/>
            <a:ext cx="4846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76F"/>
                </a:solidFill>
              </a:rPr>
              <a:t>🔄  날짜 기반 환불 수수료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426464"/>
            <a:ext cx="4846320" cy="475488"/>
          </a:xfrm>
          <a:prstGeom prst="rect">
            <a:avLst/>
          </a:prstGeom>
          <a:solidFill>
            <a:srgbClr val="220E0E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489964"/>
            <a:ext cx="20116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관람일 10일 전~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489964"/>
            <a:ext cx="24688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D6A0"/>
                </a:solidFill>
              </a:rPr>
              <a:t>전액 환불  (수수료 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938528"/>
            <a:ext cx="4846320" cy="475488"/>
          </a:xfrm>
          <a:prstGeom prst="rect">
            <a:avLst/>
          </a:prstGeom>
          <a:solidFill>
            <a:srgbClr val="220E0E"/>
          </a:solidFill>
          <a:ln w="7620">
            <a:solidFill>
              <a:srgbClr val="FFC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2002028"/>
            <a:ext cx="20116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관람일 7~9일 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002028"/>
            <a:ext cx="24688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85C"/>
                </a:solidFill>
              </a:rPr>
              <a:t>수수료 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450592"/>
            <a:ext cx="4846320" cy="475488"/>
          </a:xfrm>
          <a:prstGeom prst="rect">
            <a:avLst/>
          </a:prstGeom>
          <a:solidFill>
            <a:srgbClr val="220E0E"/>
          </a:solidFill>
          <a:ln w="7620">
            <a:solidFill>
              <a:srgbClr val="FFC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2514092"/>
            <a:ext cx="20116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관람일 3~6일 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514092"/>
            <a:ext cx="24688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85C"/>
                </a:solidFill>
              </a:rPr>
              <a:t>수수료 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962656"/>
            <a:ext cx="4846320" cy="475488"/>
          </a:xfrm>
          <a:prstGeom prst="rect">
            <a:avLst/>
          </a:prstGeom>
          <a:solidFill>
            <a:srgbClr val="220E0E"/>
          </a:solidFill>
          <a:ln w="762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3026156"/>
            <a:ext cx="20116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관람일 1~2일 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026156"/>
            <a:ext cx="24688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76F"/>
                </a:solidFill>
              </a:rPr>
              <a:t>수수료 30%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474720"/>
            <a:ext cx="4846320" cy="475488"/>
          </a:xfrm>
          <a:prstGeom prst="rect">
            <a:avLst/>
          </a:prstGeom>
          <a:solidFill>
            <a:srgbClr val="220E0E"/>
          </a:solidFill>
          <a:ln w="762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8" y="3538220"/>
            <a:ext cx="20116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당일 및 이후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538220"/>
            <a:ext cx="24688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76F"/>
                </a:solidFill>
              </a:rPr>
              <a:t>환불 불가  (0원)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986784"/>
            <a:ext cx="4846320" cy="475488"/>
          </a:xfrm>
          <a:prstGeom prst="rect">
            <a:avLst/>
          </a:prstGeom>
          <a:solidFill>
            <a:srgbClr val="220E0E"/>
          </a:solidFill>
          <a:ln w="7620">
            <a:solidFill>
              <a:srgbClr val="A8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4050284"/>
            <a:ext cx="20116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쿠폰 전액환불 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050284"/>
            <a:ext cx="24688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86EFF"/>
                </a:solidFill>
              </a:rPr>
              <a:t>사용 쿠폰 자동 복구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Elasticsearch 검색 엔진 — 설계 &amp; 구현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0C8E0"/>
                </a:solidFill>
              </a:rPr>
              <a:t>코드 구현 완료 · 현재 배포환경에서는 DB fallback 동작 · Phase 4 OpenSearch 연동 예정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59536"/>
            <a:ext cx="10789920" cy="152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578608" cy="1783080"/>
          </a:xfrm>
          <a:prstGeom prst="rect">
            <a:avLst/>
          </a:prstGeom>
          <a:solidFill>
            <a:srgbClr val="082222"/>
          </a:solidFill>
          <a:ln w="12700">
            <a:solidFill>
              <a:srgbClr val="00C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240" y="106984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9C8"/>
                </a:solidFill>
              </a:rPr>
              <a:t>🔤  동의어 사전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240" y="1298448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0C8E0"/>
                </a:solidFill>
              </a:rPr>
              <a:t>아이유 ↔ IU ↔ 이지은</a:t>
            </a:r>
            <a:br/>
            <a:r>
              <a:t>BTS ↔ 방탄 ↔ 방탄소년단</a:t>
            </a:r>
            <a:br/>
            <a:r>
              <a:t>임영웅 ↔ HERO ↔ 영웅시대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005840"/>
            <a:ext cx="2578608" cy="1783080"/>
          </a:xfrm>
          <a:prstGeom prst="rect">
            <a:avLst/>
          </a:prstGeom>
          <a:solidFill>
            <a:srgbClr val="082222"/>
          </a:solidFill>
          <a:ln w="1270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2008" y="106984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8EFF"/>
                </a:solidFill>
              </a:rPr>
              <a:t>🔍  오타 교정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2008" y="1298448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0C8E0"/>
                </a:solidFill>
              </a:rPr>
              <a:t>Fuzziness.AUTO 적용</a:t>
            </a:r>
            <a:br/>
            <a:r>
              <a:t>첫 글자부터 오타 허용</a:t>
            </a:r>
            <a:br/>
            <a:r>
              <a:t>multiMatchQuery 복합 검색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1576" y="1005840"/>
            <a:ext cx="2578608" cy="1783080"/>
          </a:xfrm>
          <a:prstGeom prst="rect">
            <a:avLst/>
          </a:prstGeom>
          <a:solidFill>
            <a:srgbClr val="082222"/>
          </a:solidFill>
          <a:ln w="12700">
            <a:solidFill>
              <a:srgbClr val="FFC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7776" y="106984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85C"/>
                </a:solidFill>
              </a:rPr>
              <a:t>✨  하이라이팅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7776" y="1298448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0C8E0"/>
                </a:solidFill>
              </a:rPr>
              <a:t>검색어 강조 태그 삽입</a:t>
            </a:r>
            <a:br/>
            <a:r>
              <a:t>&lt;em class="tl-highlight"&gt;</a:t>
            </a:r>
            <a:br/>
            <a:r>
              <a:t>제목·설명 필드 적용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67344" y="1005840"/>
            <a:ext cx="2578608" cy="1783080"/>
          </a:xfrm>
          <a:prstGeom prst="rect">
            <a:avLst/>
          </a:prstGeom>
          <a:solidFill>
            <a:srgbClr val="0822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3544" y="1069848"/>
            <a:ext cx="2468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D6A0"/>
                </a:solidFill>
              </a:rPr>
              <a:t>💡  자동완성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3544" y="1298448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0C8E0"/>
                </a:solidFill>
              </a:rPr>
              <a:t>matchPhrasePrefixQuery</a:t>
            </a:r>
            <a:br/>
            <a:r>
              <a:t>2글자 이상 입력 시 동작</a:t>
            </a:r>
            <a:br/>
            <a:r>
              <a:t>최대 10개 추천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26080"/>
            <a:ext cx="6675120" cy="1783080"/>
          </a:xfrm>
          <a:prstGeom prst="rect">
            <a:avLst/>
          </a:prstGeom>
          <a:solidFill>
            <a:srgbClr val="061820"/>
          </a:solidFill>
          <a:ln w="12700">
            <a:solidFill>
              <a:srgbClr val="00C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90088"/>
            <a:ext cx="6400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9C8"/>
                </a:solidFill>
              </a:rPr>
              <a:t>📦  인덱싱 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00400"/>
            <a:ext cx="6400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·  공연 등록/수정 시 → @Async indexPerformance() 비동기 호출 (메인 트랜잭션 지연 없음)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6400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·  전체 재인덱싱 → GET /api/search/reindex  (214개 공연 일괄 등록)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57600"/>
            <a:ext cx="6400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·  검색 요청 → ES 성공 시 결과 반환, 실패 시 DB LIKE 검색 자동 fallback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2926080"/>
            <a:ext cx="3794760" cy="1783080"/>
          </a:xfrm>
          <a:prstGeom prst="rect">
            <a:avLst/>
          </a:prstGeom>
          <a:solidFill>
            <a:srgbClr val="101028"/>
          </a:solidFill>
          <a:ln w="12700">
            <a:solidFill>
              <a:srgbClr val="A8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990088"/>
            <a:ext cx="3566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6EFF"/>
                </a:solidFill>
              </a:rPr>
              <a:t>🗺  Phase 4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200400"/>
            <a:ext cx="34747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·  AWS OpenSearch Service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429000"/>
            <a:ext cx="34747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·  Edge Ngram 자동완성 인덱스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657600"/>
            <a:ext cx="34747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·  실시간 인기 검색어 (Redis ZSet)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886200"/>
            <a:ext cx="34747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·  검색 키워드 로그 분석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배포 아키텍처 — AWS EC2 + Docker + 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8E0"/>
                </a:solidFill>
              </a:rPr>
              <a:t>Docker Compose 기반 3-WAR 컨테이너화 · Amazon RDS MySQL · EC2 t3.micro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0789920" cy="1905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6217920" cy="3657600"/>
          </a:xfrm>
          <a:prstGeom prst="rect">
            <a:avLst/>
          </a:prstGeom>
          <a:solidFill>
            <a:srgbClr val="101C3A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8EFF"/>
                </a:solidFill>
              </a:rPr>
              <a:t>☁  AWS EC2  t3.micro  (1GB RAM + 2GB Swap)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743200" cy="566928"/>
          </a:xfrm>
          <a:prstGeom prst="rect">
            <a:avLst/>
          </a:prstGeom>
          <a:solidFill>
            <a:srgbClr val="14224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4520" y="1605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D6A0"/>
                </a:solidFill>
              </a:rPr>
              <a:t>🐳  ticket-user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605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:8080 → :8080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2743200" cy="566928"/>
          </a:xfrm>
          <a:prstGeom prst="rect">
            <a:avLst/>
          </a:prstGeom>
          <a:solidFill>
            <a:srgbClr val="142244"/>
          </a:solidFill>
          <a:ln w="12700">
            <a:solidFill>
              <a:srgbClr val="FFC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520" y="2291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85C"/>
                </a:solidFill>
              </a:rPr>
              <a:t>🐳  ticket-partner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291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:8081 → :8080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26080"/>
            <a:ext cx="2743200" cy="566928"/>
          </a:xfrm>
          <a:prstGeom prst="rect">
            <a:avLst/>
          </a:prstGeom>
          <a:solidFill>
            <a:srgbClr val="142244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520" y="2976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76F"/>
                </a:solidFill>
              </a:rPr>
              <a:t>🐳  ticket-admin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976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:8082 → :8080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2743200" cy="566928"/>
          </a:xfrm>
          <a:prstGeom prst="rect">
            <a:avLst/>
          </a:prstGeom>
          <a:solidFill>
            <a:srgbClr val="142244"/>
          </a:solidFill>
          <a:ln w="12700">
            <a:solidFill>
              <a:srgbClr val="00C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520" y="3662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9C8"/>
                </a:solidFill>
              </a:rPr>
              <a:t>🐳  Redis 7-alpine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662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8E0"/>
                </a:solidFill>
              </a:rPr>
              <a:t>maxmemory 50mb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5544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60A0"/>
                </a:solidFill>
              </a:rPr>
              <a:t>(Docker Compose)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051560"/>
            <a:ext cx="3977639" cy="1645920"/>
          </a:xfrm>
          <a:prstGeom prst="rect">
            <a:avLst/>
          </a:prstGeom>
          <a:solidFill>
            <a:srgbClr val="102218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097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D6A0"/>
                </a:solidFill>
              </a:rPr>
              <a:t>🗄  Amazon 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5087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8E0"/>
                </a:solidFill>
              </a:rPr>
              <a:t>MySQL 8  ·  db.t3.micro</a:t>
            </a:r>
            <a:br/>
            <a:r>
              <a:t>springgreen6 스키마</a:t>
            </a:r>
            <a:br/>
            <a:r>
              <a:t>45개 테이블 · 200+ 공연 데이터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926080"/>
            <a:ext cx="3977639" cy="1783080"/>
          </a:xfrm>
          <a:prstGeom prst="rect">
            <a:avLst/>
          </a:prstGeom>
          <a:solidFill>
            <a:srgbClr val="1A1028"/>
          </a:solidFill>
          <a:ln w="19050">
            <a:solidFill>
              <a:srgbClr val="A8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971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EFF"/>
                </a:solidFill>
              </a:rPr>
              <a:t>🔒  AWS Security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401568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8E0"/>
                </a:solidFill>
              </a:rPr>
              <a:t>Inbound: 22(SSH) · 8080 · 8081 · 8082</a:t>
            </a:r>
            <a:br/>
            <a:r>
              <a:t>RDS SG: EC2 → MySQL 3306</a:t>
            </a:r>
            <a:br/>
            <a:r>
              <a:t>JWT_SECRET_KEY  환경변수 주입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D8EFF"/>
                </a:solidFill>
              </a:rPr>
              <a:t>🌐  ticket-user  http://54.92.139.234:8080</a:t>
            </a:r>
            <a:br/>
            <a:r>
              <a:t>🌐  ticket-partner  http://54.92.139.234:8081</a:t>
            </a:r>
            <a:br/>
            <a:r>
              <a:t>🌐  ticket-admin  http://54.92.139.234:8082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1872</Words>
  <Application>Microsoft Office PowerPoint</Application>
  <PresentationFormat>화면 슬라이드 쇼(16:9)</PresentationFormat>
  <Paragraphs>523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TicketLegacy — Enterprise Ticketing Platform</dc:title>
  <dc:subject>PptxGenJS Presentation</dc:subject>
  <dc:creator>TicketLegacy</dc:creator>
  <cp:lastModifiedBy>green</cp:lastModifiedBy>
  <cp:revision>1</cp:revision>
  <dcterms:created xsi:type="dcterms:W3CDTF">2026-05-07T03:15:43Z</dcterms:created>
  <dcterms:modified xsi:type="dcterms:W3CDTF">2026-05-07T05:22:05Z</dcterms:modified>
</cp:coreProperties>
</file>